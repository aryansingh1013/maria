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 id="2147483693" r:id="rId6"/>
  </p:sldMasterIdLst>
  <p:notesMasterIdLst>
    <p:notesMasterId r:id="rId31"/>
  </p:notesMasterIdLst>
  <p:handoutMasterIdLst>
    <p:handoutMasterId r:id="rId32"/>
  </p:handoutMasterIdLst>
  <p:sldIdLst>
    <p:sldId id="277" r:id="rId7"/>
    <p:sldId id="278" r:id="rId8"/>
    <p:sldId id="316" r:id="rId9"/>
    <p:sldId id="297" r:id="rId10"/>
    <p:sldId id="310" r:id="rId11"/>
    <p:sldId id="298" r:id="rId12"/>
    <p:sldId id="299" r:id="rId13"/>
    <p:sldId id="305" r:id="rId14"/>
    <p:sldId id="300" r:id="rId15"/>
    <p:sldId id="317" r:id="rId16"/>
    <p:sldId id="303" r:id="rId17"/>
    <p:sldId id="304" r:id="rId18"/>
    <p:sldId id="318" r:id="rId19"/>
    <p:sldId id="307" r:id="rId20"/>
    <p:sldId id="308" r:id="rId21"/>
    <p:sldId id="309" r:id="rId22"/>
    <p:sldId id="311" r:id="rId23"/>
    <p:sldId id="319" r:id="rId24"/>
    <p:sldId id="312" r:id="rId25"/>
    <p:sldId id="313" r:id="rId26"/>
    <p:sldId id="320" r:id="rId27"/>
    <p:sldId id="314" r:id="rId28"/>
    <p:sldId id="315" r:id="rId29"/>
    <p:sldId id="26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C400"/>
    <a:srgbClr val="82BF36"/>
    <a:srgbClr val="7FBA00"/>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9841" autoAdjust="0"/>
  </p:normalViewPr>
  <p:slideViewPr>
    <p:cSldViewPr snapToGrid="0">
      <p:cViewPr varScale="1">
        <p:scale>
          <a:sx n="66" d="100"/>
          <a:sy n="66" d="100"/>
        </p:scale>
        <p:origin x="2232" y="60"/>
      </p:cViewPr>
      <p:guideLst/>
    </p:cSldViewPr>
  </p:slideViewPr>
  <p:notesTextViewPr>
    <p:cViewPr>
      <p:scale>
        <a:sx n="1" d="1"/>
        <a:sy n="1" d="1"/>
      </p:scale>
      <p:origin x="0" y="0"/>
    </p:cViewPr>
  </p:notesTextViewPr>
  <p:notesViewPr>
    <p:cSldViewPr snapToGrid="0">
      <p:cViewPr varScale="1">
        <p:scale>
          <a:sx n="86" d="100"/>
          <a:sy n="86" d="100"/>
        </p:scale>
        <p:origin x="378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2E7B4A-039C-48A2-9B2C-AF16AA3873D8}" type="datetimeFigureOut">
              <a:rPr lang="en-US" smtClean="0"/>
              <a:t>1/22/2014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5FCDD8-505C-48BF-B1E5-CD9B258934D2}" type="slidenum">
              <a:rPr lang="en-US" smtClean="0"/>
              <a:t>‹#›</a:t>
            </a:fld>
            <a:endParaRPr lang="en-US"/>
          </a:p>
        </p:txBody>
      </p:sp>
    </p:spTree>
    <p:extLst>
      <p:ext uri="{BB962C8B-B14F-4D97-AF65-F5344CB8AC3E}">
        <p14:creationId xmlns:p14="http://schemas.microsoft.com/office/powerpoint/2010/main" val="1781922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05A0C-54D9-45AA-87D4-C551D08DFCE1}" type="datetimeFigureOut">
              <a:rPr lang="en-US" smtClean="0"/>
              <a:t>1/22/2014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D207A-07DF-40AD-A916-9872E089CE7A}" type="slidenum">
              <a:rPr lang="en-US" smtClean="0"/>
              <a:t>‹#›</a:t>
            </a:fld>
            <a:endParaRPr lang="en-US"/>
          </a:p>
        </p:txBody>
      </p:sp>
    </p:spTree>
    <p:extLst>
      <p:ext uri="{BB962C8B-B14F-4D97-AF65-F5344CB8AC3E}">
        <p14:creationId xmlns:p14="http://schemas.microsoft.com/office/powerpoint/2010/main" val="129571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1</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88711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val="1542757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3</a:t>
            </a:fld>
            <a:endParaRPr lang="en-US"/>
          </a:p>
        </p:txBody>
      </p:sp>
    </p:spTree>
    <p:extLst>
      <p:ext uri="{BB962C8B-B14F-4D97-AF65-F5344CB8AC3E}">
        <p14:creationId xmlns:p14="http://schemas.microsoft.com/office/powerpoint/2010/main" val="3407369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3109969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2197077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583801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7</a:t>
            </a:fld>
            <a:endParaRPr lang="en-US" dirty="0"/>
          </a:p>
        </p:txBody>
      </p:sp>
    </p:spTree>
    <p:extLst>
      <p:ext uri="{BB962C8B-B14F-4D97-AF65-F5344CB8AC3E}">
        <p14:creationId xmlns:p14="http://schemas.microsoft.com/office/powerpoint/2010/main" val="3192950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A9749E-FBCD-4239-AFBA-6C4AFE6C59B7}" type="slidenum">
              <a:rPr lang="en-US" smtClean="0"/>
              <a:pPr/>
              <a:t>8</a:t>
            </a:fld>
            <a:endParaRPr lang="en-US"/>
          </a:p>
        </p:txBody>
      </p:sp>
    </p:spTree>
    <p:extLst>
      <p:ext uri="{BB962C8B-B14F-4D97-AF65-F5344CB8AC3E}">
        <p14:creationId xmlns:p14="http://schemas.microsoft.com/office/powerpoint/2010/main" val="1283292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9</a:t>
            </a:fld>
            <a:endParaRPr lang="en-US"/>
          </a:p>
        </p:txBody>
      </p:sp>
    </p:spTree>
    <p:extLst>
      <p:ext uri="{BB962C8B-B14F-4D97-AF65-F5344CB8AC3E}">
        <p14:creationId xmlns:p14="http://schemas.microsoft.com/office/powerpoint/2010/main" val="2529422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10</a:t>
            </a:fld>
            <a:endParaRPr lang="en-US"/>
          </a:p>
        </p:txBody>
      </p:sp>
    </p:spTree>
    <p:extLst>
      <p:ext uri="{BB962C8B-B14F-4D97-AF65-F5344CB8AC3E}">
        <p14:creationId xmlns:p14="http://schemas.microsoft.com/office/powerpoint/2010/main" val="1005098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latin typeface="Segoe UI"/>
            </a:endParaRPr>
          </a:p>
        </p:txBody>
      </p:sp>
      <p:sp>
        <p:nvSpPr>
          <p:cNvPr id="4" name="Slide Number Placeholder 3"/>
          <p:cNvSpPr>
            <a:spLocks noGrp="1"/>
          </p:cNvSpPr>
          <p:nvPr>
            <p:ph type="sldNum" sz="quarter" idx="10"/>
          </p:nvPr>
        </p:nvSpPr>
        <p:spPr/>
        <p:txBody>
          <a:bodyPr/>
          <a:lstStyle/>
          <a:p>
            <a:fld id="{89D5A5AB-9D22-4354-8089-2AE811D4E282}" type="slidenum">
              <a:rPr lang="en-US" smtClean="0">
                <a:solidFill>
                  <a:prstClr val="black"/>
                </a:solidFill>
                <a:latin typeface="Segoe UI"/>
              </a:rPr>
              <a:pPr/>
              <a:t>11</a:t>
            </a:fld>
            <a:endParaRPr lang="en-US" dirty="0">
              <a:solidFill>
                <a:prstClr val="black"/>
              </a:solidFill>
              <a:latin typeface="Segoe UI"/>
            </a:endParaRPr>
          </a:p>
        </p:txBody>
      </p:sp>
    </p:spTree>
    <p:extLst>
      <p:ext uri="{BB962C8B-B14F-4D97-AF65-F5344CB8AC3E}">
        <p14:creationId xmlns:p14="http://schemas.microsoft.com/office/powerpoint/2010/main" val="57477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12</a:t>
            </a:fld>
            <a:endParaRPr lang="en-US"/>
          </a:p>
        </p:txBody>
      </p:sp>
    </p:spTree>
    <p:extLst>
      <p:ext uri="{BB962C8B-B14F-4D97-AF65-F5344CB8AC3E}">
        <p14:creationId xmlns:p14="http://schemas.microsoft.com/office/powerpoint/2010/main" val="1523342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13</a:t>
            </a:fld>
            <a:endParaRPr lang="en-US"/>
          </a:p>
        </p:txBody>
      </p:sp>
    </p:spTree>
    <p:extLst>
      <p:ext uri="{BB962C8B-B14F-4D97-AF65-F5344CB8AC3E}">
        <p14:creationId xmlns:p14="http://schemas.microsoft.com/office/powerpoint/2010/main" val="1721969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600" spc="-51"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3754771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175" lvl="1" indent="0" defTabSz="914325">
              <a:spcBef>
                <a:spcPts val="900"/>
              </a:spcBef>
              <a:buNone/>
            </a:pPr>
            <a:endParaRPr lang="en-US" sz="1600" spc="-51"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pPr/>
              <a:t>15</a:t>
            </a:fld>
            <a:endParaRPr lang="en-US" dirty="0"/>
          </a:p>
        </p:txBody>
      </p:sp>
    </p:spTree>
    <p:extLst>
      <p:ext uri="{BB962C8B-B14F-4D97-AF65-F5344CB8AC3E}">
        <p14:creationId xmlns:p14="http://schemas.microsoft.com/office/powerpoint/2010/main" val="3602730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16</a:t>
            </a:fld>
            <a:endParaRPr lang="en-US" dirty="0"/>
          </a:p>
        </p:txBody>
      </p:sp>
    </p:spTree>
    <p:extLst>
      <p:ext uri="{BB962C8B-B14F-4D97-AF65-F5344CB8AC3E}">
        <p14:creationId xmlns:p14="http://schemas.microsoft.com/office/powerpoint/2010/main" val="1302470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17</a:t>
            </a:fld>
            <a:endParaRPr lang="en-US"/>
          </a:p>
        </p:txBody>
      </p:sp>
    </p:spTree>
    <p:extLst>
      <p:ext uri="{BB962C8B-B14F-4D97-AF65-F5344CB8AC3E}">
        <p14:creationId xmlns:p14="http://schemas.microsoft.com/office/powerpoint/2010/main" val="1333786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18</a:t>
            </a:fld>
            <a:endParaRPr lang="en-US"/>
          </a:p>
        </p:txBody>
      </p:sp>
    </p:spTree>
    <p:extLst>
      <p:ext uri="{BB962C8B-B14F-4D97-AF65-F5344CB8AC3E}">
        <p14:creationId xmlns:p14="http://schemas.microsoft.com/office/powerpoint/2010/main" val="1234407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175" lvl="1" indent="0" defTabSz="914325">
              <a:spcBef>
                <a:spcPts val="900"/>
              </a:spcBef>
              <a:buNone/>
            </a:pPr>
            <a:endParaRPr lang="en-US" sz="1600" spc="-51"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pPr/>
              <a:t>19</a:t>
            </a:fld>
            <a:endParaRPr lang="en-US" dirty="0"/>
          </a:p>
        </p:txBody>
      </p:sp>
    </p:spTree>
    <p:extLst>
      <p:ext uri="{BB962C8B-B14F-4D97-AF65-F5344CB8AC3E}">
        <p14:creationId xmlns:p14="http://schemas.microsoft.com/office/powerpoint/2010/main" val="257489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20</a:t>
            </a:fld>
            <a:endParaRPr lang="en-US"/>
          </a:p>
        </p:txBody>
      </p:sp>
    </p:spTree>
    <p:extLst>
      <p:ext uri="{BB962C8B-B14F-4D97-AF65-F5344CB8AC3E}">
        <p14:creationId xmlns:p14="http://schemas.microsoft.com/office/powerpoint/2010/main" val="9342643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21</a:t>
            </a:fld>
            <a:endParaRPr lang="en-US"/>
          </a:p>
        </p:txBody>
      </p:sp>
    </p:spTree>
    <p:extLst>
      <p:ext uri="{BB962C8B-B14F-4D97-AF65-F5344CB8AC3E}">
        <p14:creationId xmlns:p14="http://schemas.microsoft.com/office/powerpoint/2010/main" val="2283482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175" lvl="1" indent="0" defTabSz="914325">
              <a:spcBef>
                <a:spcPts val="900"/>
              </a:spcBef>
              <a:buNone/>
            </a:pPr>
            <a:endParaRPr lang="en-US" sz="1600" spc="-51"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pPr/>
              <a:t>22</a:t>
            </a:fld>
            <a:endParaRPr lang="en-US" dirty="0"/>
          </a:p>
        </p:txBody>
      </p:sp>
    </p:spTree>
    <p:extLst>
      <p:ext uri="{BB962C8B-B14F-4D97-AF65-F5344CB8AC3E}">
        <p14:creationId xmlns:p14="http://schemas.microsoft.com/office/powerpoint/2010/main" val="1174163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23</a:t>
            </a:fld>
            <a:endParaRPr lang="en-US"/>
          </a:p>
        </p:txBody>
      </p:sp>
    </p:spTree>
    <p:extLst>
      <p:ext uri="{BB962C8B-B14F-4D97-AF65-F5344CB8AC3E}">
        <p14:creationId xmlns:p14="http://schemas.microsoft.com/office/powerpoint/2010/main" val="1361594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24</a:t>
            </a:fld>
            <a:endParaRPr lang="en-US"/>
          </a:p>
        </p:txBody>
      </p:sp>
    </p:spTree>
    <p:extLst>
      <p:ext uri="{BB962C8B-B14F-4D97-AF65-F5344CB8AC3E}">
        <p14:creationId xmlns:p14="http://schemas.microsoft.com/office/powerpoint/2010/main" val="31539654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 Id="rId4" Type="http://schemas.microsoft.com/office/2007/relationships/hdphoto" Target="../media/hdphoto2.wdp"/></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2.xml"/><Relationship Id="rId6" Type="http://schemas.microsoft.com/office/2007/relationships/hdphoto" Target="../media/hdphoto1.wdp"/><Relationship Id="rId5" Type="http://schemas.openxmlformats.org/officeDocument/2006/relationships/image" Target="../media/image6.png"/><Relationship Id="rId4" Type="http://schemas.microsoft.com/office/2007/relationships/hdphoto" Target="../media/hdphoto3.wdp"/></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3.xml"/><Relationship Id="rId4" Type="http://schemas.microsoft.com/office/2007/relationships/hdphoto" Target="../media/hdphoto2.wdp"/></Relationships>
</file>

<file path=ppt/slideLayouts/_rels/slideLayout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3.xml"/><Relationship Id="rId6" Type="http://schemas.microsoft.com/office/2007/relationships/hdphoto" Target="../media/hdphoto1.wdp"/><Relationship Id="rId5" Type="http://schemas.openxmlformats.org/officeDocument/2006/relationships/image" Target="../media/image6.png"/><Relationship Id="rId4" Type="http://schemas.microsoft.com/office/2007/relationships/hdphoto" Target="../media/hdphoto3.wdp"/></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271" y="5132437"/>
            <a:ext cx="8579886"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
        <p:nvSpPr>
          <p:cNvPr id="10" name="Title 1"/>
          <p:cNvSpPr>
            <a:spLocks noGrp="1"/>
          </p:cNvSpPr>
          <p:nvPr>
            <p:ph type="ctrTitle" hasCustomPrompt="1"/>
          </p:nvPr>
        </p:nvSpPr>
        <p:spPr>
          <a:xfrm>
            <a:off x="193271" y="2415641"/>
            <a:ext cx="8579886" cy="2603307"/>
          </a:xfrm>
          <a:prstGeom prst="rect">
            <a:avLst/>
          </a:prstGeom>
          <a:solidFill>
            <a:srgbClr val="7FBA00"/>
          </a:solidFill>
          <a:effectLst/>
        </p:spPr>
        <p:txBody>
          <a:bodyPr vert="horz" lIns="137160" tIns="137160" rIns="91409" bIns="137160" rtlCol="0" anchor="b" anchorCtr="0">
            <a:noAutofit/>
          </a:bodyPr>
          <a:lstStyle>
            <a:lvl1pPr>
              <a:defRPr lang="en-US" sz="4800" kern="0" dirty="0">
                <a:ln w="3175">
                  <a:noFill/>
                </a:ln>
                <a:gradFill flip="none" rotWithShape="1">
                  <a:gsLst>
                    <a:gs pos="4583">
                      <a:srgbClr val="FFFFFF"/>
                    </a:gs>
                    <a:gs pos="100000">
                      <a:srgbClr val="FFFFFF"/>
                    </a:gs>
                  </a:gsLst>
                  <a:lin ang="5400000" scaled="0"/>
                  <a:tileRect/>
                </a:gradFill>
              </a:defRPr>
            </a:lvl1pPr>
          </a:lstStyle>
          <a:p>
            <a:pPr lvl="0"/>
            <a:r>
              <a:rPr lang="en-US" dirty="0" smtClean="0"/>
              <a:t>Course title style</a:t>
            </a:r>
            <a:endParaRPr lang="en-US" dirty="0"/>
          </a:p>
        </p:txBody>
      </p:sp>
      <p:sp>
        <p:nvSpPr>
          <p:cNvPr id="8" name="top right small rectangle"/>
          <p:cNvSpPr/>
          <p:nvPr userDrawn="1"/>
        </p:nvSpPr>
        <p:spPr bwMode="auto">
          <a:xfrm>
            <a:off x="8902492" y="2418735"/>
            <a:ext cx="3087947" cy="2600214"/>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37160" tIns="137160" rIns="137160" bIns="137160" numCol="1" rtlCol="0" anchor="b" anchorCtr="0" compatLnSpc="1">
            <a:prstTxWarp prst="textNoShape">
              <a:avLst/>
            </a:prstTxWarp>
          </a:bodyPr>
          <a:lstStyle/>
          <a:p>
            <a:pPr defTabSz="913788" fontAlgn="base">
              <a:spcBef>
                <a:spcPct val="0"/>
              </a:spcBef>
              <a:spcAft>
                <a:spcPct val="0"/>
              </a:spcAft>
            </a:pPr>
            <a:endParaRPr lang="en-US" sz="2000" dirty="0">
              <a:gradFill>
                <a:gsLst>
                  <a:gs pos="0">
                    <a:srgbClr val="FFFFFF"/>
                  </a:gs>
                  <a:gs pos="100000">
                    <a:srgbClr val="FFFFFF"/>
                  </a:gs>
                </a:gsLst>
                <a:lin ang="5400000" scaled="0"/>
              </a:gradFill>
              <a:latin typeface="Segoe UI Light" panose="020B0502040204020203" pitchFamily="34" charset="0"/>
              <a:cs typeface="Segoe UI Light" panose="020B0502040204020203" pitchFamily="34" charset="0"/>
            </a:endParaRP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0731799" y="4630992"/>
            <a:ext cx="1131688" cy="334740"/>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94251966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Subtitle 2"/>
          <p:cNvSpPr txBox="1">
            <a:spLocks/>
          </p:cNvSpPr>
          <p:nvPr userDrawn="1"/>
        </p:nvSpPr>
        <p:spPr>
          <a:xfrm>
            <a:off x="8738733" y="2685050"/>
            <a:ext cx="2241224" cy="2355337"/>
          </a:xfrm>
          <a:prstGeom prst="rect">
            <a:avLst/>
          </a:prstGeom>
        </p:spPr>
        <p:txBody>
          <a:bodyPr vert="horz" lIns="91409" tIns="45705" rIns="91409" bIns="45705" rtlCol="0" anchor="ctr" anchorCtr="0">
            <a:normAutofit/>
          </a:bodyPr>
          <a:lstStyle>
            <a:lvl1pPr marL="0" indent="0" algn="l" defTabSz="914052" rtl="0" eaLnBrk="1" latinLnBrk="0" hangingPunct="1">
              <a:lnSpc>
                <a:spcPct val="100000"/>
              </a:lnSpc>
              <a:spcBef>
                <a:spcPts val="0"/>
              </a:spcBef>
              <a:buSzPct val="90000"/>
              <a:buFont typeface="Arial" pitchFamily="34" charset="0"/>
              <a:buNone/>
              <a:defRPr lang="en-US" sz="1800" b="1" kern="1200" spc="-30" baseline="0" dirty="0">
                <a:gradFill>
                  <a:gsLst>
                    <a:gs pos="1250">
                      <a:srgbClr val="FFFFFF"/>
                    </a:gs>
                    <a:gs pos="6250">
                      <a:srgbClr val="FFFFFF"/>
                    </a:gs>
                  </a:gsLst>
                  <a:lin ang="5400000" scaled="0"/>
                </a:gradFill>
                <a:latin typeface="Segoe UI" pitchFamily="34" charset="0"/>
                <a:ea typeface="Segoe UI" pitchFamily="34" charset="0"/>
                <a:cs typeface="Segoe UI" pitchFamily="34" charset="0"/>
              </a:defRPr>
            </a:lvl1pPr>
            <a:lvl2pPr marL="457044" indent="0" algn="ctr" defTabSz="914088" rtl="0" eaLnBrk="1" latinLnBrk="0" hangingPunct="1">
              <a:spcBef>
                <a:spcPts val="300"/>
              </a:spcBef>
              <a:spcAft>
                <a:spcPts val="300"/>
              </a:spcAft>
              <a:buFont typeface="Arial" pitchFamily="34" charset="0"/>
              <a:buNone/>
              <a:defRPr sz="2800" kern="1200">
                <a:solidFill>
                  <a:schemeClr val="tx1">
                    <a:tint val="75000"/>
                  </a:schemeClr>
                </a:solidFill>
                <a:latin typeface="Segoe UI" pitchFamily="34" charset="0"/>
                <a:ea typeface="Segoe UI" pitchFamily="34" charset="0"/>
                <a:cs typeface="Segoe UI" pitchFamily="34" charset="0"/>
              </a:defRPr>
            </a:lvl2pPr>
            <a:lvl3pPr marL="914088" indent="0" algn="ctr" defTabSz="914088" rtl="0" eaLnBrk="1" latinLnBrk="0" hangingPunct="1">
              <a:spcBef>
                <a:spcPts val="200"/>
              </a:spcBef>
              <a:spcAft>
                <a:spcPts val="200"/>
              </a:spcAft>
              <a:buFont typeface="Arial" pitchFamily="34" charset="0"/>
              <a:buNone/>
              <a:defRPr sz="2400" kern="1200">
                <a:solidFill>
                  <a:schemeClr val="tx1">
                    <a:tint val="75000"/>
                  </a:schemeClr>
                </a:solidFill>
                <a:latin typeface="Segoe UI" pitchFamily="34" charset="0"/>
                <a:ea typeface="Segoe UI" pitchFamily="34" charset="0"/>
                <a:cs typeface="Segoe UI" pitchFamily="34" charset="0"/>
              </a:defRPr>
            </a:lvl3pPr>
            <a:lvl4pPr marL="1371133"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4pPr>
            <a:lvl5pPr marL="1828178"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5pPr>
            <a:lvl6pPr marL="2285222"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2267"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199311"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6358"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mtClean="0"/>
              <a:t>Click to edit Master subtitle style</a:t>
            </a:r>
            <a:endParaRPr lang="en-US"/>
          </a:p>
        </p:txBody>
      </p:sp>
      <p:sp>
        <p:nvSpPr>
          <p:cNvPr id="13" name="Title 1"/>
          <p:cNvSpPr txBox="1">
            <a:spLocks/>
          </p:cNvSpPr>
          <p:nvPr userDrawn="1"/>
        </p:nvSpPr>
        <p:spPr>
          <a:xfrm>
            <a:off x="193271" y="3376350"/>
            <a:ext cx="8409867" cy="1692617"/>
          </a:xfrm>
          <a:prstGeom prst="rect">
            <a:avLst/>
          </a:prstGeom>
          <a:solidFill>
            <a:srgbClr val="82BF36"/>
          </a:solidFill>
          <a:effectLst/>
        </p:spPr>
        <p:txBody>
          <a:bodyPr vert="horz" lIns="137160" tIns="137160" rIns="91409" bIns="137160" rtlCol="0" anchor="b" anchorCtr="0">
            <a:noAutofit/>
          </a:bodyPr>
          <a:lstStyle>
            <a:lvl1pPr algn="l" defTabSz="914088" rtl="0" eaLnBrk="1" latinLnBrk="0" hangingPunct="1">
              <a:spcBef>
                <a:spcPct val="0"/>
              </a:spcBef>
              <a:buNone/>
              <a:defRPr lang="en-US" sz="4000" kern="0" dirty="0">
                <a:ln w="3175">
                  <a:noFill/>
                </a:ln>
                <a:gradFill flip="none" rotWithShape="1">
                  <a:gsLst>
                    <a:gs pos="4583">
                      <a:srgbClr val="FFFFFF"/>
                    </a:gs>
                    <a:gs pos="100000">
                      <a:srgbClr val="FFFFFF"/>
                    </a:gs>
                  </a:gsLst>
                  <a:lin ang="5400000" scaled="0"/>
                  <a:tileRect/>
                </a:gradFill>
                <a:latin typeface="Segoe UI" pitchFamily="34" charset="0"/>
                <a:ea typeface="Segoe UI" pitchFamily="34" charset="0"/>
                <a:cs typeface="Segoe UI" pitchFamily="34" charset="0"/>
              </a:defRPr>
            </a:lvl1pPr>
          </a:lstStyle>
          <a:p>
            <a:endParaRPr lang="en-US" sz="4000" dirty="0"/>
          </a:p>
        </p:txBody>
      </p:sp>
      <p:sp>
        <p:nvSpPr>
          <p:cNvPr id="14" name="top right small rectangle"/>
          <p:cNvSpPr/>
          <p:nvPr userDrawn="1"/>
        </p:nvSpPr>
        <p:spPr bwMode="auto">
          <a:xfrm>
            <a:off x="8682790" y="3374967"/>
            <a:ext cx="3257419" cy="1694322"/>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1181757" y="4821401"/>
            <a:ext cx="740346" cy="218986"/>
          </a:xfrm>
          <a:prstGeom prst="rect">
            <a:avLst/>
          </a:prstGeom>
        </p:spPr>
      </p:pic>
      <p:sp>
        <p:nvSpPr>
          <p:cNvPr id="16" name="Text Placeholder 10"/>
          <p:cNvSpPr>
            <a:spLocks noGrp="1"/>
          </p:cNvSpPr>
          <p:nvPr>
            <p:ph type="body" sz="quarter" idx="10" hasCustomPrompt="1"/>
          </p:nvPr>
        </p:nvSpPr>
        <p:spPr>
          <a:xfrm>
            <a:off x="292101" y="3466407"/>
            <a:ext cx="8215796" cy="1485524"/>
          </a:xfrm>
          <a:prstGeom prst="rect">
            <a:avLst/>
          </a:prstGeom>
        </p:spPr>
        <p:txBody>
          <a:bodyPr anchor="b" anchorCtr="0">
            <a:normAutofit/>
          </a:bodyPr>
          <a:lstStyle>
            <a:lvl1pPr marL="0" indent="0">
              <a:buNone/>
              <a:defRPr sz="3600" b="0" baseline="0">
                <a:solidFill>
                  <a:schemeClr val="bg1"/>
                </a:solidFill>
                <a:latin typeface="Segoe UI Light" panose="020B0502040204020203" pitchFamily="34" charset="0"/>
                <a:cs typeface="Segoe UI Light" panose="020B0502040204020203" pitchFamily="34" charset="0"/>
              </a:defRPr>
            </a:lvl1pPr>
          </a:lstStyle>
          <a:p>
            <a:pPr lvl="0"/>
            <a:r>
              <a:rPr lang="en-US" dirty="0" smtClean="0"/>
              <a:t>Module or Section transition style</a:t>
            </a:r>
          </a:p>
        </p:txBody>
      </p:sp>
      <p:sp>
        <p:nvSpPr>
          <p:cNvPr id="11" name="Subtitle 2"/>
          <p:cNvSpPr>
            <a:spLocks noGrp="1"/>
          </p:cNvSpPr>
          <p:nvPr>
            <p:ph type="subTitle" idx="1"/>
          </p:nvPr>
        </p:nvSpPr>
        <p:spPr>
          <a:xfrm>
            <a:off x="193271" y="5132437"/>
            <a:ext cx="8409867"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389134869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450" y="177800"/>
            <a:ext cx="2857500" cy="1143000"/>
          </a:xfrm>
          <a:prstGeom prst="rect">
            <a:avLst/>
          </a:prstGeom>
        </p:spPr>
      </p:pic>
    </p:spTree>
    <p:extLst>
      <p:ext uri="{BB962C8B-B14F-4D97-AF65-F5344CB8AC3E}">
        <p14:creationId xmlns:p14="http://schemas.microsoft.com/office/powerpoint/2010/main" val="38232600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Click to edit Master title style</a:t>
            </a:r>
            <a:endParaRPr lang="en-US" dirty="0"/>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lvl1pPr>
            <a:lvl2pPr>
              <a:defRPr>
                <a:solidFill>
                  <a:schemeClr val="tx1">
                    <a:lumMod val="75000"/>
                    <a:lumOff val="25000"/>
                  </a:schemeClr>
                </a:solidFill>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60774583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994614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9511" y="1330656"/>
            <a:ext cx="5616915" cy="639762"/>
          </a:xfrm>
          <a:prstGeom prst="rect">
            <a:avLst/>
          </a:prstGeom>
          <a:solidFill>
            <a:srgbClr val="86C400"/>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379511" y="1981200"/>
            <a:ext cx="5616915"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345807" y="1330656"/>
            <a:ext cx="5619121" cy="639762"/>
          </a:xfrm>
          <a:prstGeom prst="rect">
            <a:avLst/>
          </a:prstGeom>
          <a:solidFill>
            <a:srgbClr val="1F497D"/>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345807" y="1981200"/>
            <a:ext cx="5619121"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6902160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783989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54126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0" y="0"/>
            <a:ext cx="12192000" cy="6858000"/>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2"/>
          <p:cNvSpPr>
            <a:spLocks noChangeArrowheads="1"/>
          </p:cNvSpPr>
          <p:nvPr userDrawn="1"/>
        </p:nvSpPr>
        <p:spPr bwMode="auto">
          <a:xfrm>
            <a:off x="530087" y="5960743"/>
            <a:ext cx="11078818" cy="738664"/>
          </a:xfrm>
          <a:prstGeom prst="rect">
            <a:avLst/>
          </a:prstGeom>
          <a:noFill/>
          <a:ln w="9525">
            <a:noFill/>
            <a:miter lim="800000"/>
            <a:headEnd/>
            <a:tailEnd/>
          </a:ln>
        </p:spPr>
        <p:txBody>
          <a:bodyPr wrap="square">
            <a:spAutoFit/>
          </a:bodyPr>
          <a:lstStyle/>
          <a:p>
            <a:pPr marL="0" lvl="1" defTabSz="914088">
              <a:defRPr/>
            </a:pPr>
            <a:r>
              <a:rPr lang="en-US" sz="1050" dirty="0">
                <a:solidFill>
                  <a:schemeClr val="bg1">
                    <a:lumMod val="85000"/>
                  </a:schemeClr>
                </a:solidFill>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19"/>
          <a:stretch/>
        </p:blipFill>
        <p:spPr>
          <a:xfrm>
            <a:off x="530087" y="2940117"/>
            <a:ext cx="5473148" cy="2229412"/>
          </a:xfrm>
          <a:prstGeom prst="rect">
            <a:avLst/>
          </a:prstGeom>
        </p:spPr>
      </p:pic>
    </p:spTree>
    <p:extLst>
      <p:ext uri="{BB962C8B-B14F-4D97-AF65-F5344CB8AC3E}">
        <p14:creationId xmlns:p14="http://schemas.microsoft.com/office/powerpoint/2010/main" val="26678372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9249" y="2234114"/>
            <a:ext cx="8375702" cy="1359196"/>
          </a:xfrm>
        </p:spPr>
        <p:txBody>
          <a:bodyPr anchor="ctr" anchorCtr="0">
            <a:noAutofit/>
          </a:bodyPr>
          <a:lstStyle>
            <a:lvl1pPr>
              <a:lnSpc>
                <a:spcPct val="90000"/>
              </a:lnSpc>
              <a:defRPr sz="6600"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519249" y="4612342"/>
            <a:ext cx="5455754" cy="1144929"/>
          </a:xfrm>
        </p:spPr>
        <p:txBody>
          <a:bodyPr/>
          <a:lstStyle>
            <a:lvl1pPr marL="0" indent="0">
              <a:buFont typeface="Arial" pitchFamily="34" charset="0"/>
              <a:buNone/>
              <a:defRPr sz="2400">
                <a:solidFill>
                  <a:schemeClr val="bg1">
                    <a:alpha val="98000"/>
                  </a:schemeClr>
                </a:solidFill>
                <a:latin typeface="+mj-lt"/>
              </a:defRPr>
            </a:lvl1pPr>
            <a:lvl2pPr marL="460375" indent="0">
              <a:buFont typeface="Arial" pitchFamily="34" charset="0"/>
              <a:buNone/>
              <a:defRPr/>
            </a:lvl2pPr>
            <a:lvl3pPr marL="855663" indent="0">
              <a:buFont typeface="Arial" pitchFamily="34" charset="0"/>
              <a:buNone/>
              <a:defRPr/>
            </a:lvl3pPr>
            <a:lvl4pPr marL="1258888" indent="0">
              <a:buFont typeface="Arial" pitchFamily="34" charset="0"/>
              <a:buNone/>
              <a:defRPr/>
            </a:lvl4pPr>
            <a:lvl5pPr marL="1604963"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3325808548"/>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068499933"/>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99036"/>
          </a:xfrm>
        </p:spPr>
        <p:txBody>
          <a:bodyPr/>
          <a:lstStyle>
            <a:lvl1pPr marL="0" indent="0">
              <a:spcBef>
                <a:spcPts val="0"/>
              </a:spcBef>
              <a:spcAft>
                <a:spcPts val="0"/>
              </a:spcAft>
              <a:buFont typeface="Arial" pitchFamily="34" charset="0"/>
              <a:buNone/>
              <a:defRPr lang="en-US" sz="3200" kern="1200" dirty="0" smtClean="0">
                <a:gradFill>
                  <a:gsLst>
                    <a:gs pos="0">
                      <a:srgbClr val="595959"/>
                    </a:gs>
                    <a:gs pos="86000">
                      <a:srgbClr val="595959"/>
                    </a:gs>
                  </a:gsLst>
                  <a:lin ang="5400000" scaled="0"/>
                </a:gradFill>
                <a:latin typeface="+mn-lt"/>
                <a:ea typeface="+mn-ea"/>
                <a:cs typeface="+mn-cs"/>
              </a:defRPr>
            </a:lvl1pPr>
            <a:lvl2pPr marL="688975" indent="-342900">
              <a:spcBef>
                <a:spcPts val="0"/>
              </a:spcBef>
              <a:spcAft>
                <a:spcPts val="0"/>
              </a:spcAft>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400"/>
              </a:spcAft>
              <a:buNone/>
              <a:defRPr sz="2000"/>
            </a:lvl3pPr>
            <a:lvl4pPr marL="0" indent="0">
              <a:spcBef>
                <a:spcPts val="0"/>
              </a:spcBef>
              <a:spcAft>
                <a:spcPts val="400"/>
              </a:spcAft>
              <a:buNone/>
              <a:defRPr/>
            </a:lvl4pPr>
            <a:lvl5pPr marL="342900" indent="-342900">
              <a:spcBef>
                <a:spcPts val="0"/>
              </a:spcBef>
              <a:spcAft>
                <a:spcPts val="400"/>
              </a:spcAft>
              <a:buFont typeface="Arial" pitchFamily="34" charset="0"/>
              <a:buChar char="•"/>
              <a:defRPr/>
            </a:lvl5pPr>
            <a:lvl6pPr marL="1033462" indent="-342900">
              <a:buFont typeface="Arial" pitchFamily="34" charset="0"/>
              <a:buChar char="•"/>
              <a:defRPr sz="2400">
                <a:gradFill>
                  <a:gsLst>
                    <a:gs pos="0">
                      <a:srgbClr val="595959"/>
                    </a:gs>
                    <a:gs pos="86000">
                      <a:srgbClr val="595959"/>
                    </a:gs>
                  </a:gsLst>
                  <a:lin ang="5400000" scaled="0"/>
                </a:gradFill>
              </a:defRPr>
            </a:lvl6pPr>
            <a:lvl7pPr marL="1255713" indent="-225425">
              <a:defRPr>
                <a:gradFill>
                  <a:gsLst>
                    <a:gs pos="0">
                      <a:srgbClr val="595959"/>
                    </a:gs>
                    <a:gs pos="86000">
                      <a:srgbClr val="595959"/>
                    </a:gs>
                  </a:gsLst>
                  <a:lin ang="5400000" scaled="0"/>
                </a:gradFill>
              </a:defRPr>
            </a:lvl7pPr>
            <a:lvl8pPr marL="1487488" indent="-231775">
              <a:defRPr>
                <a:gradFill>
                  <a:gsLst>
                    <a:gs pos="0">
                      <a:srgbClr val="595959"/>
                    </a:gs>
                    <a:gs pos="86000">
                      <a:srgbClr val="595959"/>
                    </a:gs>
                  </a:gsLst>
                  <a:lin ang="5400000" scaled="0"/>
                </a:gradFill>
              </a:defRPr>
            </a:lvl8pPr>
          </a:lstStyle>
          <a:p>
            <a:pPr marL="346075" lvl="0" indent="-346075" algn="l" defTabSz="914363" rtl="0" eaLnBrk="1" latinLnBrk="0" hangingPunct="1">
              <a:lnSpc>
                <a:spcPct val="90000"/>
              </a:lnSpc>
              <a:spcBef>
                <a:spcPct val="20000"/>
              </a:spcBef>
              <a:buSzPct val="90000"/>
              <a:buFont typeface="Arial" pitchFamily="34" charset="0"/>
              <a:buChar char="•"/>
            </a:pPr>
            <a:r>
              <a:rPr lang="en-US" smtClean="0"/>
              <a:t>Click to edit Master text styles</a:t>
            </a:r>
          </a:p>
          <a:p>
            <a:pPr marL="346075" lvl="1" indent="-346075" algn="l" defTabSz="914363" rtl="0" eaLnBrk="1" latinLnBrk="0" hangingPunct="1">
              <a:lnSpc>
                <a:spcPct val="90000"/>
              </a:lnSpc>
              <a:spcBef>
                <a:spcPct val="20000"/>
              </a:spcBef>
              <a:buSzPct val="90000"/>
              <a:buFont typeface="Arial" pitchFamily="34" charset="0"/>
              <a:buChar char="•"/>
            </a:pPr>
            <a:r>
              <a:rPr lang="en-US" smtClean="0"/>
              <a:t>Second level</a:t>
            </a:r>
          </a:p>
          <a:p>
            <a:pPr marL="346075" lvl="2" indent="-346075" algn="l" defTabSz="914363" rtl="0" eaLnBrk="1" latinLnBrk="0" hangingPunct="1">
              <a:lnSpc>
                <a:spcPct val="90000"/>
              </a:lnSpc>
              <a:spcBef>
                <a:spcPct val="20000"/>
              </a:spcBef>
              <a:buSzPct val="90000"/>
              <a:buFont typeface="Arial" pitchFamily="34" charset="0"/>
              <a:buChar char="•"/>
            </a:pPr>
            <a:r>
              <a:rPr lang="en-US" smtClean="0"/>
              <a:t>Third level</a:t>
            </a:r>
          </a:p>
          <a:p>
            <a:pPr marL="346075" lvl="3" indent="-346075" algn="l" defTabSz="914363" rtl="0" eaLnBrk="1" latinLnBrk="0" hangingPunct="1">
              <a:lnSpc>
                <a:spcPct val="90000"/>
              </a:lnSpc>
              <a:spcBef>
                <a:spcPct val="20000"/>
              </a:spcBef>
              <a:buSzPct val="90000"/>
              <a:buFont typeface="Arial" pitchFamily="34" charset="0"/>
              <a:buChar char="•"/>
            </a:pPr>
            <a:r>
              <a:rPr lang="en-US" smtClean="0"/>
              <a:t>Fourth level</a:t>
            </a:r>
          </a:p>
          <a:p>
            <a:pPr marL="346075" lvl="4" indent="-346075" algn="l" defTabSz="914363"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pic>
        <p:nvPicPr>
          <p:cNvPr id="4" name="Picture 3"/>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422154564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Content Placeholder 2"/>
          <p:cNvSpPr>
            <a:spLocks noGrp="1"/>
          </p:cNvSpPr>
          <p:nvPr>
            <p:ph sz="half" idx="1"/>
          </p:nvPr>
        </p:nvSpPr>
        <p:spPr>
          <a:xfrm>
            <a:off x="519248" y="1447800"/>
            <a:ext cx="5487829" cy="2443746"/>
          </a:xfrm>
        </p:spPr>
        <p:txBody>
          <a:bodyPr/>
          <a:lstStyle>
            <a:lvl1pPr marL="341313" indent="-341313">
              <a:lnSpc>
                <a:spcPct val="90000"/>
              </a:lnSpc>
              <a:buSzPct val="80000"/>
              <a:buFont typeface="Arial" pitchFamily="34" charset="0"/>
              <a:buChar char="•"/>
              <a:defRPr sz="3200"/>
            </a:lvl1pPr>
            <a:lvl2pPr marL="627063" indent="-285750">
              <a:lnSpc>
                <a:spcPct val="90000"/>
              </a:lnSpc>
              <a:buSzPct val="80000"/>
              <a:buFont typeface="Arial" pitchFamily="34" charset="0"/>
              <a:buChar char="•"/>
              <a:defRPr sz="2800"/>
            </a:lvl2pPr>
            <a:lvl3pPr marL="914400" indent="-287338">
              <a:lnSpc>
                <a:spcPct val="90000"/>
              </a:lnSpc>
              <a:buSzPct val="80000"/>
              <a:buFont typeface="Arial" pitchFamily="34" charset="0"/>
              <a:buChar char="•"/>
              <a:defRPr sz="2400"/>
            </a:lvl3pPr>
            <a:lvl4pPr marL="1712913" indent="-225425">
              <a:lnSpc>
                <a:spcPct val="90000"/>
              </a:lnSpc>
              <a:buSzPct val="80000"/>
              <a:buFont typeface="Arial" pitchFamily="34" charset="0"/>
              <a:buChar char="•"/>
              <a:defRPr sz="2000"/>
            </a:lvl4pPr>
            <a:lvl5pPr marL="1944688" indent="-231775">
              <a:lnSpc>
                <a:spcPct val="90000"/>
              </a:lnSpc>
              <a:buSzPct val="80000"/>
              <a:buFont typeface="Arial" pitchFamily="34" charset="0"/>
              <a:buChar cha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3335" y="1447800"/>
            <a:ext cx="5487829" cy="2443746"/>
          </a:xfrm>
        </p:spPr>
        <p:txBody>
          <a:bodyPr/>
          <a:lstStyle>
            <a:lvl1pPr marL="457200" indent="-457200">
              <a:lnSpc>
                <a:spcPct val="90000"/>
              </a:lnSpc>
              <a:buSzPct val="80000"/>
              <a:buFont typeface="Arial" pitchFamily="34" charset="0"/>
              <a:buChar char="•"/>
              <a:defRPr lang="en-US" sz="3200" kern="1200" dirty="0" smtClean="0">
                <a:gradFill>
                  <a:gsLst>
                    <a:gs pos="0">
                      <a:srgbClr val="595959"/>
                    </a:gs>
                    <a:gs pos="86000">
                      <a:srgbClr val="595959"/>
                    </a:gs>
                  </a:gsLst>
                  <a:lin ang="5400000" scaled="0"/>
                </a:gradFill>
                <a:latin typeface="+mn-lt"/>
                <a:ea typeface="+mn-ea"/>
                <a:cs typeface="+mn-cs"/>
              </a:defRPr>
            </a:lvl1pPr>
            <a:lvl2pPr marL="798513" indent="-457200">
              <a:lnSpc>
                <a:spcPct val="90000"/>
              </a:lnSpc>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969962" indent="-342900">
              <a:lnSpc>
                <a:spcPct val="90000"/>
              </a:lnSpc>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830388" indent="-342900">
              <a:lnSpc>
                <a:spcPct val="90000"/>
              </a:lnSpc>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2055813" indent="-342900">
              <a:lnSpc>
                <a:spcPct val="90000"/>
              </a:lnSpc>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a:defRPr sz="1800"/>
            </a:lvl6pPr>
            <a:lvl7pPr>
              <a:defRPr sz="1800"/>
            </a:lvl7pPr>
            <a:lvl8pPr>
              <a:defRPr sz="1800"/>
            </a:lvl8pPr>
            <a:lvl9pPr>
              <a:defRPr sz="1800"/>
            </a:lvl9pPr>
          </a:lstStyle>
          <a:p>
            <a:pPr marL="341313" lvl="0" indent="-341313" algn="l" defTabSz="914363" rtl="0" eaLnBrk="1" latinLnBrk="0" hangingPunct="1">
              <a:lnSpc>
                <a:spcPct val="90000"/>
              </a:lnSpc>
              <a:spcBef>
                <a:spcPct val="20000"/>
              </a:spcBef>
              <a:buSzPct val="80000"/>
              <a:buFont typeface="Arial" pitchFamily="34" charset="0"/>
              <a:buChar char="•"/>
            </a:pPr>
            <a:r>
              <a:rPr lang="en-US" smtClean="0"/>
              <a:t>Click to edit Master text styles</a:t>
            </a:r>
          </a:p>
          <a:p>
            <a:pPr marL="341313" lvl="1" indent="-341313" algn="l" defTabSz="914363" rtl="0" eaLnBrk="1" latinLnBrk="0" hangingPunct="1">
              <a:lnSpc>
                <a:spcPct val="90000"/>
              </a:lnSpc>
              <a:spcBef>
                <a:spcPct val="20000"/>
              </a:spcBef>
              <a:buSzPct val="80000"/>
              <a:buFont typeface="Arial" pitchFamily="34" charset="0"/>
              <a:buChar char="•"/>
            </a:pPr>
            <a:r>
              <a:rPr lang="en-US" smtClean="0"/>
              <a:t>Second level</a:t>
            </a:r>
          </a:p>
          <a:p>
            <a:pPr marL="341313" lvl="2" indent="-341313" algn="l" defTabSz="914363" rtl="0" eaLnBrk="1" latinLnBrk="0" hangingPunct="1">
              <a:lnSpc>
                <a:spcPct val="90000"/>
              </a:lnSpc>
              <a:spcBef>
                <a:spcPct val="20000"/>
              </a:spcBef>
              <a:buSzPct val="80000"/>
              <a:buFont typeface="Arial" pitchFamily="34" charset="0"/>
              <a:buChar char="•"/>
            </a:pPr>
            <a:r>
              <a:rPr lang="en-US" smtClean="0"/>
              <a:t>Third level</a:t>
            </a:r>
          </a:p>
          <a:p>
            <a:pPr marL="341313" lvl="3" indent="-341313" algn="l" defTabSz="914363" rtl="0" eaLnBrk="1" latinLnBrk="0" hangingPunct="1">
              <a:lnSpc>
                <a:spcPct val="90000"/>
              </a:lnSpc>
              <a:spcBef>
                <a:spcPct val="20000"/>
              </a:spcBef>
              <a:buSzPct val="80000"/>
              <a:buFont typeface="Arial" pitchFamily="34" charset="0"/>
              <a:buChar char="•"/>
            </a:pPr>
            <a:r>
              <a:rPr lang="en-US" smtClean="0"/>
              <a:t>Fourth level</a:t>
            </a:r>
          </a:p>
          <a:p>
            <a:pPr marL="341313" lvl="4" indent="-341313" algn="l" defTabSz="914363" rtl="0" eaLnBrk="1" latinLnBrk="0" hangingPunct="1">
              <a:lnSpc>
                <a:spcPct val="90000"/>
              </a:lnSpc>
              <a:spcBef>
                <a:spcPct val="20000"/>
              </a:spcBef>
              <a:buSzPct val="80000"/>
              <a:buFont typeface="Arial" pitchFamily="34" charset="0"/>
              <a:buChar char="•"/>
            </a:pPr>
            <a:r>
              <a:rPr lang="en-US" smtClean="0"/>
              <a:t>Fifth level</a:t>
            </a:r>
            <a:endParaRPr lang="en-US" dirty="0"/>
          </a:p>
        </p:txBody>
      </p:sp>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124348897"/>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8000" y="2266796"/>
            <a:ext cx="5486400" cy="1945148"/>
          </a:xfrm>
        </p:spPr>
        <p:txBody>
          <a:bodyPr/>
          <a:lstStyle>
            <a:lvl1pPr marL="403225" indent="-403225">
              <a:buSzPct val="80000"/>
              <a:buFont typeface="Arial" pitchFamily="34" charset="0"/>
              <a:buChar char="•"/>
              <a:defRPr sz="2800"/>
            </a:lvl1pPr>
            <a:lvl2pPr marL="744538" indent="-322263">
              <a:buSzPct val="80000"/>
              <a:buFont typeface="Arial" pitchFamily="34" charset="0"/>
              <a:buChar char="•"/>
              <a:defRPr sz="2800"/>
            </a:lvl2pPr>
            <a:lvl3pPr marL="1027113" indent="-282575" defTabSz="1030288">
              <a:buSzPct val="80000"/>
              <a:buFont typeface="Arial" pitchFamily="34" charset="0"/>
              <a:buChar char="•"/>
              <a:defRPr sz="2400"/>
            </a:lvl3pPr>
            <a:lvl4pPr marL="1317625" indent="-287338">
              <a:buSzPct val="80000"/>
              <a:buFont typeface="Arial" pitchFamily="34" charset="0"/>
              <a:buChar char="•"/>
              <a:defRPr sz="2000"/>
            </a:lvl4pPr>
            <a:lvl5pPr marL="1541463" indent="-223838">
              <a:buSzPct val="80000"/>
              <a:buFont typeface="Arial" pitchFamily="34" charset="0"/>
              <a:buChar cha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3335"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3335" y="2266796"/>
            <a:ext cx="5487829" cy="1945148"/>
          </a:xfrm>
        </p:spPr>
        <p:txBody>
          <a:bodyPr/>
          <a:lstStyle>
            <a:lvl1pPr marL="296321" indent="-296321">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1pPr>
            <a:lvl2pPr marL="457200" indent="-457200">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765175" indent="-342900">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373187" indent="-342900">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1087438" indent="-342900">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marL="1373187" indent="-342900">
              <a:defRPr sz="1600"/>
            </a:lvl6pPr>
            <a:lvl7pPr marL="1603375" indent="-285750">
              <a:defRPr sz="1600"/>
            </a:lvl7pPr>
            <a:lvl8pPr>
              <a:defRPr sz="1600"/>
            </a:lvl8pPr>
            <a:lvl9pPr>
              <a:defRPr sz="1600"/>
            </a:lvl9pPr>
          </a:lstStyle>
          <a:p>
            <a:pPr marL="403225" lvl="0" indent="-403225" algn="l" defTabSz="914363" rtl="0" eaLnBrk="1" latinLnBrk="0" hangingPunct="1">
              <a:lnSpc>
                <a:spcPct val="90000"/>
              </a:lnSpc>
              <a:spcBef>
                <a:spcPct val="20000"/>
              </a:spcBef>
              <a:buSzPct val="80000"/>
            </a:pPr>
            <a:r>
              <a:rPr lang="en-US" smtClean="0"/>
              <a:t>Click to edit Master text styles</a:t>
            </a:r>
          </a:p>
          <a:p>
            <a:pPr marL="403225" lvl="1" indent="-403225" algn="l" defTabSz="914363" rtl="0" eaLnBrk="1" latinLnBrk="0" hangingPunct="1">
              <a:lnSpc>
                <a:spcPct val="90000"/>
              </a:lnSpc>
              <a:spcBef>
                <a:spcPct val="20000"/>
              </a:spcBef>
              <a:buSzPct val="80000"/>
            </a:pPr>
            <a:r>
              <a:rPr lang="en-US" smtClean="0"/>
              <a:t>Second level</a:t>
            </a:r>
          </a:p>
          <a:p>
            <a:pPr marL="403225" lvl="2" indent="-403225" algn="l" defTabSz="914363" rtl="0" eaLnBrk="1" latinLnBrk="0" hangingPunct="1">
              <a:lnSpc>
                <a:spcPct val="90000"/>
              </a:lnSpc>
              <a:spcBef>
                <a:spcPct val="20000"/>
              </a:spcBef>
              <a:buSzPct val="80000"/>
            </a:pPr>
            <a:r>
              <a:rPr lang="en-US" smtClean="0"/>
              <a:t>Third level</a:t>
            </a:r>
          </a:p>
          <a:p>
            <a:pPr marL="403225" lvl="3" indent="-403225" algn="l" defTabSz="914363" rtl="0" eaLnBrk="1" latinLnBrk="0" hangingPunct="1">
              <a:lnSpc>
                <a:spcPct val="90000"/>
              </a:lnSpc>
              <a:spcBef>
                <a:spcPct val="20000"/>
              </a:spcBef>
              <a:buSzPct val="80000"/>
            </a:pPr>
            <a:r>
              <a:rPr lang="en-US" smtClean="0"/>
              <a:t>Fourth level</a:t>
            </a:r>
          </a:p>
          <a:p>
            <a:pPr marL="403225" lvl="4" indent="-403225" algn="l" defTabSz="914363" rtl="0" eaLnBrk="1" latinLnBrk="0" hangingPunct="1">
              <a:lnSpc>
                <a:spcPct val="90000"/>
              </a:lnSpc>
              <a:spcBef>
                <a:spcPct val="20000"/>
              </a:spcBef>
              <a:buSzPct val="80000"/>
            </a:pPr>
            <a:r>
              <a:rPr lang="en-US" smtClean="0"/>
              <a:t>Fifth level</a:t>
            </a:r>
            <a:endParaRPr lang="en-US" dirty="0"/>
          </a:p>
        </p:txBody>
      </p:sp>
      <p:pic>
        <p:nvPicPr>
          <p:cNvPr id="7" name="Picture 6"/>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463364115"/>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pic>
        <p:nvPicPr>
          <p:cNvPr id="3" name="Picture 2"/>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884355387"/>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30138728"/>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519248" y="1447800"/>
            <a:ext cx="11151916"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3474709" y="3417661"/>
            <a:ext cx="6947121" cy="1241878"/>
          </a:xfrm>
        </p:spPr>
        <p:txBody>
          <a:bodyPr lIns="182880" tIns="182880" anchor="ctr" anchorCtr="0"/>
          <a:lstStyle>
            <a:lvl1pPr marL="574675" indent="-571500">
              <a:spcAft>
                <a:spcPts val="1200"/>
              </a:spcAft>
              <a:buNone/>
              <a:defRPr lang="en-US" sz="4400" kern="1200" spc="-100"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2400" kern="1200" spc="-50" baseline="0" dirty="0">
                <a:gradFill>
                  <a:gsLst>
                    <a:gs pos="0">
                      <a:srgbClr val="595959"/>
                    </a:gs>
                    <a:gs pos="86000">
                      <a:srgbClr val="595959"/>
                    </a:gs>
                  </a:gsLst>
                  <a:lin ang="5400000" scaled="0"/>
                </a:gradFill>
                <a:latin typeface="+mn-lt"/>
                <a:ea typeface="+mn-ea"/>
                <a:cs typeface="+mn-cs"/>
              </a:defRPr>
            </a:lvl2pPr>
          </a:lstStyle>
          <a:p>
            <a:pPr marL="3175" lvl="0" indent="0" algn="l" defTabSz="914363" rtl="0" eaLnBrk="1" latinLnBrk="0" hangingPunct="1">
              <a:lnSpc>
                <a:spcPct val="90000"/>
              </a:lnSpc>
              <a:spcBef>
                <a:spcPts val="0"/>
              </a:spcBef>
              <a:spcAft>
                <a:spcPts val="900"/>
              </a:spcAft>
              <a:buSzPct val="80000"/>
            </a:pPr>
            <a:r>
              <a:rPr lang="en-US" smtClean="0"/>
              <a:t>Click to edit Master text styles</a:t>
            </a:r>
          </a:p>
          <a:p>
            <a:pPr marL="3175" lvl="1" indent="0" algn="l" defTabSz="914363" rtl="0" eaLnBrk="1" latinLnBrk="0" hangingPunct="1">
              <a:lnSpc>
                <a:spcPct val="90000"/>
              </a:lnSpc>
              <a:spcBef>
                <a:spcPts val="0"/>
              </a:spcBef>
              <a:spcAft>
                <a:spcPts val="900"/>
              </a:spcAft>
              <a:buSzPct val="80000"/>
            </a:pPr>
            <a:r>
              <a:rPr lang="en-US" smtClean="0"/>
              <a:t>Second level</a:t>
            </a:r>
          </a:p>
        </p:txBody>
      </p:sp>
      <p:sp>
        <p:nvSpPr>
          <p:cNvPr id="6" name="Freeform 11"/>
          <p:cNvSpPr>
            <a:spLocks noEditPoints="1"/>
          </p:cNvSpPr>
          <p:nvPr userDrawn="1"/>
        </p:nvSpPr>
        <p:spPr bwMode="black">
          <a:xfrm>
            <a:off x="928957" y="2838266"/>
            <a:ext cx="2423129" cy="2400670"/>
          </a:xfrm>
          <a:custGeom>
            <a:avLst/>
            <a:gdLst>
              <a:gd name="T0" fmla="*/ 65 w 300"/>
              <a:gd name="T1" fmla="*/ 2 h 297"/>
              <a:gd name="T2" fmla="*/ 113 w 300"/>
              <a:gd name="T3" fmla="*/ 0 h 297"/>
              <a:gd name="T4" fmla="*/ 115 w 300"/>
              <a:gd name="T5" fmla="*/ 12 h 297"/>
              <a:gd name="T6" fmla="*/ 235 w 300"/>
              <a:gd name="T7" fmla="*/ 12 h 297"/>
              <a:gd name="T8" fmla="*/ 232 w 300"/>
              <a:gd name="T9" fmla="*/ 0 h 297"/>
              <a:gd name="T10" fmla="*/ 185 w 300"/>
              <a:gd name="T11" fmla="*/ 2 h 297"/>
              <a:gd name="T12" fmla="*/ 235 w 300"/>
              <a:gd name="T13" fmla="*/ 12 h 297"/>
              <a:gd name="T14" fmla="*/ 98 w 300"/>
              <a:gd name="T15" fmla="*/ 273 h 297"/>
              <a:gd name="T16" fmla="*/ 0 w 300"/>
              <a:gd name="T17" fmla="*/ 295 h 297"/>
              <a:gd name="T18" fmla="*/ 95 w 300"/>
              <a:gd name="T19" fmla="*/ 297 h 297"/>
              <a:gd name="T20" fmla="*/ 205 w 300"/>
              <a:gd name="T21" fmla="*/ 297 h 297"/>
              <a:gd name="T22" fmla="*/ 300 w 300"/>
              <a:gd name="T23" fmla="*/ 295 h 297"/>
              <a:gd name="T24" fmla="*/ 202 w 300"/>
              <a:gd name="T25" fmla="*/ 273 h 297"/>
              <a:gd name="T26" fmla="*/ 205 w 300"/>
              <a:gd name="T27" fmla="*/ 297 h 297"/>
              <a:gd name="T28" fmla="*/ 271 w 300"/>
              <a:gd name="T29" fmla="*/ 83 h 297"/>
              <a:gd name="T30" fmla="*/ 299 w 300"/>
              <a:gd name="T31" fmla="*/ 268 h 297"/>
              <a:gd name="T32" fmla="*/ 227 w 300"/>
              <a:gd name="T33" fmla="*/ 169 h 297"/>
              <a:gd name="T34" fmla="*/ 182 w 300"/>
              <a:gd name="T35" fmla="*/ 166 h 297"/>
              <a:gd name="T36" fmla="*/ 155 w 300"/>
              <a:gd name="T37" fmla="*/ 152 h 297"/>
              <a:gd name="T38" fmla="*/ 154 w 300"/>
              <a:gd name="T39" fmla="*/ 159 h 297"/>
              <a:gd name="T40" fmla="*/ 145 w 300"/>
              <a:gd name="T41" fmla="*/ 158 h 297"/>
              <a:gd name="T42" fmla="*/ 119 w 300"/>
              <a:gd name="T43" fmla="*/ 152 h 297"/>
              <a:gd name="T44" fmla="*/ 115 w 300"/>
              <a:gd name="T45" fmla="*/ 169 h 297"/>
              <a:gd name="T46" fmla="*/ 96 w 300"/>
              <a:gd name="T47" fmla="*/ 268 h 297"/>
              <a:gd name="T48" fmla="*/ 25 w 300"/>
              <a:gd name="T49" fmla="*/ 169 h 297"/>
              <a:gd name="T50" fmla="*/ 42 w 300"/>
              <a:gd name="T51" fmla="*/ 76 h 297"/>
              <a:gd name="T52" fmla="*/ 73 w 300"/>
              <a:gd name="T53" fmla="*/ 59 h 297"/>
              <a:gd name="T54" fmla="*/ 61 w 300"/>
              <a:gd name="T55" fmla="*/ 57 h 297"/>
              <a:gd name="T56" fmla="*/ 120 w 300"/>
              <a:gd name="T57" fmla="*/ 15 h 297"/>
              <a:gd name="T58" fmla="*/ 118 w 300"/>
              <a:gd name="T59" fmla="*/ 59 h 297"/>
              <a:gd name="T60" fmla="*/ 108 w 300"/>
              <a:gd name="T61" fmla="*/ 68 h 297"/>
              <a:gd name="T62" fmla="*/ 145 w 300"/>
              <a:gd name="T63" fmla="*/ 62 h 297"/>
              <a:gd name="T64" fmla="*/ 140 w 300"/>
              <a:gd name="T65" fmla="*/ 61 h 297"/>
              <a:gd name="T66" fmla="*/ 142 w 300"/>
              <a:gd name="T67" fmla="*/ 55 h 297"/>
              <a:gd name="T68" fmla="*/ 160 w 300"/>
              <a:gd name="T69" fmla="*/ 56 h 297"/>
              <a:gd name="T70" fmla="*/ 158 w 300"/>
              <a:gd name="T71" fmla="*/ 62 h 297"/>
              <a:gd name="T72" fmla="*/ 155 w 300"/>
              <a:gd name="T73" fmla="*/ 68 h 297"/>
              <a:gd name="T74" fmla="*/ 192 w 300"/>
              <a:gd name="T75" fmla="*/ 59 h 297"/>
              <a:gd name="T76" fmla="*/ 180 w 300"/>
              <a:gd name="T77" fmla="*/ 57 h 297"/>
              <a:gd name="T78" fmla="*/ 239 w 300"/>
              <a:gd name="T79" fmla="*/ 15 h 297"/>
              <a:gd name="T80" fmla="*/ 237 w 300"/>
              <a:gd name="T81" fmla="*/ 59 h 297"/>
              <a:gd name="T82" fmla="*/ 227 w 300"/>
              <a:gd name="T83" fmla="*/ 76 h 297"/>
              <a:gd name="T84" fmla="*/ 122 w 300"/>
              <a:gd name="T85" fmla="*/ 83 h 297"/>
              <a:gd name="T86" fmla="*/ 145 w 300"/>
              <a:gd name="T87" fmla="*/ 72 h 297"/>
              <a:gd name="T88" fmla="*/ 108 w 300"/>
              <a:gd name="T89" fmla="*/ 76 h 297"/>
              <a:gd name="T90" fmla="*/ 123 w 300"/>
              <a:gd name="T91" fmla="*/ 78 h 297"/>
              <a:gd name="T92" fmla="*/ 180 w 300"/>
              <a:gd name="T93" fmla="*/ 76 h 297"/>
              <a:gd name="T94" fmla="*/ 192 w 300"/>
              <a:gd name="T95" fmla="*/ 72 h 297"/>
              <a:gd name="T96" fmla="*/ 155 w 300"/>
              <a:gd name="T97" fmla="*/ 83 h 297"/>
              <a:gd name="T98" fmla="*/ 178 w 300"/>
              <a:gd name="T99" fmla="*/ 78 h 297"/>
              <a:gd name="T100" fmla="*/ 158 w 300"/>
              <a:gd name="T101" fmla="*/ 101 h 297"/>
              <a:gd name="T102" fmla="*/ 142 w 300"/>
              <a:gd name="T103" fmla="*/ 118 h 297"/>
              <a:gd name="T104" fmla="*/ 158 w 300"/>
              <a:gd name="T105" fmla="*/ 101 h 297"/>
              <a:gd name="T106" fmla="*/ 129 w 300"/>
              <a:gd name="T107" fmla="*/ 91 h 297"/>
              <a:gd name="T108" fmla="*/ 133 w 300"/>
              <a:gd name="T109" fmla="*/ 141 h 297"/>
              <a:gd name="T110" fmla="*/ 171 w 300"/>
              <a:gd name="T111" fmla="*/ 91 h 297"/>
              <a:gd name="T112" fmla="*/ 167 w 300"/>
              <a:gd name="T113" fmla="*/ 141 h 297"/>
              <a:gd name="T114" fmla="*/ 171 w 300"/>
              <a:gd name="T115" fmla="*/ 9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97">
                <a:moveTo>
                  <a:pt x="65" y="12"/>
                </a:moveTo>
                <a:cubicBezTo>
                  <a:pt x="65" y="2"/>
                  <a:pt x="65" y="2"/>
                  <a:pt x="65" y="2"/>
                </a:cubicBezTo>
                <a:cubicBezTo>
                  <a:pt x="65" y="1"/>
                  <a:pt x="67" y="0"/>
                  <a:pt x="68" y="0"/>
                </a:cubicBezTo>
                <a:cubicBezTo>
                  <a:pt x="113" y="0"/>
                  <a:pt x="113" y="0"/>
                  <a:pt x="113" y="0"/>
                </a:cubicBezTo>
                <a:cubicBezTo>
                  <a:pt x="114" y="0"/>
                  <a:pt x="115" y="1"/>
                  <a:pt x="115" y="2"/>
                </a:cubicBezTo>
                <a:cubicBezTo>
                  <a:pt x="115" y="12"/>
                  <a:pt x="115" y="12"/>
                  <a:pt x="115" y="12"/>
                </a:cubicBezTo>
                <a:lnTo>
                  <a:pt x="65" y="12"/>
                </a:lnTo>
                <a:close/>
                <a:moveTo>
                  <a:pt x="235" y="12"/>
                </a:moveTo>
                <a:cubicBezTo>
                  <a:pt x="235" y="2"/>
                  <a:pt x="235" y="2"/>
                  <a:pt x="235" y="2"/>
                </a:cubicBezTo>
                <a:cubicBezTo>
                  <a:pt x="235" y="1"/>
                  <a:pt x="233" y="0"/>
                  <a:pt x="232" y="0"/>
                </a:cubicBezTo>
                <a:cubicBezTo>
                  <a:pt x="187" y="0"/>
                  <a:pt x="187" y="0"/>
                  <a:pt x="187" y="0"/>
                </a:cubicBezTo>
                <a:cubicBezTo>
                  <a:pt x="186" y="0"/>
                  <a:pt x="185" y="1"/>
                  <a:pt x="185" y="2"/>
                </a:cubicBezTo>
                <a:cubicBezTo>
                  <a:pt x="185" y="12"/>
                  <a:pt x="185" y="12"/>
                  <a:pt x="185" y="12"/>
                </a:cubicBezTo>
                <a:lnTo>
                  <a:pt x="235" y="12"/>
                </a:lnTo>
                <a:close/>
                <a:moveTo>
                  <a:pt x="98" y="295"/>
                </a:moveTo>
                <a:cubicBezTo>
                  <a:pt x="98" y="273"/>
                  <a:pt x="98" y="273"/>
                  <a:pt x="98" y="273"/>
                </a:cubicBezTo>
                <a:cubicBezTo>
                  <a:pt x="0" y="273"/>
                  <a:pt x="0" y="273"/>
                  <a:pt x="0" y="273"/>
                </a:cubicBezTo>
                <a:cubicBezTo>
                  <a:pt x="0" y="295"/>
                  <a:pt x="0" y="295"/>
                  <a:pt x="0" y="295"/>
                </a:cubicBezTo>
                <a:cubicBezTo>
                  <a:pt x="0" y="296"/>
                  <a:pt x="1" y="297"/>
                  <a:pt x="2" y="297"/>
                </a:cubicBezTo>
                <a:cubicBezTo>
                  <a:pt x="95" y="297"/>
                  <a:pt x="95" y="297"/>
                  <a:pt x="95" y="297"/>
                </a:cubicBezTo>
                <a:cubicBezTo>
                  <a:pt x="97" y="297"/>
                  <a:pt x="98" y="296"/>
                  <a:pt x="98" y="295"/>
                </a:cubicBezTo>
                <a:close/>
                <a:moveTo>
                  <a:pt x="205" y="297"/>
                </a:moveTo>
                <a:cubicBezTo>
                  <a:pt x="298" y="297"/>
                  <a:pt x="298" y="297"/>
                  <a:pt x="298" y="297"/>
                </a:cubicBezTo>
                <a:cubicBezTo>
                  <a:pt x="299" y="297"/>
                  <a:pt x="300" y="296"/>
                  <a:pt x="300" y="295"/>
                </a:cubicBezTo>
                <a:cubicBezTo>
                  <a:pt x="300" y="273"/>
                  <a:pt x="300" y="273"/>
                  <a:pt x="300" y="273"/>
                </a:cubicBezTo>
                <a:cubicBezTo>
                  <a:pt x="202" y="273"/>
                  <a:pt x="202" y="273"/>
                  <a:pt x="202" y="273"/>
                </a:cubicBezTo>
                <a:cubicBezTo>
                  <a:pt x="202" y="295"/>
                  <a:pt x="202" y="295"/>
                  <a:pt x="202" y="295"/>
                </a:cubicBezTo>
                <a:cubicBezTo>
                  <a:pt x="202" y="296"/>
                  <a:pt x="203" y="297"/>
                  <a:pt x="205" y="297"/>
                </a:cubicBezTo>
                <a:close/>
                <a:moveTo>
                  <a:pt x="263" y="76"/>
                </a:moveTo>
                <a:cubicBezTo>
                  <a:pt x="267" y="76"/>
                  <a:pt x="270" y="79"/>
                  <a:pt x="271" y="83"/>
                </a:cubicBezTo>
                <a:cubicBezTo>
                  <a:pt x="275" y="169"/>
                  <a:pt x="275" y="169"/>
                  <a:pt x="275" y="169"/>
                </a:cubicBezTo>
                <a:cubicBezTo>
                  <a:pt x="299" y="268"/>
                  <a:pt x="299" y="268"/>
                  <a:pt x="299" y="268"/>
                </a:cubicBezTo>
                <a:cubicBezTo>
                  <a:pt x="204" y="268"/>
                  <a:pt x="204" y="268"/>
                  <a:pt x="204" y="268"/>
                </a:cubicBezTo>
                <a:cubicBezTo>
                  <a:pt x="227" y="169"/>
                  <a:pt x="227" y="169"/>
                  <a:pt x="227" y="169"/>
                </a:cubicBezTo>
                <a:cubicBezTo>
                  <a:pt x="185" y="169"/>
                  <a:pt x="185" y="169"/>
                  <a:pt x="185" y="169"/>
                </a:cubicBezTo>
                <a:cubicBezTo>
                  <a:pt x="183" y="169"/>
                  <a:pt x="182" y="168"/>
                  <a:pt x="182" y="166"/>
                </a:cubicBezTo>
                <a:cubicBezTo>
                  <a:pt x="181" y="152"/>
                  <a:pt x="181" y="152"/>
                  <a:pt x="181" y="152"/>
                </a:cubicBezTo>
                <a:cubicBezTo>
                  <a:pt x="155" y="152"/>
                  <a:pt x="155" y="152"/>
                  <a:pt x="155" y="152"/>
                </a:cubicBezTo>
                <a:cubicBezTo>
                  <a:pt x="155" y="158"/>
                  <a:pt x="155" y="158"/>
                  <a:pt x="155" y="158"/>
                </a:cubicBezTo>
                <a:cubicBezTo>
                  <a:pt x="155" y="159"/>
                  <a:pt x="154" y="159"/>
                  <a:pt x="154" y="159"/>
                </a:cubicBezTo>
                <a:cubicBezTo>
                  <a:pt x="146" y="159"/>
                  <a:pt x="146" y="159"/>
                  <a:pt x="146" y="159"/>
                </a:cubicBezTo>
                <a:cubicBezTo>
                  <a:pt x="146" y="159"/>
                  <a:pt x="145" y="159"/>
                  <a:pt x="145" y="158"/>
                </a:cubicBezTo>
                <a:cubicBezTo>
                  <a:pt x="145" y="152"/>
                  <a:pt x="145" y="152"/>
                  <a:pt x="145" y="152"/>
                </a:cubicBezTo>
                <a:cubicBezTo>
                  <a:pt x="119" y="152"/>
                  <a:pt x="119" y="152"/>
                  <a:pt x="119" y="152"/>
                </a:cubicBezTo>
                <a:cubicBezTo>
                  <a:pt x="118" y="166"/>
                  <a:pt x="118" y="166"/>
                  <a:pt x="118" y="166"/>
                </a:cubicBezTo>
                <a:cubicBezTo>
                  <a:pt x="118" y="168"/>
                  <a:pt x="117" y="169"/>
                  <a:pt x="115" y="169"/>
                </a:cubicBezTo>
                <a:cubicBezTo>
                  <a:pt x="73" y="169"/>
                  <a:pt x="73" y="169"/>
                  <a:pt x="73" y="169"/>
                </a:cubicBezTo>
                <a:cubicBezTo>
                  <a:pt x="96" y="268"/>
                  <a:pt x="96" y="268"/>
                  <a:pt x="96" y="268"/>
                </a:cubicBezTo>
                <a:cubicBezTo>
                  <a:pt x="1" y="268"/>
                  <a:pt x="1" y="268"/>
                  <a:pt x="1" y="268"/>
                </a:cubicBezTo>
                <a:cubicBezTo>
                  <a:pt x="25" y="169"/>
                  <a:pt x="25" y="169"/>
                  <a:pt x="25" y="169"/>
                </a:cubicBezTo>
                <a:cubicBezTo>
                  <a:pt x="34" y="83"/>
                  <a:pt x="34" y="83"/>
                  <a:pt x="34" y="83"/>
                </a:cubicBezTo>
                <a:cubicBezTo>
                  <a:pt x="34" y="79"/>
                  <a:pt x="38" y="76"/>
                  <a:pt x="42" y="76"/>
                </a:cubicBezTo>
                <a:cubicBezTo>
                  <a:pt x="73" y="76"/>
                  <a:pt x="73" y="76"/>
                  <a:pt x="73" y="76"/>
                </a:cubicBezTo>
                <a:cubicBezTo>
                  <a:pt x="73" y="59"/>
                  <a:pt x="73" y="59"/>
                  <a:pt x="73" y="59"/>
                </a:cubicBezTo>
                <a:cubicBezTo>
                  <a:pt x="63" y="59"/>
                  <a:pt x="63" y="59"/>
                  <a:pt x="63" y="59"/>
                </a:cubicBezTo>
                <a:cubicBezTo>
                  <a:pt x="62" y="59"/>
                  <a:pt x="61" y="58"/>
                  <a:pt x="61" y="57"/>
                </a:cubicBezTo>
                <a:cubicBezTo>
                  <a:pt x="61" y="15"/>
                  <a:pt x="61" y="15"/>
                  <a:pt x="61" y="15"/>
                </a:cubicBezTo>
                <a:cubicBezTo>
                  <a:pt x="120" y="15"/>
                  <a:pt x="120" y="15"/>
                  <a:pt x="120" y="15"/>
                </a:cubicBezTo>
                <a:cubicBezTo>
                  <a:pt x="120" y="57"/>
                  <a:pt x="120" y="57"/>
                  <a:pt x="120" y="57"/>
                </a:cubicBezTo>
                <a:cubicBezTo>
                  <a:pt x="120" y="58"/>
                  <a:pt x="119" y="59"/>
                  <a:pt x="118" y="59"/>
                </a:cubicBezTo>
                <a:cubicBezTo>
                  <a:pt x="108" y="59"/>
                  <a:pt x="108" y="59"/>
                  <a:pt x="108" y="59"/>
                </a:cubicBezTo>
                <a:cubicBezTo>
                  <a:pt x="108" y="68"/>
                  <a:pt x="108" y="68"/>
                  <a:pt x="108" y="68"/>
                </a:cubicBezTo>
                <a:cubicBezTo>
                  <a:pt x="145" y="68"/>
                  <a:pt x="145" y="68"/>
                  <a:pt x="145" y="68"/>
                </a:cubicBezTo>
                <a:cubicBezTo>
                  <a:pt x="145" y="62"/>
                  <a:pt x="145" y="62"/>
                  <a:pt x="145" y="62"/>
                </a:cubicBezTo>
                <a:cubicBezTo>
                  <a:pt x="142" y="62"/>
                  <a:pt x="142" y="62"/>
                  <a:pt x="142" y="62"/>
                </a:cubicBezTo>
                <a:cubicBezTo>
                  <a:pt x="141" y="62"/>
                  <a:pt x="140" y="61"/>
                  <a:pt x="140" y="61"/>
                </a:cubicBezTo>
                <a:cubicBezTo>
                  <a:pt x="140" y="56"/>
                  <a:pt x="140" y="56"/>
                  <a:pt x="140" y="56"/>
                </a:cubicBezTo>
                <a:cubicBezTo>
                  <a:pt x="140" y="55"/>
                  <a:pt x="141" y="55"/>
                  <a:pt x="142" y="55"/>
                </a:cubicBezTo>
                <a:cubicBezTo>
                  <a:pt x="158" y="55"/>
                  <a:pt x="158" y="55"/>
                  <a:pt x="158" y="55"/>
                </a:cubicBezTo>
                <a:cubicBezTo>
                  <a:pt x="159" y="55"/>
                  <a:pt x="160" y="55"/>
                  <a:pt x="160" y="56"/>
                </a:cubicBezTo>
                <a:cubicBezTo>
                  <a:pt x="160" y="61"/>
                  <a:pt x="160" y="61"/>
                  <a:pt x="160" y="61"/>
                </a:cubicBezTo>
                <a:cubicBezTo>
                  <a:pt x="160" y="61"/>
                  <a:pt x="159" y="62"/>
                  <a:pt x="158" y="62"/>
                </a:cubicBezTo>
                <a:cubicBezTo>
                  <a:pt x="155" y="62"/>
                  <a:pt x="155" y="62"/>
                  <a:pt x="155" y="62"/>
                </a:cubicBezTo>
                <a:cubicBezTo>
                  <a:pt x="155" y="68"/>
                  <a:pt x="155" y="68"/>
                  <a:pt x="155" y="68"/>
                </a:cubicBezTo>
                <a:cubicBezTo>
                  <a:pt x="192" y="68"/>
                  <a:pt x="192" y="68"/>
                  <a:pt x="192" y="68"/>
                </a:cubicBezTo>
                <a:cubicBezTo>
                  <a:pt x="192" y="59"/>
                  <a:pt x="192" y="59"/>
                  <a:pt x="192" y="59"/>
                </a:cubicBezTo>
                <a:cubicBezTo>
                  <a:pt x="182" y="59"/>
                  <a:pt x="182" y="59"/>
                  <a:pt x="182" y="59"/>
                </a:cubicBezTo>
                <a:cubicBezTo>
                  <a:pt x="181" y="59"/>
                  <a:pt x="180" y="58"/>
                  <a:pt x="180" y="57"/>
                </a:cubicBezTo>
                <a:cubicBezTo>
                  <a:pt x="180" y="15"/>
                  <a:pt x="180" y="15"/>
                  <a:pt x="180" y="15"/>
                </a:cubicBezTo>
                <a:cubicBezTo>
                  <a:pt x="239" y="15"/>
                  <a:pt x="239" y="15"/>
                  <a:pt x="239" y="15"/>
                </a:cubicBezTo>
                <a:cubicBezTo>
                  <a:pt x="239" y="57"/>
                  <a:pt x="239" y="57"/>
                  <a:pt x="239" y="57"/>
                </a:cubicBezTo>
                <a:cubicBezTo>
                  <a:pt x="239" y="58"/>
                  <a:pt x="238" y="59"/>
                  <a:pt x="237" y="59"/>
                </a:cubicBezTo>
                <a:cubicBezTo>
                  <a:pt x="227" y="59"/>
                  <a:pt x="227" y="59"/>
                  <a:pt x="227" y="59"/>
                </a:cubicBezTo>
                <a:cubicBezTo>
                  <a:pt x="227" y="76"/>
                  <a:pt x="227" y="76"/>
                  <a:pt x="227" y="76"/>
                </a:cubicBezTo>
                <a:lnTo>
                  <a:pt x="263" y="76"/>
                </a:lnTo>
                <a:close/>
                <a:moveTo>
                  <a:pt x="122" y="83"/>
                </a:moveTo>
                <a:cubicBezTo>
                  <a:pt x="145" y="83"/>
                  <a:pt x="145" y="83"/>
                  <a:pt x="145" y="83"/>
                </a:cubicBezTo>
                <a:cubicBezTo>
                  <a:pt x="145" y="72"/>
                  <a:pt x="145" y="72"/>
                  <a:pt x="145" y="72"/>
                </a:cubicBezTo>
                <a:cubicBezTo>
                  <a:pt x="108" y="72"/>
                  <a:pt x="108" y="72"/>
                  <a:pt x="108" y="72"/>
                </a:cubicBezTo>
                <a:cubicBezTo>
                  <a:pt x="108" y="76"/>
                  <a:pt x="108" y="76"/>
                  <a:pt x="108" y="76"/>
                </a:cubicBezTo>
                <a:cubicBezTo>
                  <a:pt x="120" y="76"/>
                  <a:pt x="120" y="76"/>
                  <a:pt x="120" y="76"/>
                </a:cubicBezTo>
                <a:cubicBezTo>
                  <a:pt x="122" y="76"/>
                  <a:pt x="123" y="77"/>
                  <a:pt x="123" y="78"/>
                </a:cubicBezTo>
                <a:lnTo>
                  <a:pt x="122" y="83"/>
                </a:lnTo>
                <a:close/>
                <a:moveTo>
                  <a:pt x="180" y="76"/>
                </a:moveTo>
                <a:cubicBezTo>
                  <a:pt x="192" y="76"/>
                  <a:pt x="192" y="76"/>
                  <a:pt x="192" y="76"/>
                </a:cubicBezTo>
                <a:cubicBezTo>
                  <a:pt x="192" y="72"/>
                  <a:pt x="192" y="72"/>
                  <a:pt x="192" y="72"/>
                </a:cubicBezTo>
                <a:cubicBezTo>
                  <a:pt x="155" y="72"/>
                  <a:pt x="155" y="72"/>
                  <a:pt x="155" y="72"/>
                </a:cubicBezTo>
                <a:cubicBezTo>
                  <a:pt x="155" y="83"/>
                  <a:pt x="155" y="83"/>
                  <a:pt x="155" y="83"/>
                </a:cubicBezTo>
                <a:cubicBezTo>
                  <a:pt x="178" y="83"/>
                  <a:pt x="178" y="83"/>
                  <a:pt x="178" y="83"/>
                </a:cubicBezTo>
                <a:cubicBezTo>
                  <a:pt x="178" y="78"/>
                  <a:pt x="178" y="78"/>
                  <a:pt x="178" y="78"/>
                </a:cubicBezTo>
                <a:cubicBezTo>
                  <a:pt x="177" y="77"/>
                  <a:pt x="178" y="76"/>
                  <a:pt x="180" y="76"/>
                </a:cubicBezTo>
                <a:close/>
                <a:moveTo>
                  <a:pt x="158" y="101"/>
                </a:moveTo>
                <a:cubicBezTo>
                  <a:pt x="142" y="101"/>
                  <a:pt x="142" y="101"/>
                  <a:pt x="142" y="101"/>
                </a:cubicBezTo>
                <a:cubicBezTo>
                  <a:pt x="142" y="118"/>
                  <a:pt x="142" y="118"/>
                  <a:pt x="142" y="118"/>
                </a:cubicBezTo>
                <a:cubicBezTo>
                  <a:pt x="158" y="118"/>
                  <a:pt x="158" y="118"/>
                  <a:pt x="158" y="118"/>
                </a:cubicBezTo>
                <a:lnTo>
                  <a:pt x="158" y="101"/>
                </a:lnTo>
                <a:close/>
                <a:moveTo>
                  <a:pt x="133" y="91"/>
                </a:moveTo>
                <a:cubicBezTo>
                  <a:pt x="129" y="91"/>
                  <a:pt x="129" y="91"/>
                  <a:pt x="129" y="91"/>
                </a:cubicBezTo>
                <a:cubicBezTo>
                  <a:pt x="129" y="141"/>
                  <a:pt x="129" y="141"/>
                  <a:pt x="129" y="141"/>
                </a:cubicBezTo>
                <a:cubicBezTo>
                  <a:pt x="133" y="141"/>
                  <a:pt x="133" y="141"/>
                  <a:pt x="133" y="141"/>
                </a:cubicBezTo>
                <a:lnTo>
                  <a:pt x="133" y="91"/>
                </a:lnTo>
                <a:close/>
                <a:moveTo>
                  <a:pt x="171" y="91"/>
                </a:moveTo>
                <a:cubicBezTo>
                  <a:pt x="167" y="91"/>
                  <a:pt x="167" y="91"/>
                  <a:pt x="167" y="91"/>
                </a:cubicBezTo>
                <a:cubicBezTo>
                  <a:pt x="167" y="141"/>
                  <a:pt x="167" y="141"/>
                  <a:pt x="167" y="141"/>
                </a:cubicBezTo>
                <a:cubicBezTo>
                  <a:pt x="171" y="141"/>
                  <a:pt x="171" y="141"/>
                  <a:pt x="171" y="141"/>
                </a:cubicBezTo>
                <a:lnTo>
                  <a:pt x="171" y="91"/>
                </a:ln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a:solidFill>
                <a:srgbClr val="292929"/>
              </a:solidFill>
            </a:endParaRPr>
          </a:p>
        </p:txBody>
      </p:sp>
    </p:spTree>
    <p:extLst>
      <p:ext uri="{BB962C8B-B14F-4D97-AF65-F5344CB8AC3E}">
        <p14:creationId xmlns:p14="http://schemas.microsoft.com/office/powerpoint/2010/main" val="374620072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7715394" y="2136047"/>
            <a:ext cx="3500039"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567074725"/>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userDrawn="1"/>
        </p:nvSpPr>
        <p:spPr bwMode="auto">
          <a:xfrm>
            <a:off x="8294113" y="2008094"/>
            <a:ext cx="2269668" cy="2169610"/>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Tree>
    <p:extLst>
      <p:ext uri="{BB962C8B-B14F-4D97-AF65-F5344CB8AC3E}">
        <p14:creationId xmlns:p14="http://schemas.microsoft.com/office/powerpoint/2010/main" val="888614308"/>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7906631" y="2242931"/>
            <a:ext cx="3177742"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grpSp>
    </p:spTree>
    <p:extLst>
      <p:ext uri="{BB962C8B-B14F-4D97-AF65-F5344CB8AC3E}">
        <p14:creationId xmlns:p14="http://schemas.microsoft.com/office/powerpoint/2010/main" val="3356147134"/>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7925673" y="1932604"/>
            <a:ext cx="3014117"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3117830756"/>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8885072" y="1905000"/>
            <a:ext cx="1277929"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3523539044"/>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521344" y="3467676"/>
            <a:ext cx="10696186"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8800" b="0" i="0" u="none" strike="noStrike" kern="1200" cap="none" spc="-12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pic>
        <p:nvPicPr>
          <p:cNvPr id="8" name="Picture 7"/>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63951" y="6338048"/>
            <a:ext cx="2507214" cy="291353"/>
          </a:xfrm>
          <a:prstGeom prst="rect">
            <a:avLst/>
          </a:prstGeom>
        </p:spPr>
      </p:pic>
    </p:spTree>
    <p:extLst>
      <p:ext uri="{BB962C8B-B14F-4D97-AF65-F5344CB8AC3E}">
        <p14:creationId xmlns:p14="http://schemas.microsoft.com/office/powerpoint/2010/main" val="1299891226"/>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4322299" y="3140274"/>
            <a:ext cx="3547400" cy="577452"/>
          </a:xfrm>
          <a:prstGeom prst="rect">
            <a:avLst/>
          </a:prstGeom>
          <a:noFill/>
          <a:ln>
            <a:noFill/>
          </a:ln>
        </p:spPr>
      </p:pic>
      <p:sp>
        <p:nvSpPr>
          <p:cNvPr id="3" name="Text Box 3"/>
          <p:cNvSpPr txBox="1">
            <a:spLocks noChangeArrowheads="1"/>
          </p:cNvSpPr>
          <p:nvPr userDrawn="1"/>
        </p:nvSpPr>
        <p:spPr bwMode="blackWhite">
          <a:xfrm>
            <a:off x="508001" y="6083573"/>
            <a:ext cx="1117600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solidFill>
                  <a:srgbClr val="FFFFFF">
                    <a:alpha val="99000"/>
                  </a:srgbClr>
                </a:solidFill>
                <a:cs typeface="Arial" charset="0"/>
              </a:rPr>
              <a:t>© </a:t>
            </a:r>
            <a:r>
              <a:rPr lang="en-US" sz="700" dirty="0" smtClean="0">
                <a:solidFill>
                  <a:srgbClr val="FFFFFF">
                    <a:alpha val="99000"/>
                  </a:srgbClr>
                </a:solidFill>
                <a:cs typeface="Arial" charset="0"/>
              </a:rPr>
              <a:t>2011 Microsoft </a:t>
            </a:r>
            <a:r>
              <a:rPr lang="en-US" sz="700"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solidFill>
                  <a:srgbClr val="FFFFFF">
                    <a:alpha val="99000"/>
                  </a:srgbClr>
                </a:solidFill>
                <a:cs typeface="Arial" charset="0"/>
              </a:rPr>
              <a:t>MICROSOFT </a:t>
            </a:r>
            <a:r>
              <a:rPr lang="en-US" sz="700"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1641948713"/>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512897" y="2892711"/>
            <a:ext cx="11231365" cy="1218795"/>
          </a:xfrm>
        </p:spPr>
        <p:txBody>
          <a:bodyPr/>
          <a:lstStyle>
            <a:lvl1pPr marL="0" indent="0">
              <a:buNone/>
              <a:defRPr lang="en-US" sz="8800" i="0" kern="1200" spc="-100" baseline="0" dirty="0" smtClean="0">
                <a:solidFill>
                  <a:schemeClr val="bg1">
                    <a:alpha val="99000"/>
                  </a:schemeClr>
                </a:solidFill>
                <a:latin typeface="Segoe UI Light" pitchFamily="34" charset="0"/>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512897" y="4343400"/>
            <a:ext cx="7515594" cy="443198"/>
          </a:xfrm>
        </p:spPr>
        <p:txBody>
          <a:bodyPr/>
          <a:lstStyle>
            <a:lvl1pPr marL="0" indent="0">
              <a:buNone/>
              <a:defRPr lang="en-US" sz="3200" kern="1200" spc="-100" baseline="0" dirty="0">
                <a:solidFill>
                  <a:schemeClr val="bg1">
                    <a:alpha val="99000"/>
                  </a:schemeClr>
                </a:solidFill>
                <a:latin typeface="+mj-lt"/>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534847" y="6364651"/>
            <a:ext cx="1596068" cy="268366"/>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341401681"/>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2907384"/>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12192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2871576429"/>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cs typeface="Consolas" pitchFamily="49"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latin typeface="+mj-lt"/>
                <a:cs typeface="Consolas" pitchFamily="49" charset="0"/>
              </a:defRPr>
            </a:lvl1pPr>
            <a:lvl2pPr>
              <a:defRPr>
                <a:latin typeface="+mj-lt"/>
                <a:cs typeface="Consolas" pitchFamily="49" charset="0"/>
              </a:defRPr>
            </a:lvl2pPr>
            <a:lvl3pPr>
              <a:defRPr>
                <a:latin typeface="+mj-lt"/>
                <a:cs typeface="Consolas" pitchFamily="49" charset="0"/>
              </a:defRPr>
            </a:lvl3pPr>
            <a:lvl4pPr>
              <a:defRPr>
                <a:latin typeface="+mj-lt"/>
                <a:cs typeface="Consolas" pitchFamily="49" charset="0"/>
              </a:defRPr>
            </a:lvl4pPr>
            <a:lvl5pPr>
              <a:defRPr>
                <a:latin typeface="+mj-lt"/>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a:defRPr>
                <a:latin typeface="Consolas" pitchFamily="49" charset="0"/>
                <a:cs typeface="Consolas" pitchFamily="49" charset="0"/>
              </a:defRPr>
            </a:lvl1pPr>
          </a:lstStyle>
          <a:p>
            <a:pPr defTabSz="914363"/>
            <a:fld id="{D7CE58A2-1EDC-45F0-BACE-E3574D82C834}" type="datetimeFigureOut">
              <a:rPr lang="en-US" smtClean="0">
                <a:solidFill>
                  <a:srgbClr val="292929"/>
                </a:solidFill>
              </a:rPr>
              <a:pPr defTabSz="914363"/>
              <a:t>1/22/2014</a:t>
            </a:fld>
            <a:endParaRPr lang="en-US">
              <a:solidFill>
                <a:srgbClr val="292929"/>
              </a:solidFill>
            </a:endParaRPr>
          </a:p>
        </p:txBody>
      </p:sp>
      <p:sp>
        <p:nvSpPr>
          <p:cNvPr id="5" name="Footer Placeholder 4"/>
          <p:cNvSpPr>
            <a:spLocks noGrp="1"/>
          </p:cNvSpPr>
          <p:nvPr>
            <p:ph type="ftr" sz="quarter" idx="11"/>
          </p:nvPr>
        </p:nvSpPr>
        <p:spPr>
          <a:xfrm>
            <a:off x="4165601" y="6356352"/>
            <a:ext cx="3860800" cy="365125"/>
          </a:xfrm>
          <a:prstGeom prst="rect">
            <a:avLst/>
          </a:prstGeom>
        </p:spPr>
        <p:txBody>
          <a:bodyPr/>
          <a:lstStyle>
            <a:lvl1pPr>
              <a:defRPr>
                <a:latin typeface="Consolas" pitchFamily="49" charset="0"/>
                <a:cs typeface="Consolas" pitchFamily="49" charset="0"/>
              </a:defRPr>
            </a:lvl1pPr>
          </a:lstStyle>
          <a:p>
            <a:pPr defTabSz="914363"/>
            <a:endParaRPr lang="en-US">
              <a:solidFill>
                <a:srgbClr val="292929"/>
              </a:solidFill>
            </a:endParaRPr>
          </a:p>
        </p:txBody>
      </p:sp>
      <p:sp>
        <p:nvSpPr>
          <p:cNvPr id="6" name="Slide Number Placeholder 5"/>
          <p:cNvSpPr>
            <a:spLocks noGrp="1"/>
          </p:cNvSpPr>
          <p:nvPr>
            <p:ph type="sldNum" sz="quarter" idx="12"/>
          </p:nvPr>
        </p:nvSpPr>
        <p:spPr>
          <a:xfrm>
            <a:off x="8737601" y="6356352"/>
            <a:ext cx="2844800" cy="365125"/>
          </a:xfrm>
          <a:prstGeom prst="rect">
            <a:avLst/>
          </a:prstGeom>
        </p:spPr>
        <p:txBody>
          <a:bodyPr/>
          <a:lstStyle>
            <a:lvl1pPr>
              <a:defRPr>
                <a:latin typeface="Consolas" pitchFamily="49" charset="0"/>
                <a:cs typeface="Consolas" pitchFamily="49" charset="0"/>
              </a:defRPr>
            </a:lvl1pPr>
          </a:lstStyle>
          <a:p>
            <a:pPr defTabSz="914363"/>
            <a:fld id="{ECD6441B-9D70-431A-83BF-3759963F38CF}" type="slidenum">
              <a:rPr lang="en-US" smtClean="0">
                <a:solidFill>
                  <a:srgbClr val="292929"/>
                </a:solidFill>
              </a:rPr>
              <a:pPr defTabSz="914363"/>
              <a:t>‹#›</a:t>
            </a:fld>
            <a:endParaRPr lang="en-US">
              <a:solidFill>
                <a:srgbClr val="292929"/>
              </a:solidFill>
            </a:endParaRPr>
          </a:p>
        </p:txBody>
      </p:sp>
    </p:spTree>
    <p:extLst>
      <p:ext uri="{BB962C8B-B14F-4D97-AF65-F5344CB8AC3E}">
        <p14:creationId xmlns:p14="http://schemas.microsoft.com/office/powerpoint/2010/main" val="1762074349"/>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450" y="177800"/>
            <a:ext cx="2857500" cy="1143000"/>
          </a:xfrm>
          <a:prstGeom prst="rect">
            <a:avLst/>
          </a:prstGeom>
        </p:spPr>
      </p:pic>
    </p:spTree>
    <p:extLst>
      <p:ext uri="{BB962C8B-B14F-4D97-AF65-F5344CB8AC3E}">
        <p14:creationId xmlns:p14="http://schemas.microsoft.com/office/powerpoint/2010/main" val="3475171701"/>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9249" y="2234114"/>
            <a:ext cx="8375702" cy="1359196"/>
          </a:xfrm>
        </p:spPr>
        <p:txBody>
          <a:bodyPr anchor="ctr" anchorCtr="0">
            <a:noAutofit/>
          </a:bodyPr>
          <a:lstStyle>
            <a:lvl1pPr>
              <a:lnSpc>
                <a:spcPct val="90000"/>
              </a:lnSpc>
              <a:defRPr sz="6600"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519249" y="4612342"/>
            <a:ext cx="5455754" cy="1144929"/>
          </a:xfrm>
        </p:spPr>
        <p:txBody>
          <a:bodyPr/>
          <a:lstStyle>
            <a:lvl1pPr marL="0" indent="0">
              <a:buFont typeface="Arial" pitchFamily="34" charset="0"/>
              <a:buNone/>
              <a:defRPr sz="2400">
                <a:solidFill>
                  <a:schemeClr val="bg1">
                    <a:alpha val="98000"/>
                  </a:schemeClr>
                </a:solidFill>
                <a:latin typeface="+mj-lt"/>
              </a:defRPr>
            </a:lvl1pPr>
            <a:lvl2pPr marL="460375" indent="0">
              <a:buFont typeface="Arial" pitchFamily="34" charset="0"/>
              <a:buNone/>
              <a:defRPr/>
            </a:lvl2pPr>
            <a:lvl3pPr marL="855663" indent="0">
              <a:buFont typeface="Arial" pitchFamily="34" charset="0"/>
              <a:buNone/>
              <a:defRPr/>
            </a:lvl3pPr>
            <a:lvl4pPr marL="1258888" indent="0">
              <a:buFont typeface="Arial" pitchFamily="34" charset="0"/>
              <a:buNone/>
              <a:defRPr/>
            </a:lvl4pPr>
            <a:lvl5pPr marL="1604963"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312231677"/>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146460899"/>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99036"/>
          </a:xfrm>
        </p:spPr>
        <p:txBody>
          <a:bodyPr/>
          <a:lstStyle>
            <a:lvl1pPr marL="0" indent="0">
              <a:spcBef>
                <a:spcPts val="0"/>
              </a:spcBef>
              <a:spcAft>
                <a:spcPts val="0"/>
              </a:spcAft>
              <a:buFont typeface="Arial" pitchFamily="34" charset="0"/>
              <a:buNone/>
              <a:defRPr lang="en-US" sz="3200" kern="1200" dirty="0" smtClean="0">
                <a:gradFill>
                  <a:gsLst>
                    <a:gs pos="0">
                      <a:srgbClr val="595959"/>
                    </a:gs>
                    <a:gs pos="86000">
                      <a:srgbClr val="595959"/>
                    </a:gs>
                  </a:gsLst>
                  <a:lin ang="5400000" scaled="0"/>
                </a:gradFill>
                <a:latin typeface="+mn-lt"/>
                <a:ea typeface="+mn-ea"/>
                <a:cs typeface="+mn-cs"/>
              </a:defRPr>
            </a:lvl1pPr>
            <a:lvl2pPr marL="688975" indent="-342900">
              <a:spcBef>
                <a:spcPts val="0"/>
              </a:spcBef>
              <a:spcAft>
                <a:spcPts val="0"/>
              </a:spcAft>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400"/>
              </a:spcAft>
              <a:buNone/>
              <a:defRPr sz="2000"/>
            </a:lvl3pPr>
            <a:lvl4pPr marL="0" indent="0">
              <a:spcBef>
                <a:spcPts val="0"/>
              </a:spcBef>
              <a:spcAft>
                <a:spcPts val="400"/>
              </a:spcAft>
              <a:buNone/>
              <a:defRPr/>
            </a:lvl4pPr>
            <a:lvl5pPr marL="342900" indent="-342900">
              <a:spcBef>
                <a:spcPts val="0"/>
              </a:spcBef>
              <a:spcAft>
                <a:spcPts val="400"/>
              </a:spcAft>
              <a:buFont typeface="Arial" pitchFamily="34" charset="0"/>
              <a:buChar char="•"/>
              <a:defRPr/>
            </a:lvl5pPr>
            <a:lvl6pPr marL="1033462" indent="-342900">
              <a:buFont typeface="Arial" pitchFamily="34" charset="0"/>
              <a:buChar char="•"/>
              <a:defRPr sz="2400">
                <a:gradFill>
                  <a:gsLst>
                    <a:gs pos="0">
                      <a:srgbClr val="595959"/>
                    </a:gs>
                    <a:gs pos="86000">
                      <a:srgbClr val="595959"/>
                    </a:gs>
                  </a:gsLst>
                  <a:lin ang="5400000" scaled="0"/>
                </a:gradFill>
              </a:defRPr>
            </a:lvl6pPr>
            <a:lvl7pPr marL="1255713" indent="-225425">
              <a:defRPr>
                <a:gradFill>
                  <a:gsLst>
                    <a:gs pos="0">
                      <a:srgbClr val="595959"/>
                    </a:gs>
                    <a:gs pos="86000">
                      <a:srgbClr val="595959"/>
                    </a:gs>
                  </a:gsLst>
                  <a:lin ang="5400000" scaled="0"/>
                </a:gradFill>
              </a:defRPr>
            </a:lvl7pPr>
            <a:lvl8pPr marL="1487488" indent="-231775">
              <a:defRPr>
                <a:gradFill>
                  <a:gsLst>
                    <a:gs pos="0">
                      <a:srgbClr val="595959"/>
                    </a:gs>
                    <a:gs pos="86000">
                      <a:srgbClr val="595959"/>
                    </a:gs>
                  </a:gsLst>
                  <a:lin ang="5400000" scaled="0"/>
                </a:gradFill>
              </a:defRPr>
            </a:lvl8pPr>
          </a:lstStyle>
          <a:p>
            <a:pPr marL="346075" lvl="0" indent="-346075" algn="l" defTabSz="914363" rtl="0" eaLnBrk="1" latinLnBrk="0" hangingPunct="1">
              <a:lnSpc>
                <a:spcPct val="90000"/>
              </a:lnSpc>
              <a:spcBef>
                <a:spcPct val="20000"/>
              </a:spcBef>
              <a:buSzPct val="90000"/>
              <a:buFont typeface="Arial" pitchFamily="34" charset="0"/>
              <a:buChar char="•"/>
            </a:pPr>
            <a:r>
              <a:rPr lang="en-US" smtClean="0"/>
              <a:t>Click to edit Master text styles</a:t>
            </a:r>
          </a:p>
          <a:p>
            <a:pPr marL="346075" lvl="1" indent="-346075" algn="l" defTabSz="914363" rtl="0" eaLnBrk="1" latinLnBrk="0" hangingPunct="1">
              <a:lnSpc>
                <a:spcPct val="90000"/>
              </a:lnSpc>
              <a:spcBef>
                <a:spcPct val="20000"/>
              </a:spcBef>
              <a:buSzPct val="90000"/>
              <a:buFont typeface="Arial" pitchFamily="34" charset="0"/>
              <a:buChar char="•"/>
            </a:pPr>
            <a:r>
              <a:rPr lang="en-US" smtClean="0"/>
              <a:t>Second level</a:t>
            </a:r>
          </a:p>
          <a:p>
            <a:pPr marL="346075" lvl="2" indent="-346075" algn="l" defTabSz="914363" rtl="0" eaLnBrk="1" latinLnBrk="0" hangingPunct="1">
              <a:lnSpc>
                <a:spcPct val="90000"/>
              </a:lnSpc>
              <a:spcBef>
                <a:spcPct val="20000"/>
              </a:spcBef>
              <a:buSzPct val="90000"/>
              <a:buFont typeface="Arial" pitchFamily="34" charset="0"/>
              <a:buChar char="•"/>
            </a:pPr>
            <a:r>
              <a:rPr lang="en-US" smtClean="0"/>
              <a:t>Third level</a:t>
            </a:r>
          </a:p>
          <a:p>
            <a:pPr marL="346075" lvl="3" indent="-346075" algn="l" defTabSz="914363" rtl="0" eaLnBrk="1" latinLnBrk="0" hangingPunct="1">
              <a:lnSpc>
                <a:spcPct val="90000"/>
              </a:lnSpc>
              <a:spcBef>
                <a:spcPct val="20000"/>
              </a:spcBef>
              <a:buSzPct val="90000"/>
              <a:buFont typeface="Arial" pitchFamily="34" charset="0"/>
              <a:buChar char="•"/>
            </a:pPr>
            <a:r>
              <a:rPr lang="en-US" smtClean="0"/>
              <a:t>Fourth level</a:t>
            </a:r>
          </a:p>
          <a:p>
            <a:pPr marL="346075" lvl="4" indent="-346075" algn="l" defTabSz="914363"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pic>
        <p:nvPicPr>
          <p:cNvPr id="4" name="Picture 3"/>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83506148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Content Placeholder 2"/>
          <p:cNvSpPr>
            <a:spLocks noGrp="1"/>
          </p:cNvSpPr>
          <p:nvPr>
            <p:ph sz="half" idx="1"/>
          </p:nvPr>
        </p:nvSpPr>
        <p:spPr>
          <a:xfrm>
            <a:off x="519248" y="1447800"/>
            <a:ext cx="5487829" cy="2443746"/>
          </a:xfrm>
        </p:spPr>
        <p:txBody>
          <a:bodyPr/>
          <a:lstStyle>
            <a:lvl1pPr marL="341313" indent="-341313">
              <a:lnSpc>
                <a:spcPct val="90000"/>
              </a:lnSpc>
              <a:buSzPct val="80000"/>
              <a:buFont typeface="Arial" pitchFamily="34" charset="0"/>
              <a:buChar char="•"/>
              <a:defRPr sz="3200"/>
            </a:lvl1pPr>
            <a:lvl2pPr marL="627063" indent="-285750">
              <a:lnSpc>
                <a:spcPct val="90000"/>
              </a:lnSpc>
              <a:buSzPct val="80000"/>
              <a:buFont typeface="Arial" pitchFamily="34" charset="0"/>
              <a:buChar char="•"/>
              <a:defRPr sz="2800"/>
            </a:lvl2pPr>
            <a:lvl3pPr marL="914400" indent="-287338">
              <a:lnSpc>
                <a:spcPct val="90000"/>
              </a:lnSpc>
              <a:buSzPct val="80000"/>
              <a:buFont typeface="Arial" pitchFamily="34" charset="0"/>
              <a:buChar char="•"/>
              <a:defRPr sz="2400"/>
            </a:lvl3pPr>
            <a:lvl4pPr marL="1712913" indent="-225425">
              <a:lnSpc>
                <a:spcPct val="90000"/>
              </a:lnSpc>
              <a:buSzPct val="80000"/>
              <a:buFont typeface="Arial" pitchFamily="34" charset="0"/>
              <a:buChar char="•"/>
              <a:defRPr sz="2000"/>
            </a:lvl4pPr>
            <a:lvl5pPr marL="1944688" indent="-231775">
              <a:lnSpc>
                <a:spcPct val="90000"/>
              </a:lnSpc>
              <a:buSzPct val="80000"/>
              <a:buFont typeface="Arial" pitchFamily="34" charset="0"/>
              <a:buChar cha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3335" y="1447800"/>
            <a:ext cx="5487829" cy="2443746"/>
          </a:xfrm>
        </p:spPr>
        <p:txBody>
          <a:bodyPr/>
          <a:lstStyle>
            <a:lvl1pPr marL="457200" indent="-457200">
              <a:lnSpc>
                <a:spcPct val="90000"/>
              </a:lnSpc>
              <a:buSzPct val="80000"/>
              <a:buFont typeface="Arial" pitchFamily="34" charset="0"/>
              <a:buChar char="•"/>
              <a:defRPr lang="en-US" sz="3200" kern="1200" dirty="0" smtClean="0">
                <a:gradFill>
                  <a:gsLst>
                    <a:gs pos="0">
                      <a:srgbClr val="595959"/>
                    </a:gs>
                    <a:gs pos="86000">
                      <a:srgbClr val="595959"/>
                    </a:gs>
                  </a:gsLst>
                  <a:lin ang="5400000" scaled="0"/>
                </a:gradFill>
                <a:latin typeface="+mn-lt"/>
                <a:ea typeface="+mn-ea"/>
                <a:cs typeface="+mn-cs"/>
              </a:defRPr>
            </a:lvl1pPr>
            <a:lvl2pPr marL="798513" indent="-457200">
              <a:lnSpc>
                <a:spcPct val="90000"/>
              </a:lnSpc>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969962" indent="-342900">
              <a:lnSpc>
                <a:spcPct val="90000"/>
              </a:lnSpc>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830388" indent="-342900">
              <a:lnSpc>
                <a:spcPct val="90000"/>
              </a:lnSpc>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2055813" indent="-342900">
              <a:lnSpc>
                <a:spcPct val="90000"/>
              </a:lnSpc>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a:defRPr sz="1800"/>
            </a:lvl6pPr>
            <a:lvl7pPr>
              <a:defRPr sz="1800"/>
            </a:lvl7pPr>
            <a:lvl8pPr>
              <a:defRPr sz="1800"/>
            </a:lvl8pPr>
            <a:lvl9pPr>
              <a:defRPr sz="1800"/>
            </a:lvl9pPr>
          </a:lstStyle>
          <a:p>
            <a:pPr marL="341313" lvl="0" indent="-341313" algn="l" defTabSz="914363" rtl="0" eaLnBrk="1" latinLnBrk="0" hangingPunct="1">
              <a:lnSpc>
                <a:spcPct val="90000"/>
              </a:lnSpc>
              <a:spcBef>
                <a:spcPct val="20000"/>
              </a:spcBef>
              <a:buSzPct val="80000"/>
              <a:buFont typeface="Arial" pitchFamily="34" charset="0"/>
              <a:buChar char="•"/>
            </a:pPr>
            <a:r>
              <a:rPr lang="en-US" smtClean="0"/>
              <a:t>Click to edit Master text styles</a:t>
            </a:r>
          </a:p>
          <a:p>
            <a:pPr marL="341313" lvl="1" indent="-341313" algn="l" defTabSz="914363" rtl="0" eaLnBrk="1" latinLnBrk="0" hangingPunct="1">
              <a:lnSpc>
                <a:spcPct val="90000"/>
              </a:lnSpc>
              <a:spcBef>
                <a:spcPct val="20000"/>
              </a:spcBef>
              <a:buSzPct val="80000"/>
              <a:buFont typeface="Arial" pitchFamily="34" charset="0"/>
              <a:buChar char="•"/>
            </a:pPr>
            <a:r>
              <a:rPr lang="en-US" smtClean="0"/>
              <a:t>Second level</a:t>
            </a:r>
          </a:p>
          <a:p>
            <a:pPr marL="341313" lvl="2" indent="-341313" algn="l" defTabSz="914363" rtl="0" eaLnBrk="1" latinLnBrk="0" hangingPunct="1">
              <a:lnSpc>
                <a:spcPct val="90000"/>
              </a:lnSpc>
              <a:spcBef>
                <a:spcPct val="20000"/>
              </a:spcBef>
              <a:buSzPct val="80000"/>
              <a:buFont typeface="Arial" pitchFamily="34" charset="0"/>
              <a:buChar char="•"/>
            </a:pPr>
            <a:r>
              <a:rPr lang="en-US" smtClean="0"/>
              <a:t>Third level</a:t>
            </a:r>
          </a:p>
          <a:p>
            <a:pPr marL="341313" lvl="3" indent="-341313" algn="l" defTabSz="914363" rtl="0" eaLnBrk="1" latinLnBrk="0" hangingPunct="1">
              <a:lnSpc>
                <a:spcPct val="90000"/>
              </a:lnSpc>
              <a:spcBef>
                <a:spcPct val="20000"/>
              </a:spcBef>
              <a:buSzPct val="80000"/>
              <a:buFont typeface="Arial" pitchFamily="34" charset="0"/>
              <a:buChar char="•"/>
            </a:pPr>
            <a:r>
              <a:rPr lang="en-US" smtClean="0"/>
              <a:t>Fourth level</a:t>
            </a:r>
          </a:p>
          <a:p>
            <a:pPr marL="341313" lvl="4" indent="-341313" algn="l" defTabSz="914363" rtl="0" eaLnBrk="1" latinLnBrk="0" hangingPunct="1">
              <a:lnSpc>
                <a:spcPct val="90000"/>
              </a:lnSpc>
              <a:spcBef>
                <a:spcPct val="20000"/>
              </a:spcBef>
              <a:buSzPct val="80000"/>
              <a:buFont typeface="Arial" pitchFamily="34" charset="0"/>
              <a:buChar char="•"/>
            </a:pPr>
            <a:r>
              <a:rPr lang="en-US" smtClean="0"/>
              <a:t>Fifth level</a:t>
            </a:r>
            <a:endParaRPr lang="en-US" dirty="0"/>
          </a:p>
        </p:txBody>
      </p:sp>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96024282"/>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8000" y="2266796"/>
            <a:ext cx="5486400" cy="1945148"/>
          </a:xfrm>
        </p:spPr>
        <p:txBody>
          <a:bodyPr/>
          <a:lstStyle>
            <a:lvl1pPr marL="403225" indent="-403225">
              <a:buSzPct val="80000"/>
              <a:buFont typeface="Arial" pitchFamily="34" charset="0"/>
              <a:buChar char="•"/>
              <a:defRPr sz="2800"/>
            </a:lvl1pPr>
            <a:lvl2pPr marL="744538" indent="-322263">
              <a:buSzPct val="80000"/>
              <a:buFont typeface="Arial" pitchFamily="34" charset="0"/>
              <a:buChar char="•"/>
              <a:defRPr sz="2800"/>
            </a:lvl2pPr>
            <a:lvl3pPr marL="1027113" indent="-282575" defTabSz="1030288">
              <a:buSzPct val="80000"/>
              <a:buFont typeface="Arial" pitchFamily="34" charset="0"/>
              <a:buChar char="•"/>
              <a:defRPr sz="2400"/>
            </a:lvl3pPr>
            <a:lvl4pPr marL="1317625" indent="-287338">
              <a:buSzPct val="80000"/>
              <a:buFont typeface="Arial" pitchFamily="34" charset="0"/>
              <a:buChar char="•"/>
              <a:defRPr sz="2000"/>
            </a:lvl4pPr>
            <a:lvl5pPr marL="1541463" indent="-223838">
              <a:buSzPct val="80000"/>
              <a:buFont typeface="Arial" pitchFamily="34" charset="0"/>
              <a:buChar cha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3335"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3335" y="2266796"/>
            <a:ext cx="5487829" cy="1945148"/>
          </a:xfrm>
        </p:spPr>
        <p:txBody>
          <a:bodyPr/>
          <a:lstStyle>
            <a:lvl1pPr marL="296321" indent="-296321">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1pPr>
            <a:lvl2pPr marL="457200" indent="-457200">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765175" indent="-342900">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373187" indent="-342900">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1087438" indent="-342900">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marL="1373187" indent="-342900">
              <a:defRPr sz="1600"/>
            </a:lvl6pPr>
            <a:lvl7pPr marL="1603375" indent="-285750">
              <a:defRPr sz="1600"/>
            </a:lvl7pPr>
            <a:lvl8pPr>
              <a:defRPr sz="1600"/>
            </a:lvl8pPr>
            <a:lvl9pPr>
              <a:defRPr sz="1600"/>
            </a:lvl9pPr>
          </a:lstStyle>
          <a:p>
            <a:pPr marL="403225" lvl="0" indent="-403225" algn="l" defTabSz="914363" rtl="0" eaLnBrk="1" latinLnBrk="0" hangingPunct="1">
              <a:lnSpc>
                <a:spcPct val="90000"/>
              </a:lnSpc>
              <a:spcBef>
                <a:spcPct val="20000"/>
              </a:spcBef>
              <a:buSzPct val="80000"/>
            </a:pPr>
            <a:r>
              <a:rPr lang="en-US" smtClean="0"/>
              <a:t>Click to edit Master text styles</a:t>
            </a:r>
          </a:p>
          <a:p>
            <a:pPr marL="403225" lvl="1" indent="-403225" algn="l" defTabSz="914363" rtl="0" eaLnBrk="1" latinLnBrk="0" hangingPunct="1">
              <a:lnSpc>
                <a:spcPct val="90000"/>
              </a:lnSpc>
              <a:spcBef>
                <a:spcPct val="20000"/>
              </a:spcBef>
              <a:buSzPct val="80000"/>
            </a:pPr>
            <a:r>
              <a:rPr lang="en-US" smtClean="0"/>
              <a:t>Second level</a:t>
            </a:r>
          </a:p>
          <a:p>
            <a:pPr marL="403225" lvl="2" indent="-403225" algn="l" defTabSz="914363" rtl="0" eaLnBrk="1" latinLnBrk="0" hangingPunct="1">
              <a:lnSpc>
                <a:spcPct val="90000"/>
              </a:lnSpc>
              <a:spcBef>
                <a:spcPct val="20000"/>
              </a:spcBef>
              <a:buSzPct val="80000"/>
            </a:pPr>
            <a:r>
              <a:rPr lang="en-US" smtClean="0"/>
              <a:t>Third level</a:t>
            </a:r>
          </a:p>
          <a:p>
            <a:pPr marL="403225" lvl="3" indent="-403225" algn="l" defTabSz="914363" rtl="0" eaLnBrk="1" latinLnBrk="0" hangingPunct="1">
              <a:lnSpc>
                <a:spcPct val="90000"/>
              </a:lnSpc>
              <a:spcBef>
                <a:spcPct val="20000"/>
              </a:spcBef>
              <a:buSzPct val="80000"/>
            </a:pPr>
            <a:r>
              <a:rPr lang="en-US" smtClean="0"/>
              <a:t>Fourth level</a:t>
            </a:r>
          </a:p>
          <a:p>
            <a:pPr marL="403225" lvl="4" indent="-403225" algn="l" defTabSz="914363" rtl="0" eaLnBrk="1" latinLnBrk="0" hangingPunct="1">
              <a:lnSpc>
                <a:spcPct val="90000"/>
              </a:lnSpc>
              <a:spcBef>
                <a:spcPct val="20000"/>
              </a:spcBef>
              <a:buSzPct val="80000"/>
            </a:pPr>
            <a:r>
              <a:rPr lang="en-US" smtClean="0"/>
              <a:t>Fifth level</a:t>
            </a:r>
            <a:endParaRPr lang="en-US" dirty="0"/>
          </a:p>
        </p:txBody>
      </p:sp>
      <p:pic>
        <p:nvPicPr>
          <p:cNvPr id="7" name="Picture 6"/>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216706555"/>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pic>
        <p:nvPicPr>
          <p:cNvPr id="3" name="Picture 2"/>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19567643"/>
      </p:ext>
    </p:extLst>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480110586"/>
      </p:ext>
    </p:extLst>
  </p:cSld>
  <p:clrMapOvr>
    <a:masterClrMapping/>
  </p:clrMapOvr>
  <p:transition>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519248" y="1447800"/>
            <a:ext cx="11151916"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3474709" y="3417661"/>
            <a:ext cx="6947121" cy="1241878"/>
          </a:xfrm>
        </p:spPr>
        <p:txBody>
          <a:bodyPr lIns="182880" tIns="182880" anchor="ctr" anchorCtr="0"/>
          <a:lstStyle>
            <a:lvl1pPr marL="574675" indent="-571500">
              <a:spcAft>
                <a:spcPts val="1200"/>
              </a:spcAft>
              <a:buNone/>
              <a:defRPr lang="en-US" sz="4400" kern="1200" spc="-100"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2400" kern="1200" spc="-50" baseline="0" dirty="0">
                <a:gradFill>
                  <a:gsLst>
                    <a:gs pos="0">
                      <a:srgbClr val="595959"/>
                    </a:gs>
                    <a:gs pos="86000">
                      <a:srgbClr val="595959"/>
                    </a:gs>
                  </a:gsLst>
                  <a:lin ang="5400000" scaled="0"/>
                </a:gradFill>
                <a:latin typeface="+mn-lt"/>
                <a:ea typeface="+mn-ea"/>
                <a:cs typeface="+mn-cs"/>
              </a:defRPr>
            </a:lvl2pPr>
          </a:lstStyle>
          <a:p>
            <a:pPr marL="3175" lvl="0" indent="0" algn="l" defTabSz="914363" rtl="0" eaLnBrk="1" latinLnBrk="0" hangingPunct="1">
              <a:lnSpc>
                <a:spcPct val="90000"/>
              </a:lnSpc>
              <a:spcBef>
                <a:spcPts val="0"/>
              </a:spcBef>
              <a:spcAft>
                <a:spcPts val="900"/>
              </a:spcAft>
              <a:buSzPct val="80000"/>
            </a:pPr>
            <a:r>
              <a:rPr lang="en-US" smtClean="0"/>
              <a:t>Click to edit Master text styles</a:t>
            </a:r>
          </a:p>
          <a:p>
            <a:pPr marL="3175" lvl="1" indent="0" algn="l" defTabSz="914363" rtl="0" eaLnBrk="1" latinLnBrk="0" hangingPunct="1">
              <a:lnSpc>
                <a:spcPct val="90000"/>
              </a:lnSpc>
              <a:spcBef>
                <a:spcPts val="0"/>
              </a:spcBef>
              <a:spcAft>
                <a:spcPts val="900"/>
              </a:spcAft>
              <a:buSzPct val="80000"/>
            </a:pPr>
            <a:r>
              <a:rPr lang="en-US" smtClean="0"/>
              <a:t>Second level</a:t>
            </a:r>
          </a:p>
        </p:txBody>
      </p:sp>
      <p:sp>
        <p:nvSpPr>
          <p:cNvPr id="6" name="Freeform 11"/>
          <p:cNvSpPr>
            <a:spLocks noEditPoints="1"/>
          </p:cNvSpPr>
          <p:nvPr userDrawn="1"/>
        </p:nvSpPr>
        <p:spPr bwMode="black">
          <a:xfrm>
            <a:off x="928957" y="2838266"/>
            <a:ext cx="2423129" cy="2400670"/>
          </a:xfrm>
          <a:custGeom>
            <a:avLst/>
            <a:gdLst>
              <a:gd name="T0" fmla="*/ 65 w 300"/>
              <a:gd name="T1" fmla="*/ 2 h 297"/>
              <a:gd name="T2" fmla="*/ 113 w 300"/>
              <a:gd name="T3" fmla="*/ 0 h 297"/>
              <a:gd name="T4" fmla="*/ 115 w 300"/>
              <a:gd name="T5" fmla="*/ 12 h 297"/>
              <a:gd name="T6" fmla="*/ 235 w 300"/>
              <a:gd name="T7" fmla="*/ 12 h 297"/>
              <a:gd name="T8" fmla="*/ 232 w 300"/>
              <a:gd name="T9" fmla="*/ 0 h 297"/>
              <a:gd name="T10" fmla="*/ 185 w 300"/>
              <a:gd name="T11" fmla="*/ 2 h 297"/>
              <a:gd name="T12" fmla="*/ 235 w 300"/>
              <a:gd name="T13" fmla="*/ 12 h 297"/>
              <a:gd name="T14" fmla="*/ 98 w 300"/>
              <a:gd name="T15" fmla="*/ 273 h 297"/>
              <a:gd name="T16" fmla="*/ 0 w 300"/>
              <a:gd name="T17" fmla="*/ 295 h 297"/>
              <a:gd name="T18" fmla="*/ 95 w 300"/>
              <a:gd name="T19" fmla="*/ 297 h 297"/>
              <a:gd name="T20" fmla="*/ 205 w 300"/>
              <a:gd name="T21" fmla="*/ 297 h 297"/>
              <a:gd name="T22" fmla="*/ 300 w 300"/>
              <a:gd name="T23" fmla="*/ 295 h 297"/>
              <a:gd name="T24" fmla="*/ 202 w 300"/>
              <a:gd name="T25" fmla="*/ 273 h 297"/>
              <a:gd name="T26" fmla="*/ 205 w 300"/>
              <a:gd name="T27" fmla="*/ 297 h 297"/>
              <a:gd name="T28" fmla="*/ 271 w 300"/>
              <a:gd name="T29" fmla="*/ 83 h 297"/>
              <a:gd name="T30" fmla="*/ 299 w 300"/>
              <a:gd name="T31" fmla="*/ 268 h 297"/>
              <a:gd name="T32" fmla="*/ 227 w 300"/>
              <a:gd name="T33" fmla="*/ 169 h 297"/>
              <a:gd name="T34" fmla="*/ 182 w 300"/>
              <a:gd name="T35" fmla="*/ 166 h 297"/>
              <a:gd name="T36" fmla="*/ 155 w 300"/>
              <a:gd name="T37" fmla="*/ 152 h 297"/>
              <a:gd name="T38" fmla="*/ 154 w 300"/>
              <a:gd name="T39" fmla="*/ 159 h 297"/>
              <a:gd name="T40" fmla="*/ 145 w 300"/>
              <a:gd name="T41" fmla="*/ 158 h 297"/>
              <a:gd name="T42" fmla="*/ 119 w 300"/>
              <a:gd name="T43" fmla="*/ 152 h 297"/>
              <a:gd name="T44" fmla="*/ 115 w 300"/>
              <a:gd name="T45" fmla="*/ 169 h 297"/>
              <a:gd name="T46" fmla="*/ 96 w 300"/>
              <a:gd name="T47" fmla="*/ 268 h 297"/>
              <a:gd name="T48" fmla="*/ 25 w 300"/>
              <a:gd name="T49" fmla="*/ 169 h 297"/>
              <a:gd name="T50" fmla="*/ 42 w 300"/>
              <a:gd name="T51" fmla="*/ 76 h 297"/>
              <a:gd name="T52" fmla="*/ 73 w 300"/>
              <a:gd name="T53" fmla="*/ 59 h 297"/>
              <a:gd name="T54" fmla="*/ 61 w 300"/>
              <a:gd name="T55" fmla="*/ 57 h 297"/>
              <a:gd name="T56" fmla="*/ 120 w 300"/>
              <a:gd name="T57" fmla="*/ 15 h 297"/>
              <a:gd name="T58" fmla="*/ 118 w 300"/>
              <a:gd name="T59" fmla="*/ 59 h 297"/>
              <a:gd name="T60" fmla="*/ 108 w 300"/>
              <a:gd name="T61" fmla="*/ 68 h 297"/>
              <a:gd name="T62" fmla="*/ 145 w 300"/>
              <a:gd name="T63" fmla="*/ 62 h 297"/>
              <a:gd name="T64" fmla="*/ 140 w 300"/>
              <a:gd name="T65" fmla="*/ 61 h 297"/>
              <a:gd name="T66" fmla="*/ 142 w 300"/>
              <a:gd name="T67" fmla="*/ 55 h 297"/>
              <a:gd name="T68" fmla="*/ 160 w 300"/>
              <a:gd name="T69" fmla="*/ 56 h 297"/>
              <a:gd name="T70" fmla="*/ 158 w 300"/>
              <a:gd name="T71" fmla="*/ 62 h 297"/>
              <a:gd name="T72" fmla="*/ 155 w 300"/>
              <a:gd name="T73" fmla="*/ 68 h 297"/>
              <a:gd name="T74" fmla="*/ 192 w 300"/>
              <a:gd name="T75" fmla="*/ 59 h 297"/>
              <a:gd name="T76" fmla="*/ 180 w 300"/>
              <a:gd name="T77" fmla="*/ 57 h 297"/>
              <a:gd name="T78" fmla="*/ 239 w 300"/>
              <a:gd name="T79" fmla="*/ 15 h 297"/>
              <a:gd name="T80" fmla="*/ 237 w 300"/>
              <a:gd name="T81" fmla="*/ 59 h 297"/>
              <a:gd name="T82" fmla="*/ 227 w 300"/>
              <a:gd name="T83" fmla="*/ 76 h 297"/>
              <a:gd name="T84" fmla="*/ 122 w 300"/>
              <a:gd name="T85" fmla="*/ 83 h 297"/>
              <a:gd name="T86" fmla="*/ 145 w 300"/>
              <a:gd name="T87" fmla="*/ 72 h 297"/>
              <a:gd name="T88" fmla="*/ 108 w 300"/>
              <a:gd name="T89" fmla="*/ 76 h 297"/>
              <a:gd name="T90" fmla="*/ 123 w 300"/>
              <a:gd name="T91" fmla="*/ 78 h 297"/>
              <a:gd name="T92" fmla="*/ 180 w 300"/>
              <a:gd name="T93" fmla="*/ 76 h 297"/>
              <a:gd name="T94" fmla="*/ 192 w 300"/>
              <a:gd name="T95" fmla="*/ 72 h 297"/>
              <a:gd name="T96" fmla="*/ 155 w 300"/>
              <a:gd name="T97" fmla="*/ 83 h 297"/>
              <a:gd name="T98" fmla="*/ 178 w 300"/>
              <a:gd name="T99" fmla="*/ 78 h 297"/>
              <a:gd name="T100" fmla="*/ 158 w 300"/>
              <a:gd name="T101" fmla="*/ 101 h 297"/>
              <a:gd name="T102" fmla="*/ 142 w 300"/>
              <a:gd name="T103" fmla="*/ 118 h 297"/>
              <a:gd name="T104" fmla="*/ 158 w 300"/>
              <a:gd name="T105" fmla="*/ 101 h 297"/>
              <a:gd name="T106" fmla="*/ 129 w 300"/>
              <a:gd name="T107" fmla="*/ 91 h 297"/>
              <a:gd name="T108" fmla="*/ 133 w 300"/>
              <a:gd name="T109" fmla="*/ 141 h 297"/>
              <a:gd name="T110" fmla="*/ 171 w 300"/>
              <a:gd name="T111" fmla="*/ 91 h 297"/>
              <a:gd name="T112" fmla="*/ 167 w 300"/>
              <a:gd name="T113" fmla="*/ 141 h 297"/>
              <a:gd name="T114" fmla="*/ 171 w 300"/>
              <a:gd name="T115" fmla="*/ 9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97">
                <a:moveTo>
                  <a:pt x="65" y="12"/>
                </a:moveTo>
                <a:cubicBezTo>
                  <a:pt x="65" y="2"/>
                  <a:pt x="65" y="2"/>
                  <a:pt x="65" y="2"/>
                </a:cubicBezTo>
                <a:cubicBezTo>
                  <a:pt x="65" y="1"/>
                  <a:pt x="67" y="0"/>
                  <a:pt x="68" y="0"/>
                </a:cubicBezTo>
                <a:cubicBezTo>
                  <a:pt x="113" y="0"/>
                  <a:pt x="113" y="0"/>
                  <a:pt x="113" y="0"/>
                </a:cubicBezTo>
                <a:cubicBezTo>
                  <a:pt x="114" y="0"/>
                  <a:pt x="115" y="1"/>
                  <a:pt x="115" y="2"/>
                </a:cubicBezTo>
                <a:cubicBezTo>
                  <a:pt x="115" y="12"/>
                  <a:pt x="115" y="12"/>
                  <a:pt x="115" y="12"/>
                </a:cubicBezTo>
                <a:lnTo>
                  <a:pt x="65" y="12"/>
                </a:lnTo>
                <a:close/>
                <a:moveTo>
                  <a:pt x="235" y="12"/>
                </a:moveTo>
                <a:cubicBezTo>
                  <a:pt x="235" y="2"/>
                  <a:pt x="235" y="2"/>
                  <a:pt x="235" y="2"/>
                </a:cubicBezTo>
                <a:cubicBezTo>
                  <a:pt x="235" y="1"/>
                  <a:pt x="233" y="0"/>
                  <a:pt x="232" y="0"/>
                </a:cubicBezTo>
                <a:cubicBezTo>
                  <a:pt x="187" y="0"/>
                  <a:pt x="187" y="0"/>
                  <a:pt x="187" y="0"/>
                </a:cubicBezTo>
                <a:cubicBezTo>
                  <a:pt x="186" y="0"/>
                  <a:pt x="185" y="1"/>
                  <a:pt x="185" y="2"/>
                </a:cubicBezTo>
                <a:cubicBezTo>
                  <a:pt x="185" y="12"/>
                  <a:pt x="185" y="12"/>
                  <a:pt x="185" y="12"/>
                </a:cubicBezTo>
                <a:lnTo>
                  <a:pt x="235" y="12"/>
                </a:lnTo>
                <a:close/>
                <a:moveTo>
                  <a:pt x="98" y="295"/>
                </a:moveTo>
                <a:cubicBezTo>
                  <a:pt x="98" y="273"/>
                  <a:pt x="98" y="273"/>
                  <a:pt x="98" y="273"/>
                </a:cubicBezTo>
                <a:cubicBezTo>
                  <a:pt x="0" y="273"/>
                  <a:pt x="0" y="273"/>
                  <a:pt x="0" y="273"/>
                </a:cubicBezTo>
                <a:cubicBezTo>
                  <a:pt x="0" y="295"/>
                  <a:pt x="0" y="295"/>
                  <a:pt x="0" y="295"/>
                </a:cubicBezTo>
                <a:cubicBezTo>
                  <a:pt x="0" y="296"/>
                  <a:pt x="1" y="297"/>
                  <a:pt x="2" y="297"/>
                </a:cubicBezTo>
                <a:cubicBezTo>
                  <a:pt x="95" y="297"/>
                  <a:pt x="95" y="297"/>
                  <a:pt x="95" y="297"/>
                </a:cubicBezTo>
                <a:cubicBezTo>
                  <a:pt x="97" y="297"/>
                  <a:pt x="98" y="296"/>
                  <a:pt x="98" y="295"/>
                </a:cubicBezTo>
                <a:close/>
                <a:moveTo>
                  <a:pt x="205" y="297"/>
                </a:moveTo>
                <a:cubicBezTo>
                  <a:pt x="298" y="297"/>
                  <a:pt x="298" y="297"/>
                  <a:pt x="298" y="297"/>
                </a:cubicBezTo>
                <a:cubicBezTo>
                  <a:pt x="299" y="297"/>
                  <a:pt x="300" y="296"/>
                  <a:pt x="300" y="295"/>
                </a:cubicBezTo>
                <a:cubicBezTo>
                  <a:pt x="300" y="273"/>
                  <a:pt x="300" y="273"/>
                  <a:pt x="300" y="273"/>
                </a:cubicBezTo>
                <a:cubicBezTo>
                  <a:pt x="202" y="273"/>
                  <a:pt x="202" y="273"/>
                  <a:pt x="202" y="273"/>
                </a:cubicBezTo>
                <a:cubicBezTo>
                  <a:pt x="202" y="295"/>
                  <a:pt x="202" y="295"/>
                  <a:pt x="202" y="295"/>
                </a:cubicBezTo>
                <a:cubicBezTo>
                  <a:pt x="202" y="296"/>
                  <a:pt x="203" y="297"/>
                  <a:pt x="205" y="297"/>
                </a:cubicBezTo>
                <a:close/>
                <a:moveTo>
                  <a:pt x="263" y="76"/>
                </a:moveTo>
                <a:cubicBezTo>
                  <a:pt x="267" y="76"/>
                  <a:pt x="270" y="79"/>
                  <a:pt x="271" y="83"/>
                </a:cubicBezTo>
                <a:cubicBezTo>
                  <a:pt x="275" y="169"/>
                  <a:pt x="275" y="169"/>
                  <a:pt x="275" y="169"/>
                </a:cubicBezTo>
                <a:cubicBezTo>
                  <a:pt x="299" y="268"/>
                  <a:pt x="299" y="268"/>
                  <a:pt x="299" y="268"/>
                </a:cubicBezTo>
                <a:cubicBezTo>
                  <a:pt x="204" y="268"/>
                  <a:pt x="204" y="268"/>
                  <a:pt x="204" y="268"/>
                </a:cubicBezTo>
                <a:cubicBezTo>
                  <a:pt x="227" y="169"/>
                  <a:pt x="227" y="169"/>
                  <a:pt x="227" y="169"/>
                </a:cubicBezTo>
                <a:cubicBezTo>
                  <a:pt x="185" y="169"/>
                  <a:pt x="185" y="169"/>
                  <a:pt x="185" y="169"/>
                </a:cubicBezTo>
                <a:cubicBezTo>
                  <a:pt x="183" y="169"/>
                  <a:pt x="182" y="168"/>
                  <a:pt x="182" y="166"/>
                </a:cubicBezTo>
                <a:cubicBezTo>
                  <a:pt x="181" y="152"/>
                  <a:pt x="181" y="152"/>
                  <a:pt x="181" y="152"/>
                </a:cubicBezTo>
                <a:cubicBezTo>
                  <a:pt x="155" y="152"/>
                  <a:pt x="155" y="152"/>
                  <a:pt x="155" y="152"/>
                </a:cubicBezTo>
                <a:cubicBezTo>
                  <a:pt x="155" y="158"/>
                  <a:pt x="155" y="158"/>
                  <a:pt x="155" y="158"/>
                </a:cubicBezTo>
                <a:cubicBezTo>
                  <a:pt x="155" y="159"/>
                  <a:pt x="154" y="159"/>
                  <a:pt x="154" y="159"/>
                </a:cubicBezTo>
                <a:cubicBezTo>
                  <a:pt x="146" y="159"/>
                  <a:pt x="146" y="159"/>
                  <a:pt x="146" y="159"/>
                </a:cubicBezTo>
                <a:cubicBezTo>
                  <a:pt x="146" y="159"/>
                  <a:pt x="145" y="159"/>
                  <a:pt x="145" y="158"/>
                </a:cubicBezTo>
                <a:cubicBezTo>
                  <a:pt x="145" y="152"/>
                  <a:pt x="145" y="152"/>
                  <a:pt x="145" y="152"/>
                </a:cubicBezTo>
                <a:cubicBezTo>
                  <a:pt x="119" y="152"/>
                  <a:pt x="119" y="152"/>
                  <a:pt x="119" y="152"/>
                </a:cubicBezTo>
                <a:cubicBezTo>
                  <a:pt x="118" y="166"/>
                  <a:pt x="118" y="166"/>
                  <a:pt x="118" y="166"/>
                </a:cubicBezTo>
                <a:cubicBezTo>
                  <a:pt x="118" y="168"/>
                  <a:pt x="117" y="169"/>
                  <a:pt x="115" y="169"/>
                </a:cubicBezTo>
                <a:cubicBezTo>
                  <a:pt x="73" y="169"/>
                  <a:pt x="73" y="169"/>
                  <a:pt x="73" y="169"/>
                </a:cubicBezTo>
                <a:cubicBezTo>
                  <a:pt x="96" y="268"/>
                  <a:pt x="96" y="268"/>
                  <a:pt x="96" y="268"/>
                </a:cubicBezTo>
                <a:cubicBezTo>
                  <a:pt x="1" y="268"/>
                  <a:pt x="1" y="268"/>
                  <a:pt x="1" y="268"/>
                </a:cubicBezTo>
                <a:cubicBezTo>
                  <a:pt x="25" y="169"/>
                  <a:pt x="25" y="169"/>
                  <a:pt x="25" y="169"/>
                </a:cubicBezTo>
                <a:cubicBezTo>
                  <a:pt x="34" y="83"/>
                  <a:pt x="34" y="83"/>
                  <a:pt x="34" y="83"/>
                </a:cubicBezTo>
                <a:cubicBezTo>
                  <a:pt x="34" y="79"/>
                  <a:pt x="38" y="76"/>
                  <a:pt x="42" y="76"/>
                </a:cubicBezTo>
                <a:cubicBezTo>
                  <a:pt x="73" y="76"/>
                  <a:pt x="73" y="76"/>
                  <a:pt x="73" y="76"/>
                </a:cubicBezTo>
                <a:cubicBezTo>
                  <a:pt x="73" y="59"/>
                  <a:pt x="73" y="59"/>
                  <a:pt x="73" y="59"/>
                </a:cubicBezTo>
                <a:cubicBezTo>
                  <a:pt x="63" y="59"/>
                  <a:pt x="63" y="59"/>
                  <a:pt x="63" y="59"/>
                </a:cubicBezTo>
                <a:cubicBezTo>
                  <a:pt x="62" y="59"/>
                  <a:pt x="61" y="58"/>
                  <a:pt x="61" y="57"/>
                </a:cubicBezTo>
                <a:cubicBezTo>
                  <a:pt x="61" y="15"/>
                  <a:pt x="61" y="15"/>
                  <a:pt x="61" y="15"/>
                </a:cubicBezTo>
                <a:cubicBezTo>
                  <a:pt x="120" y="15"/>
                  <a:pt x="120" y="15"/>
                  <a:pt x="120" y="15"/>
                </a:cubicBezTo>
                <a:cubicBezTo>
                  <a:pt x="120" y="57"/>
                  <a:pt x="120" y="57"/>
                  <a:pt x="120" y="57"/>
                </a:cubicBezTo>
                <a:cubicBezTo>
                  <a:pt x="120" y="58"/>
                  <a:pt x="119" y="59"/>
                  <a:pt x="118" y="59"/>
                </a:cubicBezTo>
                <a:cubicBezTo>
                  <a:pt x="108" y="59"/>
                  <a:pt x="108" y="59"/>
                  <a:pt x="108" y="59"/>
                </a:cubicBezTo>
                <a:cubicBezTo>
                  <a:pt x="108" y="68"/>
                  <a:pt x="108" y="68"/>
                  <a:pt x="108" y="68"/>
                </a:cubicBezTo>
                <a:cubicBezTo>
                  <a:pt x="145" y="68"/>
                  <a:pt x="145" y="68"/>
                  <a:pt x="145" y="68"/>
                </a:cubicBezTo>
                <a:cubicBezTo>
                  <a:pt x="145" y="62"/>
                  <a:pt x="145" y="62"/>
                  <a:pt x="145" y="62"/>
                </a:cubicBezTo>
                <a:cubicBezTo>
                  <a:pt x="142" y="62"/>
                  <a:pt x="142" y="62"/>
                  <a:pt x="142" y="62"/>
                </a:cubicBezTo>
                <a:cubicBezTo>
                  <a:pt x="141" y="62"/>
                  <a:pt x="140" y="61"/>
                  <a:pt x="140" y="61"/>
                </a:cubicBezTo>
                <a:cubicBezTo>
                  <a:pt x="140" y="56"/>
                  <a:pt x="140" y="56"/>
                  <a:pt x="140" y="56"/>
                </a:cubicBezTo>
                <a:cubicBezTo>
                  <a:pt x="140" y="55"/>
                  <a:pt x="141" y="55"/>
                  <a:pt x="142" y="55"/>
                </a:cubicBezTo>
                <a:cubicBezTo>
                  <a:pt x="158" y="55"/>
                  <a:pt x="158" y="55"/>
                  <a:pt x="158" y="55"/>
                </a:cubicBezTo>
                <a:cubicBezTo>
                  <a:pt x="159" y="55"/>
                  <a:pt x="160" y="55"/>
                  <a:pt x="160" y="56"/>
                </a:cubicBezTo>
                <a:cubicBezTo>
                  <a:pt x="160" y="61"/>
                  <a:pt x="160" y="61"/>
                  <a:pt x="160" y="61"/>
                </a:cubicBezTo>
                <a:cubicBezTo>
                  <a:pt x="160" y="61"/>
                  <a:pt x="159" y="62"/>
                  <a:pt x="158" y="62"/>
                </a:cubicBezTo>
                <a:cubicBezTo>
                  <a:pt x="155" y="62"/>
                  <a:pt x="155" y="62"/>
                  <a:pt x="155" y="62"/>
                </a:cubicBezTo>
                <a:cubicBezTo>
                  <a:pt x="155" y="68"/>
                  <a:pt x="155" y="68"/>
                  <a:pt x="155" y="68"/>
                </a:cubicBezTo>
                <a:cubicBezTo>
                  <a:pt x="192" y="68"/>
                  <a:pt x="192" y="68"/>
                  <a:pt x="192" y="68"/>
                </a:cubicBezTo>
                <a:cubicBezTo>
                  <a:pt x="192" y="59"/>
                  <a:pt x="192" y="59"/>
                  <a:pt x="192" y="59"/>
                </a:cubicBezTo>
                <a:cubicBezTo>
                  <a:pt x="182" y="59"/>
                  <a:pt x="182" y="59"/>
                  <a:pt x="182" y="59"/>
                </a:cubicBezTo>
                <a:cubicBezTo>
                  <a:pt x="181" y="59"/>
                  <a:pt x="180" y="58"/>
                  <a:pt x="180" y="57"/>
                </a:cubicBezTo>
                <a:cubicBezTo>
                  <a:pt x="180" y="15"/>
                  <a:pt x="180" y="15"/>
                  <a:pt x="180" y="15"/>
                </a:cubicBezTo>
                <a:cubicBezTo>
                  <a:pt x="239" y="15"/>
                  <a:pt x="239" y="15"/>
                  <a:pt x="239" y="15"/>
                </a:cubicBezTo>
                <a:cubicBezTo>
                  <a:pt x="239" y="57"/>
                  <a:pt x="239" y="57"/>
                  <a:pt x="239" y="57"/>
                </a:cubicBezTo>
                <a:cubicBezTo>
                  <a:pt x="239" y="58"/>
                  <a:pt x="238" y="59"/>
                  <a:pt x="237" y="59"/>
                </a:cubicBezTo>
                <a:cubicBezTo>
                  <a:pt x="227" y="59"/>
                  <a:pt x="227" y="59"/>
                  <a:pt x="227" y="59"/>
                </a:cubicBezTo>
                <a:cubicBezTo>
                  <a:pt x="227" y="76"/>
                  <a:pt x="227" y="76"/>
                  <a:pt x="227" y="76"/>
                </a:cubicBezTo>
                <a:lnTo>
                  <a:pt x="263" y="76"/>
                </a:lnTo>
                <a:close/>
                <a:moveTo>
                  <a:pt x="122" y="83"/>
                </a:moveTo>
                <a:cubicBezTo>
                  <a:pt x="145" y="83"/>
                  <a:pt x="145" y="83"/>
                  <a:pt x="145" y="83"/>
                </a:cubicBezTo>
                <a:cubicBezTo>
                  <a:pt x="145" y="72"/>
                  <a:pt x="145" y="72"/>
                  <a:pt x="145" y="72"/>
                </a:cubicBezTo>
                <a:cubicBezTo>
                  <a:pt x="108" y="72"/>
                  <a:pt x="108" y="72"/>
                  <a:pt x="108" y="72"/>
                </a:cubicBezTo>
                <a:cubicBezTo>
                  <a:pt x="108" y="76"/>
                  <a:pt x="108" y="76"/>
                  <a:pt x="108" y="76"/>
                </a:cubicBezTo>
                <a:cubicBezTo>
                  <a:pt x="120" y="76"/>
                  <a:pt x="120" y="76"/>
                  <a:pt x="120" y="76"/>
                </a:cubicBezTo>
                <a:cubicBezTo>
                  <a:pt x="122" y="76"/>
                  <a:pt x="123" y="77"/>
                  <a:pt x="123" y="78"/>
                </a:cubicBezTo>
                <a:lnTo>
                  <a:pt x="122" y="83"/>
                </a:lnTo>
                <a:close/>
                <a:moveTo>
                  <a:pt x="180" y="76"/>
                </a:moveTo>
                <a:cubicBezTo>
                  <a:pt x="192" y="76"/>
                  <a:pt x="192" y="76"/>
                  <a:pt x="192" y="76"/>
                </a:cubicBezTo>
                <a:cubicBezTo>
                  <a:pt x="192" y="72"/>
                  <a:pt x="192" y="72"/>
                  <a:pt x="192" y="72"/>
                </a:cubicBezTo>
                <a:cubicBezTo>
                  <a:pt x="155" y="72"/>
                  <a:pt x="155" y="72"/>
                  <a:pt x="155" y="72"/>
                </a:cubicBezTo>
                <a:cubicBezTo>
                  <a:pt x="155" y="83"/>
                  <a:pt x="155" y="83"/>
                  <a:pt x="155" y="83"/>
                </a:cubicBezTo>
                <a:cubicBezTo>
                  <a:pt x="178" y="83"/>
                  <a:pt x="178" y="83"/>
                  <a:pt x="178" y="83"/>
                </a:cubicBezTo>
                <a:cubicBezTo>
                  <a:pt x="178" y="78"/>
                  <a:pt x="178" y="78"/>
                  <a:pt x="178" y="78"/>
                </a:cubicBezTo>
                <a:cubicBezTo>
                  <a:pt x="177" y="77"/>
                  <a:pt x="178" y="76"/>
                  <a:pt x="180" y="76"/>
                </a:cubicBezTo>
                <a:close/>
                <a:moveTo>
                  <a:pt x="158" y="101"/>
                </a:moveTo>
                <a:cubicBezTo>
                  <a:pt x="142" y="101"/>
                  <a:pt x="142" y="101"/>
                  <a:pt x="142" y="101"/>
                </a:cubicBezTo>
                <a:cubicBezTo>
                  <a:pt x="142" y="118"/>
                  <a:pt x="142" y="118"/>
                  <a:pt x="142" y="118"/>
                </a:cubicBezTo>
                <a:cubicBezTo>
                  <a:pt x="158" y="118"/>
                  <a:pt x="158" y="118"/>
                  <a:pt x="158" y="118"/>
                </a:cubicBezTo>
                <a:lnTo>
                  <a:pt x="158" y="101"/>
                </a:lnTo>
                <a:close/>
                <a:moveTo>
                  <a:pt x="133" y="91"/>
                </a:moveTo>
                <a:cubicBezTo>
                  <a:pt x="129" y="91"/>
                  <a:pt x="129" y="91"/>
                  <a:pt x="129" y="91"/>
                </a:cubicBezTo>
                <a:cubicBezTo>
                  <a:pt x="129" y="141"/>
                  <a:pt x="129" y="141"/>
                  <a:pt x="129" y="141"/>
                </a:cubicBezTo>
                <a:cubicBezTo>
                  <a:pt x="133" y="141"/>
                  <a:pt x="133" y="141"/>
                  <a:pt x="133" y="141"/>
                </a:cubicBezTo>
                <a:lnTo>
                  <a:pt x="133" y="91"/>
                </a:lnTo>
                <a:close/>
                <a:moveTo>
                  <a:pt x="171" y="91"/>
                </a:moveTo>
                <a:cubicBezTo>
                  <a:pt x="167" y="91"/>
                  <a:pt x="167" y="91"/>
                  <a:pt x="167" y="91"/>
                </a:cubicBezTo>
                <a:cubicBezTo>
                  <a:pt x="167" y="141"/>
                  <a:pt x="167" y="141"/>
                  <a:pt x="167" y="141"/>
                </a:cubicBezTo>
                <a:cubicBezTo>
                  <a:pt x="171" y="141"/>
                  <a:pt x="171" y="141"/>
                  <a:pt x="171" y="141"/>
                </a:cubicBezTo>
                <a:lnTo>
                  <a:pt x="171" y="91"/>
                </a:ln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a:solidFill>
                <a:srgbClr val="292929"/>
              </a:solidFill>
            </a:endParaRPr>
          </a:p>
        </p:txBody>
      </p:sp>
    </p:spTree>
    <p:extLst>
      <p:ext uri="{BB962C8B-B14F-4D97-AF65-F5344CB8AC3E}">
        <p14:creationId xmlns:p14="http://schemas.microsoft.com/office/powerpoint/2010/main" val="31393054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7715394" y="2136047"/>
            <a:ext cx="3500039"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1034542759"/>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userDrawn="1"/>
        </p:nvSpPr>
        <p:spPr bwMode="auto">
          <a:xfrm>
            <a:off x="8294113" y="2008094"/>
            <a:ext cx="2269668" cy="2169610"/>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Tree>
    <p:extLst>
      <p:ext uri="{BB962C8B-B14F-4D97-AF65-F5344CB8AC3E}">
        <p14:creationId xmlns:p14="http://schemas.microsoft.com/office/powerpoint/2010/main" val="2071250625"/>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7906631" y="2242931"/>
            <a:ext cx="3177742"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grpSp>
    </p:spTree>
    <p:extLst>
      <p:ext uri="{BB962C8B-B14F-4D97-AF65-F5344CB8AC3E}">
        <p14:creationId xmlns:p14="http://schemas.microsoft.com/office/powerpoint/2010/main" val="3383735290"/>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7925673" y="1932604"/>
            <a:ext cx="3014117"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3687436128"/>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8885072" y="1905000"/>
            <a:ext cx="1277929"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3836257374"/>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521344" y="3467676"/>
            <a:ext cx="10696186"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8800" b="0" i="0" u="none" strike="noStrike" kern="1200" cap="none" spc="-12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pic>
        <p:nvPicPr>
          <p:cNvPr id="8" name="Picture 7"/>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63951" y="6338048"/>
            <a:ext cx="2507214" cy="291353"/>
          </a:xfrm>
          <a:prstGeom prst="rect">
            <a:avLst/>
          </a:prstGeom>
        </p:spPr>
      </p:pic>
    </p:spTree>
    <p:extLst>
      <p:ext uri="{BB962C8B-B14F-4D97-AF65-F5344CB8AC3E}">
        <p14:creationId xmlns:p14="http://schemas.microsoft.com/office/powerpoint/2010/main" val="2478641419"/>
      </p:ext>
    </p:extLst>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4322299" y="3140274"/>
            <a:ext cx="3547400" cy="577452"/>
          </a:xfrm>
          <a:prstGeom prst="rect">
            <a:avLst/>
          </a:prstGeom>
          <a:noFill/>
          <a:ln>
            <a:noFill/>
          </a:ln>
        </p:spPr>
      </p:pic>
      <p:sp>
        <p:nvSpPr>
          <p:cNvPr id="3" name="Text Box 3"/>
          <p:cNvSpPr txBox="1">
            <a:spLocks noChangeArrowheads="1"/>
          </p:cNvSpPr>
          <p:nvPr userDrawn="1"/>
        </p:nvSpPr>
        <p:spPr bwMode="blackWhite">
          <a:xfrm>
            <a:off x="508001" y="6083573"/>
            <a:ext cx="1117600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solidFill>
                  <a:srgbClr val="FFFFFF">
                    <a:alpha val="99000"/>
                  </a:srgbClr>
                </a:solidFill>
                <a:cs typeface="Arial" charset="0"/>
              </a:rPr>
              <a:t>© </a:t>
            </a:r>
            <a:r>
              <a:rPr lang="en-US" sz="700" dirty="0" smtClean="0">
                <a:solidFill>
                  <a:srgbClr val="FFFFFF">
                    <a:alpha val="99000"/>
                  </a:srgbClr>
                </a:solidFill>
                <a:cs typeface="Arial" charset="0"/>
              </a:rPr>
              <a:t>2011 Microsoft </a:t>
            </a:r>
            <a:r>
              <a:rPr lang="en-US" sz="700"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solidFill>
                  <a:srgbClr val="FFFFFF">
                    <a:alpha val="99000"/>
                  </a:srgbClr>
                </a:solidFill>
                <a:cs typeface="Arial" charset="0"/>
              </a:rPr>
              <a:t>MICROSOFT </a:t>
            </a:r>
            <a:r>
              <a:rPr lang="en-US" sz="700"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1031120023"/>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512897" y="2892711"/>
            <a:ext cx="11231365" cy="1218795"/>
          </a:xfrm>
        </p:spPr>
        <p:txBody>
          <a:bodyPr/>
          <a:lstStyle>
            <a:lvl1pPr marL="0" indent="0">
              <a:buNone/>
              <a:defRPr lang="en-US" sz="8800" i="0" kern="1200" spc="-100" baseline="0" dirty="0" smtClean="0">
                <a:solidFill>
                  <a:schemeClr val="bg1">
                    <a:alpha val="99000"/>
                  </a:schemeClr>
                </a:solidFill>
                <a:latin typeface="Segoe UI Light" pitchFamily="34" charset="0"/>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512897" y="4343400"/>
            <a:ext cx="7515594" cy="443198"/>
          </a:xfrm>
        </p:spPr>
        <p:txBody>
          <a:bodyPr/>
          <a:lstStyle>
            <a:lvl1pPr marL="0" indent="0">
              <a:buNone/>
              <a:defRPr lang="en-US" sz="3200" kern="1200" spc="-100" baseline="0" dirty="0">
                <a:solidFill>
                  <a:schemeClr val="bg1">
                    <a:alpha val="99000"/>
                  </a:schemeClr>
                </a:solidFill>
                <a:latin typeface="+mj-lt"/>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534847" y="6364651"/>
            <a:ext cx="1596068" cy="268366"/>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817412221"/>
      </p:ext>
    </p:extLst>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12933488"/>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12192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3494378039"/>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450" y="177800"/>
            <a:ext cx="2857500" cy="1143000"/>
          </a:xfrm>
          <a:prstGeom prst="rect">
            <a:avLst/>
          </a:prstGeom>
        </p:spPr>
      </p:pic>
    </p:spTree>
    <p:extLst>
      <p:ext uri="{BB962C8B-B14F-4D97-AF65-F5344CB8AC3E}">
        <p14:creationId xmlns:p14="http://schemas.microsoft.com/office/powerpoint/2010/main" val="181868512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theme" Target="../theme/theme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theme" Target="../theme/theme3.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379514" y="182215"/>
            <a:ext cx="11524432" cy="1063487"/>
          </a:xfrm>
          <a:prstGeom prst="rect">
            <a:avLst/>
          </a:prstGeom>
        </p:spPr>
        <p:txBody>
          <a:bodyPr vert="horz" lIns="91409" tIns="45705" rIns="91409" bIns="45705" rtlCol="0" anchor="t" anchorCtr="0">
            <a:normAutofit/>
          </a:bodyPr>
          <a:lstStyle/>
          <a:p>
            <a:r>
              <a:rPr lang="en-US" dirty="0" smtClean="0"/>
              <a:t>Click to edit Master title style</a:t>
            </a:r>
            <a:endParaRPr lang="en-US" dirty="0"/>
          </a:p>
        </p:txBody>
      </p:sp>
    </p:spTree>
    <p:extLst>
      <p:ext uri="{BB962C8B-B14F-4D97-AF65-F5344CB8AC3E}">
        <p14:creationId xmlns:p14="http://schemas.microsoft.com/office/powerpoint/2010/main" val="3118783959"/>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67" r:id="rId3"/>
    <p:sldLayoutId id="2147483663" r:id="rId4"/>
    <p:sldLayoutId id="2147483664" r:id="rId5"/>
    <p:sldLayoutId id="2147483665" r:id="rId6"/>
    <p:sldLayoutId id="2147483666" r:id="rId7"/>
    <p:sldLayoutId id="2147483668" r:id="rId8"/>
    <p:sldLayoutId id="2147483669" r:id="rId9"/>
  </p:sldLayoutIdLst>
  <p:timing>
    <p:tnLst>
      <p:par>
        <p:cTn id="1" dur="indefinite" restart="never" nodeType="tmRoot"/>
      </p:par>
    </p:tnLst>
  </p:timing>
  <p:txStyles>
    <p:titleStyle>
      <a:lvl1pPr algn="l" defTabSz="914088" rtl="0" eaLnBrk="1" latinLnBrk="0" hangingPunct="1">
        <a:lnSpc>
          <a:spcPct val="80000"/>
        </a:lnSpc>
        <a:spcBef>
          <a:spcPct val="0"/>
        </a:spcBef>
        <a:buNone/>
        <a:defRPr sz="4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p:titleStyle>
    <p:bodyStyle>
      <a:lvl1pPr marL="342783" indent="-342783" algn="l" defTabSz="914088" rtl="0" eaLnBrk="1" latinLnBrk="0" hangingPunct="1">
        <a:spcBef>
          <a:spcPts val="1200"/>
        </a:spcBef>
        <a:buFont typeface="Arial" pitchFamily="34" charset="0"/>
        <a:buChar char="•"/>
        <a:defRPr sz="3200" b="1"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88" rtl="0" eaLnBrk="1" latinLnBrk="0" hangingPunct="1">
        <a:defRPr sz="1800" kern="1200">
          <a:solidFill>
            <a:schemeClr val="tx1"/>
          </a:solidFill>
          <a:latin typeface="+mn-lt"/>
          <a:ea typeface="+mn-ea"/>
          <a:cs typeface="+mn-cs"/>
        </a:defRPr>
      </a:lvl1pPr>
      <a:lvl2pPr marL="457044" algn="l" defTabSz="914088" rtl="0" eaLnBrk="1" latinLnBrk="0" hangingPunct="1">
        <a:defRPr sz="1800" kern="1200">
          <a:solidFill>
            <a:schemeClr val="tx1"/>
          </a:solidFill>
          <a:latin typeface="+mn-lt"/>
          <a:ea typeface="+mn-ea"/>
          <a:cs typeface="+mn-cs"/>
        </a:defRPr>
      </a:lvl2pPr>
      <a:lvl3pPr marL="914088" algn="l" defTabSz="914088" rtl="0" eaLnBrk="1" latinLnBrk="0" hangingPunct="1">
        <a:defRPr sz="1800" kern="1200">
          <a:solidFill>
            <a:schemeClr val="tx1"/>
          </a:solidFill>
          <a:latin typeface="+mn-lt"/>
          <a:ea typeface="+mn-ea"/>
          <a:cs typeface="+mn-cs"/>
        </a:defRPr>
      </a:lvl3pPr>
      <a:lvl4pPr marL="1371133" algn="l" defTabSz="914088" rtl="0" eaLnBrk="1" latinLnBrk="0" hangingPunct="1">
        <a:defRPr sz="1800" kern="1200">
          <a:solidFill>
            <a:schemeClr val="tx1"/>
          </a:solidFill>
          <a:latin typeface="+mn-lt"/>
          <a:ea typeface="+mn-ea"/>
          <a:cs typeface="+mn-cs"/>
        </a:defRPr>
      </a:lvl4pPr>
      <a:lvl5pPr marL="1828178" algn="l" defTabSz="914088" rtl="0" eaLnBrk="1" latinLnBrk="0" hangingPunct="1">
        <a:defRPr sz="1800" kern="1200">
          <a:solidFill>
            <a:schemeClr val="tx1"/>
          </a:solidFill>
          <a:latin typeface="+mn-lt"/>
          <a:ea typeface="+mn-ea"/>
          <a:cs typeface="+mn-cs"/>
        </a:defRPr>
      </a:lvl5pPr>
      <a:lvl6pPr marL="2285222" algn="l" defTabSz="914088" rtl="0" eaLnBrk="1" latinLnBrk="0" hangingPunct="1">
        <a:defRPr sz="1800" kern="1200">
          <a:solidFill>
            <a:schemeClr val="tx1"/>
          </a:solidFill>
          <a:latin typeface="+mn-lt"/>
          <a:ea typeface="+mn-ea"/>
          <a:cs typeface="+mn-cs"/>
        </a:defRPr>
      </a:lvl6pPr>
      <a:lvl7pPr marL="2742267" algn="l" defTabSz="914088" rtl="0" eaLnBrk="1" latinLnBrk="0" hangingPunct="1">
        <a:defRPr sz="1800" kern="1200">
          <a:solidFill>
            <a:schemeClr val="tx1"/>
          </a:solidFill>
          <a:latin typeface="+mn-lt"/>
          <a:ea typeface="+mn-ea"/>
          <a:cs typeface="+mn-cs"/>
        </a:defRPr>
      </a:lvl7pPr>
      <a:lvl8pPr marL="3199311" algn="l" defTabSz="914088" rtl="0" eaLnBrk="1" latinLnBrk="0" hangingPunct="1">
        <a:defRPr sz="1800" kern="1200">
          <a:solidFill>
            <a:schemeClr val="tx1"/>
          </a:solidFill>
          <a:latin typeface="+mn-lt"/>
          <a:ea typeface="+mn-ea"/>
          <a:cs typeface="+mn-cs"/>
        </a:defRPr>
      </a:lvl8pPr>
      <a:lvl9pPr marL="3656358" algn="l" defTabSz="91408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11151916" cy="200054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723594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5400" b="0" kern="1200" cap="none" spc="-100"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11151916" cy="200054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5743999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3" r:id="rId19"/>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5400" b="0" kern="1200" cap="none" spc="-100"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16.emf"/><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notesSlide" Target="../notesSlides/notesSlide11.xml"/><Relationship Id="rId4"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normAutofit/>
          </a:bodyPr>
          <a:lstStyle/>
          <a:p>
            <a:pPr marL="914400" indent="-914400"/>
            <a:r>
              <a:rPr lang="en-US" dirty="0" smtClean="0"/>
              <a:t>02 |  Windows Azure</a:t>
            </a:r>
            <a:br>
              <a:rPr lang="en-US" dirty="0" smtClean="0"/>
            </a:br>
            <a:r>
              <a:rPr lang="en-US" dirty="0" smtClean="0"/>
              <a:t>SQL Database Fundamentals</a:t>
            </a:r>
            <a:endParaRPr lang="en-US" dirty="0"/>
          </a:p>
        </p:txBody>
      </p:sp>
      <p:sp>
        <p:nvSpPr>
          <p:cNvPr id="4" name="Subtitle 3"/>
          <p:cNvSpPr>
            <a:spLocks noGrp="1"/>
          </p:cNvSpPr>
          <p:nvPr>
            <p:ph type="subTitle" idx="1"/>
          </p:nvPr>
        </p:nvSpPr>
        <p:spPr/>
        <p:txBody>
          <a:bodyPr/>
          <a:lstStyle/>
          <a:p>
            <a:r>
              <a:rPr lang="en-US" dirty="0"/>
              <a:t>Chris Auld | CTO – Intergen Limited, Azure MVP</a:t>
            </a:r>
          </a:p>
          <a:p>
            <a:r>
              <a:rPr lang="en-US" dirty="0"/>
              <a:t>Greg Leake | Director, </a:t>
            </a:r>
            <a:r>
              <a:rPr lang="en-US" dirty="0" smtClean="0"/>
              <a:t>SQL Server </a:t>
            </a:r>
            <a:r>
              <a:rPr lang="en-US" dirty="0"/>
              <a:t>Product Management</a:t>
            </a:r>
          </a:p>
        </p:txBody>
      </p:sp>
    </p:spTree>
    <p:extLst>
      <p:ext uri="{BB962C8B-B14F-4D97-AF65-F5344CB8AC3E}">
        <p14:creationId xmlns:p14="http://schemas.microsoft.com/office/powerpoint/2010/main" val="8976925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SQL Database Architecture</a:t>
            </a:r>
          </a:p>
          <a:p>
            <a:r>
              <a:rPr lang="en-GB" dirty="0" smtClean="0"/>
              <a:t>Tooling</a:t>
            </a:r>
          </a:p>
          <a:p>
            <a:r>
              <a:rPr lang="en-GB" dirty="0" smtClean="0"/>
              <a:t>Security</a:t>
            </a:r>
          </a:p>
          <a:p>
            <a:r>
              <a:rPr lang="en-GB" dirty="0" smtClean="0"/>
              <a:t>Monitoring</a:t>
            </a:r>
          </a:p>
          <a:p>
            <a:r>
              <a:rPr lang="en-GB" dirty="0" smtClean="0"/>
              <a:t>Backup</a:t>
            </a:r>
          </a:p>
          <a:p>
            <a:endParaRPr lang="en-GB" dirty="0" smtClean="0"/>
          </a:p>
        </p:txBody>
      </p:sp>
      <p:sp>
        <p:nvSpPr>
          <p:cNvPr id="2" name="Title 1"/>
          <p:cNvSpPr>
            <a:spLocks noGrp="1"/>
          </p:cNvSpPr>
          <p:nvPr>
            <p:ph type="title"/>
          </p:nvPr>
        </p:nvSpPr>
        <p:spPr/>
        <p:txBody>
          <a:bodyPr/>
          <a:lstStyle/>
          <a:p>
            <a:r>
              <a:rPr lang="en-US" smtClean="0"/>
              <a:t>Module Overview</a:t>
            </a:r>
            <a:endParaRPr lang="en-US" dirty="0"/>
          </a:p>
        </p:txBody>
      </p:sp>
    </p:spTree>
    <p:extLst>
      <p:ext uri="{BB962C8B-B14F-4D97-AF65-F5344CB8AC3E}">
        <p14:creationId xmlns:p14="http://schemas.microsoft.com/office/powerpoint/2010/main" val="3183499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1:</a:t>
            </a:r>
          </a:p>
          <a:p>
            <a:endParaRPr lang="en-NZ" sz="4400" dirty="0">
              <a:solidFill>
                <a:prstClr val="black"/>
              </a:solidFill>
            </a:endParaRPr>
          </a:p>
          <a:p>
            <a:r>
              <a:rPr lang="en-GB" sz="4400" dirty="0" smtClean="0">
                <a:solidFill>
                  <a:prstClr val="black"/>
                </a:solidFill>
              </a:rPr>
              <a:t>SQL Database Architecture</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3499854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hevron 5"/>
          <p:cNvSpPr/>
          <p:nvPr/>
        </p:nvSpPr>
        <p:spPr bwMode="auto">
          <a:xfrm>
            <a:off x="5349286" y="1905000"/>
            <a:ext cx="1441922" cy="1441922"/>
          </a:xfrm>
          <a:prstGeom prst="chevron">
            <a:avLst/>
          </a:prstGeom>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2400" dirty="0">
              <a:gradFill>
                <a:gsLst>
                  <a:gs pos="0">
                    <a:srgbClr val="FFFFFF"/>
                  </a:gs>
                  <a:gs pos="100000">
                    <a:srgbClr val="FFFFFF"/>
                  </a:gs>
                </a:gsLst>
                <a:lin ang="5400000" scaled="0"/>
              </a:gradFill>
            </a:endParaRPr>
          </a:p>
        </p:txBody>
      </p:sp>
      <p:sp>
        <p:nvSpPr>
          <p:cNvPr id="10" name="Chevron 9"/>
          <p:cNvSpPr/>
          <p:nvPr/>
        </p:nvSpPr>
        <p:spPr bwMode="auto">
          <a:xfrm>
            <a:off x="5369514" y="3802404"/>
            <a:ext cx="1441922" cy="1441922"/>
          </a:xfrm>
          <a:prstGeom prst="chevron">
            <a:avLst/>
          </a:prstGeom>
          <a:solidFill>
            <a:schemeClr val="accent4"/>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2400" dirty="0">
              <a:gradFill>
                <a:gsLst>
                  <a:gs pos="0">
                    <a:srgbClr val="FFFFFF"/>
                  </a:gs>
                  <a:gs pos="100000">
                    <a:srgbClr val="FFFFFF"/>
                  </a:gs>
                </a:gsLst>
                <a:lin ang="5400000" scaled="0"/>
              </a:gradFill>
            </a:endParaRPr>
          </a:p>
        </p:txBody>
      </p:sp>
      <p:sp>
        <p:nvSpPr>
          <p:cNvPr id="4" name="Title 3"/>
          <p:cNvSpPr>
            <a:spLocks noGrp="1"/>
          </p:cNvSpPr>
          <p:nvPr>
            <p:ph type="title"/>
          </p:nvPr>
        </p:nvSpPr>
        <p:spPr/>
        <p:txBody>
          <a:bodyPr/>
          <a:lstStyle/>
          <a:p>
            <a:r>
              <a:rPr lang="en-US" dirty="0"/>
              <a:t>A Server </a:t>
            </a:r>
            <a:r>
              <a:rPr lang="en-US" dirty="0" smtClean="0"/>
              <a:t>Is </a:t>
            </a:r>
            <a:r>
              <a:rPr lang="en-US" dirty="0"/>
              <a:t>N</a:t>
            </a:r>
            <a:r>
              <a:rPr lang="en-US" dirty="0" smtClean="0"/>
              <a:t>ot </a:t>
            </a:r>
            <a:r>
              <a:rPr lang="en-US" dirty="0"/>
              <a:t>A</a:t>
            </a:r>
            <a:r>
              <a:rPr lang="en-US" dirty="0" smtClean="0"/>
              <a:t> </a:t>
            </a:r>
            <a:r>
              <a:rPr lang="en-US" dirty="0"/>
              <a:t>Machine</a:t>
            </a:r>
          </a:p>
        </p:txBody>
      </p:sp>
      <p:sp>
        <p:nvSpPr>
          <p:cNvPr id="5" name="Rectangle 4"/>
          <p:cNvSpPr/>
          <p:nvPr/>
        </p:nvSpPr>
        <p:spPr bwMode="auto">
          <a:xfrm>
            <a:off x="3152186" y="1676400"/>
            <a:ext cx="1802402" cy="1802402"/>
          </a:xfrm>
          <a:prstGeom prst="rect">
            <a:avLst/>
          </a:prstGeom>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400" dirty="0">
                <a:gradFill>
                  <a:gsLst>
                    <a:gs pos="0">
                      <a:srgbClr val="FFFFFF"/>
                    </a:gs>
                    <a:gs pos="100000">
                      <a:srgbClr val="FFFFFF"/>
                    </a:gs>
                  </a:gsLst>
                  <a:lin ang="5400000" scaled="0"/>
                </a:gradFill>
              </a:rPr>
              <a:t>SQL Server</a:t>
            </a:r>
          </a:p>
        </p:txBody>
      </p:sp>
      <p:sp>
        <p:nvSpPr>
          <p:cNvPr id="8" name="Rectangle 7"/>
          <p:cNvSpPr/>
          <p:nvPr/>
        </p:nvSpPr>
        <p:spPr bwMode="auto">
          <a:xfrm>
            <a:off x="7254286" y="1676400"/>
            <a:ext cx="1802402" cy="1802402"/>
          </a:xfrm>
          <a:prstGeom prst="rect">
            <a:avLst/>
          </a:prstGeom>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400" dirty="0">
                <a:gradFill>
                  <a:gsLst>
                    <a:gs pos="0">
                      <a:srgbClr val="FFFFFF"/>
                    </a:gs>
                    <a:gs pos="100000">
                      <a:srgbClr val="FFFFFF"/>
                    </a:gs>
                  </a:gsLst>
                  <a:lin ang="5400000" scaled="0"/>
                </a:gradFill>
              </a:rPr>
              <a:t>A Machine</a:t>
            </a:r>
          </a:p>
        </p:txBody>
      </p:sp>
      <p:sp>
        <p:nvSpPr>
          <p:cNvPr id="9" name="Rectangle 8"/>
          <p:cNvSpPr/>
          <p:nvPr/>
        </p:nvSpPr>
        <p:spPr bwMode="auto">
          <a:xfrm>
            <a:off x="3139486" y="3688104"/>
            <a:ext cx="1802402" cy="1802402"/>
          </a:xfrm>
          <a:prstGeom prst="rect">
            <a:avLst/>
          </a:prstGeom>
          <a:solidFill>
            <a:schemeClr val="accent4"/>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400" dirty="0">
                <a:gradFill>
                  <a:gsLst>
                    <a:gs pos="0">
                      <a:srgbClr val="FFFFFF"/>
                    </a:gs>
                    <a:gs pos="100000">
                      <a:srgbClr val="FFFFFF"/>
                    </a:gs>
                  </a:gsLst>
                  <a:lin ang="5400000" scaled="0"/>
                </a:gradFill>
              </a:rPr>
              <a:t>SQL Database Server</a:t>
            </a:r>
          </a:p>
        </p:txBody>
      </p:sp>
      <p:sp>
        <p:nvSpPr>
          <p:cNvPr id="11" name="Rectangle 10"/>
          <p:cNvSpPr/>
          <p:nvPr/>
        </p:nvSpPr>
        <p:spPr bwMode="auto">
          <a:xfrm>
            <a:off x="7266986" y="3713504"/>
            <a:ext cx="1802402" cy="1802402"/>
          </a:xfrm>
          <a:prstGeom prst="rect">
            <a:avLst/>
          </a:prstGeom>
          <a:solidFill>
            <a:schemeClr val="accent4"/>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400" dirty="0">
                <a:gradFill>
                  <a:gsLst>
                    <a:gs pos="0">
                      <a:srgbClr val="FFFFFF"/>
                    </a:gs>
                    <a:gs pos="100000">
                      <a:srgbClr val="FFFFFF"/>
                    </a:gs>
                  </a:gsLst>
                  <a:lin ang="5400000" scaled="0"/>
                </a:gradFill>
              </a:rPr>
              <a:t>A </a:t>
            </a:r>
            <a:r>
              <a:rPr lang="en-US" sz="2400" dirty="0" smtClean="0">
                <a:gradFill>
                  <a:gsLst>
                    <a:gs pos="0">
                      <a:srgbClr val="FFFFFF"/>
                    </a:gs>
                    <a:gs pos="100000">
                      <a:srgbClr val="FFFFFF"/>
                    </a:gs>
                  </a:gsLst>
                  <a:lin ang="5400000" scaled="0"/>
                </a:gradFill>
              </a:rPr>
              <a:t>TDS</a:t>
            </a:r>
          </a:p>
          <a:p>
            <a:pPr algn="ctr" defTabSz="914099"/>
            <a:r>
              <a:rPr lang="en-US" sz="2400" dirty="0" smtClean="0">
                <a:gradFill>
                  <a:gsLst>
                    <a:gs pos="0">
                      <a:srgbClr val="FFFFFF"/>
                    </a:gs>
                    <a:gs pos="100000">
                      <a:srgbClr val="FFFFFF"/>
                    </a:gs>
                  </a:gsLst>
                  <a:lin ang="5400000" scaled="0"/>
                </a:gradFill>
              </a:rPr>
              <a:t>Proxy </a:t>
            </a:r>
            <a:r>
              <a:rPr lang="en-US" sz="2400" dirty="0">
                <a:gradFill>
                  <a:gsLst>
                    <a:gs pos="0">
                      <a:srgbClr val="FFFFFF"/>
                    </a:gs>
                    <a:gs pos="100000">
                      <a:srgbClr val="FFFFFF"/>
                    </a:gs>
                  </a:gsLst>
                  <a:lin ang="5400000" scaled="0"/>
                </a:gradFill>
              </a:rPr>
              <a:t>Endpoint</a:t>
            </a:r>
          </a:p>
        </p:txBody>
      </p:sp>
    </p:spTree>
    <p:extLst>
      <p:ext uri="{BB962C8B-B14F-4D97-AF65-F5344CB8AC3E}">
        <p14:creationId xmlns:p14="http://schemas.microsoft.com/office/powerpoint/2010/main" val="1043898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p:tgtEl>
                                          <p:spTgt spid="6"/>
                                        </p:tgtEl>
                                        <p:attrNameLst>
                                          <p:attrName>ppt_x</p:attrName>
                                        </p:attrNameLst>
                                      </p:cBhvr>
                                      <p:tavLst>
                                        <p:tav tm="0">
                                          <p:val>
                                            <p:strVal val="#ppt_x-#ppt_w*1.125000"/>
                                          </p:val>
                                        </p:tav>
                                        <p:tav tm="100000">
                                          <p:val>
                                            <p:strVal val="#ppt_x"/>
                                          </p:val>
                                        </p:tav>
                                      </p:tavLst>
                                    </p:anim>
                                    <p:animEffect transition="in" filter="wipe(right)">
                                      <p:cBhvr>
                                        <p:cTn id="12" dur="500"/>
                                        <p:tgtEl>
                                          <p:spTgt spid="6"/>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par>
                          <p:cTn id="22" fill="hold">
                            <p:stCondLst>
                              <p:cond delay="500"/>
                            </p:stCondLst>
                            <p:childTnLst>
                              <p:par>
                                <p:cTn id="23" presetID="12" presetClass="entr" presetSubtype="8"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p:tgtEl>
                                          <p:spTgt spid="10"/>
                                        </p:tgtEl>
                                        <p:attrNameLst>
                                          <p:attrName>ppt_x</p:attrName>
                                        </p:attrNameLst>
                                      </p:cBhvr>
                                      <p:tavLst>
                                        <p:tav tm="0">
                                          <p:val>
                                            <p:strVal val="#ppt_x-#ppt_w*1.125000"/>
                                          </p:val>
                                        </p:tav>
                                        <p:tav tm="100000">
                                          <p:val>
                                            <p:strVal val="#ppt_x"/>
                                          </p:val>
                                        </p:tav>
                                      </p:tavLst>
                                    </p:anim>
                                    <p:animEffect transition="in" filter="wipe(right)">
                                      <p:cBhvr>
                                        <p:cTn id="26" dur="500"/>
                                        <p:tgtEl>
                                          <p:spTgt spid="10"/>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5" grpId="0" animBg="1"/>
      <p:bldP spid="8" grpId="0" animBg="1"/>
      <p:bldP spid="9"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How It Works</a:t>
            </a:r>
          </a:p>
        </p:txBody>
      </p:sp>
      <p:pic>
        <p:nvPicPr>
          <p:cNvPr id="8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491" b="1379"/>
          <a:stretch/>
        </p:blipFill>
        <p:spPr bwMode="auto">
          <a:xfrm>
            <a:off x="2513695" y="881909"/>
            <a:ext cx="7194553" cy="57140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5077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How It Works</a:t>
            </a:r>
          </a:p>
        </p:txBody>
      </p:sp>
      <p:sp>
        <p:nvSpPr>
          <p:cNvPr id="30" name="Content Placeholder 2"/>
          <p:cNvSpPr txBox="1">
            <a:spLocks/>
          </p:cNvSpPr>
          <p:nvPr/>
        </p:nvSpPr>
        <p:spPr>
          <a:xfrm>
            <a:off x="512939" y="1434270"/>
            <a:ext cx="5573712" cy="4459315"/>
          </a:xfrm>
          <a:prstGeom prst="rect">
            <a:avLst/>
          </a:prstGeom>
        </p:spPr>
        <p:txBody>
          <a:bodyPr lIns="0" tIns="0" rIns="0" bIns="0"/>
          <a:lst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defTabSz="914325">
              <a:spcBef>
                <a:spcPts val="0"/>
              </a:spcBef>
              <a:spcAft>
                <a:spcPts val="300"/>
              </a:spcAft>
              <a:buNone/>
            </a:pPr>
            <a:r>
              <a:rPr lang="en-US" sz="3600" spc="-100" dirty="0">
                <a:solidFill>
                  <a:srgbClr val="00AEEF">
                    <a:alpha val="99000"/>
                  </a:srgbClr>
                </a:solidFill>
                <a:latin typeface="Segoe UI Light" pitchFamily="34" charset="0"/>
              </a:rPr>
              <a:t>Architecture</a:t>
            </a:r>
          </a:p>
          <a:p>
            <a:pPr marL="3175" lvl="1" indent="0" defTabSz="914325">
              <a:spcBef>
                <a:spcPts val="600"/>
              </a:spcBef>
              <a:buNone/>
            </a:pPr>
            <a:r>
              <a:rPr lang="en-US" sz="1800" spc="-51" dirty="0"/>
              <a:t>Client Layer -  Used by application to communicate directly with SQL Database.</a:t>
            </a:r>
          </a:p>
          <a:p>
            <a:pPr marL="3175" lvl="1" indent="0" defTabSz="914325">
              <a:spcBef>
                <a:spcPts val="600"/>
              </a:spcBef>
              <a:buNone/>
            </a:pPr>
            <a:r>
              <a:rPr lang="en-US" sz="1800" spc="-51" dirty="0"/>
              <a:t>Services Layer – Gateway between Client layer and Platform layer.</a:t>
            </a:r>
          </a:p>
          <a:p>
            <a:pPr marL="3175" lvl="1" indent="0" defTabSz="914325">
              <a:spcBef>
                <a:spcPts val="600"/>
              </a:spcBef>
              <a:buNone/>
            </a:pPr>
            <a:r>
              <a:rPr lang="en-US" sz="1800" spc="-51" dirty="0"/>
              <a:t>Platform Layer – Includes physical servicers and services that support the Services layer.</a:t>
            </a:r>
          </a:p>
          <a:p>
            <a:pPr marL="3175" lvl="1" indent="0" defTabSz="914325">
              <a:spcBef>
                <a:spcPts val="600"/>
              </a:spcBef>
              <a:buNone/>
            </a:pPr>
            <a:r>
              <a:rPr lang="en-US" sz="1800" spc="-51" dirty="0"/>
              <a:t>Infrastructure Layer – IT administration of the physical HW and OS.</a:t>
            </a:r>
            <a:br>
              <a:rPr lang="en-US" sz="1800" spc="-51" dirty="0"/>
            </a:br>
            <a:endParaRPr lang="en-US" sz="2400" dirty="0"/>
          </a:p>
        </p:txBody>
      </p:sp>
      <p:sp>
        <p:nvSpPr>
          <p:cNvPr id="79" name="Rectangle 78"/>
          <p:cNvSpPr/>
          <p:nvPr/>
        </p:nvSpPr>
        <p:spPr bwMode="auto">
          <a:xfrm>
            <a:off x="7518833" y="6336917"/>
            <a:ext cx="3976070" cy="235894"/>
          </a:xfrm>
          <a:prstGeom prst="rect">
            <a:avLst/>
          </a:prstGeom>
          <a:solidFill>
            <a:schemeClr val="accent6"/>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200" dirty="0">
                <a:gradFill>
                  <a:gsLst>
                    <a:gs pos="0">
                      <a:srgbClr val="FFFFFF"/>
                    </a:gs>
                    <a:gs pos="100000">
                      <a:srgbClr val="FFFFFF"/>
                    </a:gs>
                  </a:gsLst>
                  <a:lin ang="5400000" scaled="0"/>
                </a:gradFill>
              </a:rPr>
              <a:t>Infrastructure Layer</a:t>
            </a:r>
          </a:p>
        </p:txBody>
      </p:sp>
      <p:grpSp>
        <p:nvGrpSpPr>
          <p:cNvPr id="80" name="Group 79"/>
          <p:cNvGrpSpPr/>
          <p:nvPr/>
        </p:nvGrpSpPr>
        <p:grpSpPr>
          <a:xfrm>
            <a:off x="7567284" y="711292"/>
            <a:ext cx="3976070" cy="1445954"/>
            <a:chOff x="7517245" y="738821"/>
            <a:chExt cx="3976070" cy="1445954"/>
          </a:xfrm>
        </p:grpSpPr>
        <p:sp>
          <p:nvSpPr>
            <p:cNvPr id="3" name="Rectangle 2"/>
            <p:cNvSpPr/>
            <p:nvPr/>
          </p:nvSpPr>
          <p:spPr bwMode="auto">
            <a:xfrm>
              <a:off x="7517245" y="914037"/>
              <a:ext cx="932688" cy="685800"/>
            </a:xfrm>
            <a:prstGeom prst="rect">
              <a:avLst/>
            </a:prstGeom>
            <a:solidFill>
              <a:schemeClr val="accent2">
                <a:lumMod val="60000"/>
                <a:lumOff val="4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200" dirty="0">
                  <a:gradFill>
                    <a:gsLst>
                      <a:gs pos="0">
                        <a:srgbClr val="292929"/>
                      </a:gs>
                      <a:gs pos="100000">
                        <a:srgbClr val="292929"/>
                      </a:gs>
                    </a:gsLst>
                    <a:lin ang="5400000" scaled="0"/>
                  </a:gradFill>
                </a:rPr>
                <a:t>PHP</a:t>
              </a:r>
            </a:p>
          </p:txBody>
        </p:sp>
        <p:sp>
          <p:nvSpPr>
            <p:cNvPr id="39" name="Rectangle 38"/>
            <p:cNvSpPr/>
            <p:nvPr/>
          </p:nvSpPr>
          <p:spPr bwMode="auto">
            <a:xfrm>
              <a:off x="10270836" y="914037"/>
              <a:ext cx="1222479" cy="685800"/>
            </a:xfrm>
            <a:prstGeom prst="rect">
              <a:avLst/>
            </a:prstGeom>
            <a:solidFill>
              <a:schemeClr val="accent2">
                <a:lumMod val="60000"/>
                <a:lumOff val="4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200" dirty="0">
                  <a:gradFill>
                    <a:gsLst>
                      <a:gs pos="0">
                        <a:srgbClr val="292929"/>
                      </a:gs>
                      <a:gs pos="100000">
                        <a:srgbClr val="292929"/>
                      </a:gs>
                    </a:gsLst>
                    <a:lin ang="5400000" scaled="0"/>
                  </a:gradFill>
                </a:rPr>
                <a:t>WCF Data Services</a:t>
              </a:r>
            </a:p>
          </p:txBody>
        </p:sp>
        <p:sp>
          <p:nvSpPr>
            <p:cNvPr id="40" name="Rectangle 39"/>
            <p:cNvSpPr/>
            <p:nvPr/>
          </p:nvSpPr>
          <p:spPr bwMode="auto">
            <a:xfrm>
              <a:off x="8556153" y="914037"/>
              <a:ext cx="1631556" cy="685800"/>
            </a:xfrm>
            <a:prstGeom prst="rect">
              <a:avLst/>
            </a:prstGeom>
            <a:solidFill>
              <a:schemeClr val="accent2">
                <a:lumMod val="60000"/>
                <a:lumOff val="4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200" dirty="0">
                  <a:gradFill>
                    <a:gsLst>
                      <a:gs pos="0">
                        <a:srgbClr val="292929"/>
                      </a:gs>
                      <a:gs pos="100000">
                        <a:srgbClr val="292929"/>
                      </a:gs>
                    </a:gsLst>
                    <a:lin ang="5400000" scaled="0"/>
                  </a:gradFill>
                </a:rPr>
                <a:t>SQL Server</a:t>
              </a:r>
            </a:p>
            <a:p>
              <a:pPr algn="ctr" defTabSz="914099" fontAlgn="base">
                <a:spcBef>
                  <a:spcPct val="0"/>
                </a:spcBef>
                <a:spcAft>
                  <a:spcPct val="0"/>
                </a:spcAft>
              </a:pPr>
              <a:r>
                <a:rPr lang="en-US" sz="1200" dirty="0">
                  <a:gradFill>
                    <a:gsLst>
                      <a:gs pos="0">
                        <a:srgbClr val="292929"/>
                      </a:gs>
                      <a:gs pos="100000">
                        <a:srgbClr val="292929"/>
                      </a:gs>
                    </a:gsLst>
                    <a:lin ang="5400000" scaled="0"/>
                  </a:gradFill>
                </a:rPr>
                <a:t>Applications</a:t>
              </a:r>
            </a:p>
            <a:p>
              <a:pPr algn="ctr" defTabSz="914099" fontAlgn="base">
                <a:spcBef>
                  <a:spcPct val="0"/>
                </a:spcBef>
                <a:spcAft>
                  <a:spcPct val="0"/>
                </a:spcAft>
              </a:pPr>
              <a:r>
                <a:rPr lang="en-US" sz="1200" dirty="0">
                  <a:gradFill>
                    <a:gsLst>
                      <a:gs pos="0">
                        <a:srgbClr val="292929"/>
                      </a:gs>
                      <a:gs pos="100000">
                        <a:srgbClr val="292929"/>
                      </a:gs>
                    </a:gsLst>
                    <a:lin ang="5400000" scaled="0"/>
                  </a:gradFill>
                </a:rPr>
                <a:t>and Tools</a:t>
              </a:r>
            </a:p>
          </p:txBody>
        </p:sp>
        <p:sp>
          <p:nvSpPr>
            <p:cNvPr id="41" name="Rectangle 40"/>
            <p:cNvSpPr/>
            <p:nvPr/>
          </p:nvSpPr>
          <p:spPr bwMode="auto">
            <a:xfrm>
              <a:off x="7517245" y="1657566"/>
              <a:ext cx="2005446" cy="235894"/>
            </a:xfrm>
            <a:prstGeom prst="rect">
              <a:avLst/>
            </a:prstGeom>
            <a:solidFill>
              <a:schemeClr val="accent2">
                <a:lumMod val="60000"/>
                <a:lumOff val="4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200" dirty="0" smtClean="0">
                  <a:gradFill>
                    <a:gsLst>
                      <a:gs pos="0">
                        <a:srgbClr val="292929"/>
                      </a:gs>
                      <a:gs pos="100000">
                        <a:srgbClr val="292929"/>
                      </a:gs>
                    </a:gsLst>
                    <a:lin ang="5400000" scaled="0"/>
                  </a:gradFill>
                </a:rPr>
                <a:t>ODBC/JDBC</a:t>
              </a:r>
              <a:endParaRPr lang="en-US" sz="1200" dirty="0">
                <a:gradFill>
                  <a:gsLst>
                    <a:gs pos="0">
                      <a:srgbClr val="292929"/>
                    </a:gs>
                    <a:gs pos="100000">
                      <a:srgbClr val="292929"/>
                    </a:gs>
                  </a:gsLst>
                  <a:lin ang="5400000" scaled="0"/>
                </a:gradFill>
              </a:endParaRPr>
            </a:p>
          </p:txBody>
        </p:sp>
        <p:sp>
          <p:nvSpPr>
            <p:cNvPr id="42" name="Rectangle 41"/>
            <p:cNvSpPr/>
            <p:nvPr/>
          </p:nvSpPr>
          <p:spPr bwMode="auto">
            <a:xfrm>
              <a:off x="9642764" y="1657566"/>
              <a:ext cx="1850551" cy="235894"/>
            </a:xfrm>
            <a:prstGeom prst="rect">
              <a:avLst/>
            </a:prstGeom>
            <a:solidFill>
              <a:schemeClr val="accent2">
                <a:lumMod val="60000"/>
                <a:lumOff val="4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200" dirty="0">
                  <a:gradFill>
                    <a:gsLst>
                      <a:gs pos="0">
                        <a:srgbClr val="292929"/>
                      </a:gs>
                      <a:gs pos="100000">
                        <a:srgbClr val="292929"/>
                      </a:gs>
                    </a:gsLst>
                    <a:lin ang="5400000" scaled="0"/>
                  </a:gradFill>
                </a:rPr>
                <a:t>ADO.NET</a:t>
              </a:r>
            </a:p>
          </p:txBody>
        </p:sp>
        <p:sp>
          <p:nvSpPr>
            <p:cNvPr id="43" name="Rectangle 42"/>
            <p:cNvSpPr/>
            <p:nvPr/>
          </p:nvSpPr>
          <p:spPr bwMode="auto">
            <a:xfrm>
              <a:off x="7517245" y="1948881"/>
              <a:ext cx="3976070" cy="235894"/>
            </a:xfrm>
            <a:prstGeom prst="rect">
              <a:avLst/>
            </a:prstGeom>
            <a:solidFill>
              <a:schemeClr val="accent2">
                <a:lumMod val="60000"/>
                <a:lumOff val="4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200" dirty="0">
                  <a:gradFill>
                    <a:gsLst>
                      <a:gs pos="0">
                        <a:srgbClr val="292929"/>
                      </a:gs>
                      <a:gs pos="100000">
                        <a:srgbClr val="292929"/>
                      </a:gs>
                    </a:gsLst>
                    <a:lin ang="5400000" scaled="0"/>
                  </a:gradFill>
                </a:rPr>
                <a:t>Tabular Data Stream (TDS)</a:t>
              </a:r>
            </a:p>
          </p:txBody>
        </p:sp>
        <p:sp>
          <p:nvSpPr>
            <p:cNvPr id="83" name="TextBox 82"/>
            <p:cNvSpPr txBox="1"/>
            <p:nvPr/>
          </p:nvSpPr>
          <p:spPr>
            <a:xfrm>
              <a:off x="9144049" y="738821"/>
              <a:ext cx="708527" cy="138499"/>
            </a:xfrm>
            <a:prstGeom prst="rect">
              <a:avLst/>
            </a:prstGeom>
            <a:noFill/>
          </p:spPr>
          <p:txBody>
            <a:bodyPr wrap="none" lIns="0" tIns="0" rIns="0" bIns="0" rtlCol="0">
              <a:spAutoFit/>
            </a:bodyPr>
            <a:lstStyle/>
            <a:p>
              <a:pPr defTabSz="914363">
                <a:lnSpc>
                  <a:spcPct val="90000"/>
                </a:lnSpc>
                <a:spcBef>
                  <a:spcPct val="20000"/>
                </a:spcBef>
                <a:buSzPct val="80000"/>
              </a:pPr>
              <a:r>
                <a:rPr lang="en-US" sz="1000" b="1" dirty="0">
                  <a:gradFill>
                    <a:gsLst>
                      <a:gs pos="0">
                        <a:srgbClr val="292929"/>
                      </a:gs>
                      <a:gs pos="100000">
                        <a:srgbClr val="292929"/>
                      </a:gs>
                    </a:gsLst>
                    <a:lin ang="5400000" scaled="0"/>
                  </a:gradFill>
                </a:rPr>
                <a:t>Client Layer</a:t>
              </a:r>
              <a:endParaRPr lang="en-US" sz="1200" b="1" dirty="0">
                <a:gradFill>
                  <a:gsLst>
                    <a:gs pos="0">
                      <a:srgbClr val="292929"/>
                    </a:gs>
                    <a:gs pos="100000">
                      <a:srgbClr val="292929"/>
                    </a:gs>
                  </a:gsLst>
                  <a:lin ang="5400000" scaled="0"/>
                </a:gradFill>
              </a:endParaRPr>
            </a:p>
          </p:txBody>
        </p:sp>
      </p:grpSp>
      <p:grpSp>
        <p:nvGrpSpPr>
          <p:cNvPr id="91" name="Group 90"/>
          <p:cNvGrpSpPr/>
          <p:nvPr/>
        </p:nvGrpSpPr>
        <p:grpSpPr>
          <a:xfrm>
            <a:off x="7518833" y="2203204"/>
            <a:ext cx="3976070" cy="2084188"/>
            <a:chOff x="7517245" y="2203204"/>
            <a:chExt cx="3976070" cy="2084188"/>
          </a:xfrm>
        </p:grpSpPr>
        <p:cxnSp>
          <p:nvCxnSpPr>
            <p:cNvPr id="13" name="Straight Connector 12"/>
            <p:cNvCxnSpPr/>
            <p:nvPr/>
          </p:nvCxnSpPr>
          <p:spPr>
            <a:xfrm>
              <a:off x="7517245" y="2382991"/>
              <a:ext cx="397607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bwMode="auto">
            <a:xfrm>
              <a:off x="7517245" y="2486300"/>
              <a:ext cx="3976070" cy="1801092"/>
            </a:xfrm>
            <a:prstGeom prst="rect">
              <a:avLst/>
            </a:prstGeom>
            <a:solidFill>
              <a:schemeClr val="accent2"/>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t" anchorCtr="0" compatLnSpc="1">
              <a:prstTxWarp prst="textNoShape">
                <a:avLst/>
              </a:prstTxWarp>
            </a:bodyPr>
            <a:lstStyle/>
            <a:p>
              <a:pPr algn="ctr" defTabSz="914099" fontAlgn="base">
                <a:spcBef>
                  <a:spcPct val="0"/>
                </a:spcBef>
                <a:spcAft>
                  <a:spcPct val="0"/>
                </a:spcAft>
              </a:pPr>
              <a:r>
                <a:rPr lang="en-US" sz="1400" dirty="0">
                  <a:gradFill>
                    <a:gsLst>
                      <a:gs pos="0">
                        <a:srgbClr val="FFFFFF"/>
                      </a:gs>
                      <a:gs pos="100000">
                        <a:srgbClr val="FFFFFF"/>
                      </a:gs>
                    </a:gsLst>
                    <a:lin ang="5400000" scaled="0"/>
                  </a:gradFill>
                </a:rPr>
                <a:t>Services Layer</a:t>
              </a:r>
            </a:p>
          </p:txBody>
        </p:sp>
        <p:sp>
          <p:nvSpPr>
            <p:cNvPr id="46" name="Rectangle 45"/>
            <p:cNvSpPr/>
            <p:nvPr/>
          </p:nvSpPr>
          <p:spPr bwMode="auto">
            <a:xfrm>
              <a:off x="8959585" y="2802550"/>
              <a:ext cx="1091389" cy="1420185"/>
            </a:xfrm>
            <a:prstGeom prst="rect">
              <a:avLst/>
            </a:prstGeom>
            <a:solidFill>
              <a:schemeClr val="accent6"/>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292929"/>
                    </a:gs>
                    <a:gs pos="100000">
                      <a:srgbClr val="292929"/>
                    </a:gs>
                  </a:gsLst>
                  <a:lin ang="5400000" scaled="0"/>
                </a:gradFill>
              </a:endParaRPr>
            </a:p>
          </p:txBody>
        </p:sp>
        <p:sp>
          <p:nvSpPr>
            <p:cNvPr id="50" name="Rectangle 49"/>
            <p:cNvSpPr/>
            <p:nvPr/>
          </p:nvSpPr>
          <p:spPr bwMode="auto">
            <a:xfrm>
              <a:off x="9048079" y="2898321"/>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Provisioning</a:t>
              </a:r>
            </a:p>
          </p:txBody>
        </p:sp>
        <p:sp>
          <p:nvSpPr>
            <p:cNvPr id="51" name="Rectangle 50"/>
            <p:cNvSpPr/>
            <p:nvPr/>
          </p:nvSpPr>
          <p:spPr bwMode="auto">
            <a:xfrm>
              <a:off x="9048079" y="3330871"/>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Billing and Metering</a:t>
              </a:r>
            </a:p>
          </p:txBody>
        </p:sp>
        <p:sp>
          <p:nvSpPr>
            <p:cNvPr id="52" name="Rectangle 51"/>
            <p:cNvSpPr/>
            <p:nvPr/>
          </p:nvSpPr>
          <p:spPr bwMode="auto">
            <a:xfrm>
              <a:off x="9048079" y="3760362"/>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Connection Routing</a:t>
              </a:r>
            </a:p>
          </p:txBody>
        </p:sp>
        <p:sp>
          <p:nvSpPr>
            <p:cNvPr id="53" name="Rectangle 52"/>
            <p:cNvSpPr/>
            <p:nvPr/>
          </p:nvSpPr>
          <p:spPr bwMode="auto">
            <a:xfrm>
              <a:off x="10150997" y="2802550"/>
              <a:ext cx="1091389" cy="1420185"/>
            </a:xfrm>
            <a:prstGeom prst="rect">
              <a:avLst/>
            </a:prstGeom>
            <a:solidFill>
              <a:schemeClr val="accent6"/>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292929"/>
                    </a:gs>
                    <a:gs pos="100000">
                      <a:srgbClr val="292929"/>
                    </a:gs>
                  </a:gsLst>
                  <a:lin ang="5400000" scaled="0"/>
                </a:gradFill>
              </a:endParaRPr>
            </a:p>
          </p:txBody>
        </p:sp>
        <p:sp>
          <p:nvSpPr>
            <p:cNvPr id="54" name="Rectangle 53"/>
            <p:cNvSpPr/>
            <p:nvPr/>
          </p:nvSpPr>
          <p:spPr bwMode="auto">
            <a:xfrm>
              <a:off x="10239491" y="2898321"/>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Provisioning</a:t>
              </a:r>
            </a:p>
          </p:txBody>
        </p:sp>
        <p:sp>
          <p:nvSpPr>
            <p:cNvPr id="55" name="Rectangle 54"/>
            <p:cNvSpPr/>
            <p:nvPr/>
          </p:nvSpPr>
          <p:spPr bwMode="auto">
            <a:xfrm>
              <a:off x="10239491" y="3330871"/>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Billing and Metering</a:t>
              </a:r>
            </a:p>
          </p:txBody>
        </p:sp>
        <p:sp>
          <p:nvSpPr>
            <p:cNvPr id="56" name="Rectangle 55"/>
            <p:cNvSpPr/>
            <p:nvPr/>
          </p:nvSpPr>
          <p:spPr bwMode="auto">
            <a:xfrm>
              <a:off x="10239491" y="3760362"/>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Connection Routing</a:t>
              </a:r>
            </a:p>
          </p:txBody>
        </p:sp>
        <p:sp>
          <p:nvSpPr>
            <p:cNvPr id="57" name="Rectangle 56"/>
            <p:cNvSpPr/>
            <p:nvPr/>
          </p:nvSpPr>
          <p:spPr bwMode="auto">
            <a:xfrm>
              <a:off x="7754240" y="2802550"/>
              <a:ext cx="1091389" cy="1420185"/>
            </a:xfrm>
            <a:prstGeom prst="rect">
              <a:avLst/>
            </a:prstGeom>
            <a:solidFill>
              <a:schemeClr val="accent6"/>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292929"/>
                    </a:gs>
                    <a:gs pos="100000">
                      <a:srgbClr val="292929"/>
                    </a:gs>
                  </a:gsLst>
                  <a:lin ang="5400000" scaled="0"/>
                </a:gradFill>
              </a:endParaRPr>
            </a:p>
          </p:txBody>
        </p:sp>
        <p:sp>
          <p:nvSpPr>
            <p:cNvPr id="58" name="Rectangle 57"/>
            <p:cNvSpPr/>
            <p:nvPr/>
          </p:nvSpPr>
          <p:spPr bwMode="auto">
            <a:xfrm>
              <a:off x="7842734" y="2898321"/>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Provisioning</a:t>
              </a:r>
            </a:p>
          </p:txBody>
        </p:sp>
        <p:sp>
          <p:nvSpPr>
            <p:cNvPr id="59" name="Rectangle 58"/>
            <p:cNvSpPr/>
            <p:nvPr/>
          </p:nvSpPr>
          <p:spPr bwMode="auto">
            <a:xfrm>
              <a:off x="7842734" y="3330871"/>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Billing and Metering</a:t>
              </a:r>
            </a:p>
          </p:txBody>
        </p:sp>
        <p:sp>
          <p:nvSpPr>
            <p:cNvPr id="60" name="Rectangle 59"/>
            <p:cNvSpPr/>
            <p:nvPr/>
          </p:nvSpPr>
          <p:spPr bwMode="auto">
            <a:xfrm>
              <a:off x="7842734" y="3760362"/>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Connection Routing</a:t>
              </a:r>
            </a:p>
          </p:txBody>
        </p:sp>
        <p:sp>
          <p:nvSpPr>
            <p:cNvPr id="17" name="TextBox 16"/>
            <p:cNvSpPr txBox="1"/>
            <p:nvPr/>
          </p:nvSpPr>
          <p:spPr>
            <a:xfrm>
              <a:off x="11286837" y="2992518"/>
              <a:ext cx="141064" cy="166199"/>
            </a:xfrm>
            <a:prstGeom prst="rect">
              <a:avLst/>
            </a:prstGeom>
            <a:noFill/>
          </p:spPr>
          <p:txBody>
            <a:bodyPr wrap="none" lIns="0" tIns="0" rIns="0" bIns="0" rtlCol="0">
              <a:spAutoFit/>
            </a:bodyPr>
            <a:lstStyle/>
            <a:p>
              <a:pPr defTabSz="914363">
                <a:lnSpc>
                  <a:spcPct val="90000"/>
                </a:lnSpc>
                <a:spcBef>
                  <a:spcPct val="20000"/>
                </a:spcBef>
                <a:buSzPct val="80000"/>
              </a:pPr>
              <a:r>
                <a:rPr lang="en-US" sz="1200" b="1" dirty="0">
                  <a:gradFill>
                    <a:gsLst>
                      <a:gs pos="0">
                        <a:srgbClr val="FFFFFF"/>
                      </a:gs>
                      <a:gs pos="100000">
                        <a:srgbClr val="FFFFFF"/>
                      </a:gs>
                    </a:gsLst>
                    <a:lin ang="5400000" scaled="0"/>
                  </a:gradFill>
                </a:rPr>
                <a:t>…</a:t>
              </a:r>
            </a:p>
          </p:txBody>
        </p:sp>
        <p:sp>
          <p:nvSpPr>
            <p:cNvPr id="61" name="TextBox 60"/>
            <p:cNvSpPr txBox="1"/>
            <p:nvPr/>
          </p:nvSpPr>
          <p:spPr>
            <a:xfrm>
              <a:off x="11286837" y="3425068"/>
              <a:ext cx="141064" cy="166199"/>
            </a:xfrm>
            <a:prstGeom prst="rect">
              <a:avLst/>
            </a:prstGeom>
            <a:noFill/>
          </p:spPr>
          <p:txBody>
            <a:bodyPr wrap="none" lIns="0" tIns="0" rIns="0" bIns="0" rtlCol="0">
              <a:spAutoFit/>
            </a:bodyPr>
            <a:lstStyle/>
            <a:p>
              <a:pPr defTabSz="914363">
                <a:lnSpc>
                  <a:spcPct val="90000"/>
                </a:lnSpc>
                <a:spcBef>
                  <a:spcPct val="20000"/>
                </a:spcBef>
                <a:buSzPct val="80000"/>
              </a:pPr>
              <a:r>
                <a:rPr lang="en-US" sz="1200" b="1" dirty="0">
                  <a:gradFill>
                    <a:gsLst>
                      <a:gs pos="0">
                        <a:srgbClr val="FFFFFF"/>
                      </a:gs>
                      <a:gs pos="100000">
                        <a:srgbClr val="FFFFFF"/>
                      </a:gs>
                    </a:gsLst>
                    <a:lin ang="5400000" scaled="0"/>
                  </a:gradFill>
                </a:rPr>
                <a:t>…</a:t>
              </a:r>
            </a:p>
          </p:txBody>
        </p:sp>
        <p:sp>
          <p:nvSpPr>
            <p:cNvPr id="62" name="TextBox 61"/>
            <p:cNvSpPr txBox="1"/>
            <p:nvPr/>
          </p:nvSpPr>
          <p:spPr>
            <a:xfrm>
              <a:off x="11286837" y="3854559"/>
              <a:ext cx="141064" cy="166199"/>
            </a:xfrm>
            <a:prstGeom prst="rect">
              <a:avLst/>
            </a:prstGeom>
            <a:noFill/>
          </p:spPr>
          <p:txBody>
            <a:bodyPr wrap="none" lIns="0" tIns="0" rIns="0" bIns="0" rtlCol="0">
              <a:spAutoFit/>
            </a:bodyPr>
            <a:lstStyle/>
            <a:p>
              <a:pPr defTabSz="914363">
                <a:lnSpc>
                  <a:spcPct val="90000"/>
                </a:lnSpc>
                <a:spcBef>
                  <a:spcPct val="20000"/>
                </a:spcBef>
                <a:buSzPct val="80000"/>
              </a:pPr>
              <a:r>
                <a:rPr lang="en-US" sz="1200" b="1" dirty="0">
                  <a:gradFill>
                    <a:gsLst>
                      <a:gs pos="0">
                        <a:srgbClr val="FFFFFF"/>
                      </a:gs>
                      <a:gs pos="100000">
                        <a:srgbClr val="FFFFFF"/>
                      </a:gs>
                    </a:gsLst>
                    <a:lin ang="5400000" scaled="0"/>
                  </a:gradFill>
                </a:rPr>
                <a:t>…</a:t>
              </a:r>
            </a:p>
          </p:txBody>
        </p:sp>
        <p:cxnSp>
          <p:nvCxnSpPr>
            <p:cNvPr id="82" name="Straight Arrow Connector 81"/>
            <p:cNvCxnSpPr/>
            <p:nvPr/>
          </p:nvCxnSpPr>
          <p:spPr>
            <a:xfrm flipV="1">
              <a:off x="9534277" y="2243104"/>
              <a:ext cx="0" cy="243196"/>
            </a:xfrm>
            <a:prstGeom prst="straightConnector1">
              <a:avLst/>
            </a:prstGeom>
            <a:ln>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9610327" y="2203204"/>
              <a:ext cx="512961" cy="138499"/>
            </a:xfrm>
            <a:prstGeom prst="rect">
              <a:avLst/>
            </a:prstGeom>
            <a:noFill/>
          </p:spPr>
          <p:txBody>
            <a:bodyPr wrap="none" lIns="0" tIns="0" rIns="0" bIns="0" rtlCol="0">
              <a:spAutoFit/>
            </a:bodyPr>
            <a:lstStyle/>
            <a:p>
              <a:pPr defTabSz="914363">
                <a:lnSpc>
                  <a:spcPct val="90000"/>
                </a:lnSpc>
                <a:spcBef>
                  <a:spcPct val="20000"/>
                </a:spcBef>
                <a:buSzPct val="80000"/>
              </a:pPr>
              <a:r>
                <a:rPr lang="en-US" sz="1000" dirty="0">
                  <a:gradFill>
                    <a:gsLst>
                      <a:gs pos="0">
                        <a:srgbClr val="292929"/>
                      </a:gs>
                      <a:gs pos="100000">
                        <a:srgbClr val="292929"/>
                      </a:gs>
                    </a:gsLst>
                    <a:lin ang="5400000" scaled="0"/>
                  </a:gradFill>
                </a:rPr>
                <a:t>TDS+SSL</a:t>
              </a:r>
            </a:p>
          </p:txBody>
        </p:sp>
      </p:grpSp>
      <p:grpSp>
        <p:nvGrpSpPr>
          <p:cNvPr id="3072" name="Group 3071"/>
          <p:cNvGrpSpPr/>
          <p:nvPr/>
        </p:nvGrpSpPr>
        <p:grpSpPr>
          <a:xfrm>
            <a:off x="7518832" y="4348917"/>
            <a:ext cx="3976070" cy="1931810"/>
            <a:chOff x="7517244" y="4348917"/>
            <a:chExt cx="3976070" cy="1931810"/>
          </a:xfrm>
        </p:grpSpPr>
        <p:sp>
          <p:nvSpPr>
            <p:cNvPr id="63" name="Rectangle 62"/>
            <p:cNvSpPr/>
            <p:nvPr/>
          </p:nvSpPr>
          <p:spPr bwMode="auto">
            <a:xfrm>
              <a:off x="7517244" y="4348917"/>
              <a:ext cx="3976070" cy="1931810"/>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t" anchorCtr="0" compatLnSpc="1">
              <a:prstTxWarp prst="textNoShape">
                <a:avLst/>
              </a:prstTxWarp>
            </a:bodyPr>
            <a:lstStyle/>
            <a:p>
              <a:pPr algn="ctr" defTabSz="914099" fontAlgn="base">
                <a:spcBef>
                  <a:spcPct val="0"/>
                </a:spcBef>
                <a:spcAft>
                  <a:spcPct val="0"/>
                </a:spcAft>
              </a:pPr>
              <a:r>
                <a:rPr lang="en-US" sz="1400" dirty="0">
                  <a:gradFill>
                    <a:gsLst>
                      <a:gs pos="0">
                        <a:srgbClr val="FFFFFF"/>
                      </a:gs>
                      <a:gs pos="100000">
                        <a:srgbClr val="FFFFFF"/>
                      </a:gs>
                    </a:gsLst>
                    <a:lin ang="5400000" scaled="0"/>
                  </a:gradFill>
                </a:rPr>
                <a:t>Platform Layer</a:t>
              </a:r>
            </a:p>
          </p:txBody>
        </p:sp>
        <p:sp>
          <p:nvSpPr>
            <p:cNvPr id="64" name="Rectangle 63"/>
            <p:cNvSpPr/>
            <p:nvPr/>
          </p:nvSpPr>
          <p:spPr bwMode="auto">
            <a:xfrm>
              <a:off x="8959584" y="4645139"/>
              <a:ext cx="1091389" cy="1420185"/>
            </a:xfrm>
            <a:prstGeom prst="rect">
              <a:avLst/>
            </a:prstGeom>
            <a:solidFill>
              <a:schemeClr val="accent6"/>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292929"/>
                    </a:gs>
                    <a:gs pos="100000">
                      <a:srgbClr val="292929"/>
                    </a:gs>
                  </a:gsLst>
                  <a:lin ang="5400000" scaled="0"/>
                </a:gradFill>
              </a:endParaRPr>
            </a:p>
          </p:txBody>
        </p:sp>
        <p:sp>
          <p:nvSpPr>
            <p:cNvPr id="65" name="Rectangle 64"/>
            <p:cNvSpPr/>
            <p:nvPr/>
          </p:nvSpPr>
          <p:spPr bwMode="auto">
            <a:xfrm>
              <a:off x="9048078" y="4740910"/>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SQL Server</a:t>
              </a:r>
            </a:p>
          </p:txBody>
        </p:sp>
        <p:sp>
          <p:nvSpPr>
            <p:cNvPr id="66" name="Rectangle 65"/>
            <p:cNvSpPr/>
            <p:nvPr/>
          </p:nvSpPr>
          <p:spPr bwMode="auto">
            <a:xfrm>
              <a:off x="9048078" y="5173460"/>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SQL Database Fabric</a:t>
              </a:r>
            </a:p>
          </p:txBody>
        </p:sp>
        <p:sp>
          <p:nvSpPr>
            <p:cNvPr id="67" name="Rectangle 66"/>
            <p:cNvSpPr/>
            <p:nvPr/>
          </p:nvSpPr>
          <p:spPr bwMode="auto">
            <a:xfrm>
              <a:off x="9048078" y="5602951"/>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Management Services</a:t>
              </a:r>
            </a:p>
          </p:txBody>
        </p:sp>
        <p:sp>
          <p:nvSpPr>
            <p:cNvPr id="68" name="Rectangle 67"/>
            <p:cNvSpPr/>
            <p:nvPr/>
          </p:nvSpPr>
          <p:spPr bwMode="auto">
            <a:xfrm>
              <a:off x="10150996" y="4636189"/>
              <a:ext cx="1091389" cy="1420185"/>
            </a:xfrm>
            <a:prstGeom prst="rect">
              <a:avLst/>
            </a:prstGeom>
            <a:solidFill>
              <a:schemeClr val="accent6"/>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292929"/>
                    </a:gs>
                    <a:gs pos="100000">
                      <a:srgbClr val="292929"/>
                    </a:gs>
                  </a:gsLst>
                  <a:lin ang="5400000" scaled="0"/>
                </a:gradFill>
              </a:endParaRPr>
            </a:p>
          </p:txBody>
        </p:sp>
        <p:sp>
          <p:nvSpPr>
            <p:cNvPr id="69" name="Rectangle 68"/>
            <p:cNvSpPr/>
            <p:nvPr/>
          </p:nvSpPr>
          <p:spPr bwMode="auto">
            <a:xfrm>
              <a:off x="10239490" y="4731960"/>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SQL Server</a:t>
              </a:r>
            </a:p>
          </p:txBody>
        </p:sp>
        <p:sp>
          <p:nvSpPr>
            <p:cNvPr id="70" name="Rectangle 69"/>
            <p:cNvSpPr/>
            <p:nvPr/>
          </p:nvSpPr>
          <p:spPr bwMode="auto">
            <a:xfrm>
              <a:off x="10239490" y="5164510"/>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SQL Database Fabric</a:t>
              </a:r>
            </a:p>
          </p:txBody>
        </p:sp>
        <p:sp>
          <p:nvSpPr>
            <p:cNvPr id="71" name="Rectangle 70"/>
            <p:cNvSpPr/>
            <p:nvPr/>
          </p:nvSpPr>
          <p:spPr bwMode="auto">
            <a:xfrm>
              <a:off x="10239490" y="5594001"/>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Management Services</a:t>
              </a:r>
            </a:p>
          </p:txBody>
        </p:sp>
        <p:sp>
          <p:nvSpPr>
            <p:cNvPr id="72" name="Rectangle 71"/>
            <p:cNvSpPr/>
            <p:nvPr/>
          </p:nvSpPr>
          <p:spPr bwMode="auto">
            <a:xfrm>
              <a:off x="7754240" y="4645139"/>
              <a:ext cx="1091389" cy="1420185"/>
            </a:xfrm>
            <a:prstGeom prst="rect">
              <a:avLst/>
            </a:prstGeom>
            <a:solidFill>
              <a:schemeClr val="accent6"/>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292929"/>
                    </a:gs>
                    <a:gs pos="100000">
                      <a:srgbClr val="292929"/>
                    </a:gs>
                  </a:gsLst>
                  <a:lin ang="5400000" scaled="0"/>
                </a:gradFill>
              </a:endParaRPr>
            </a:p>
          </p:txBody>
        </p:sp>
        <p:sp>
          <p:nvSpPr>
            <p:cNvPr id="73" name="Rectangle 72"/>
            <p:cNvSpPr/>
            <p:nvPr/>
          </p:nvSpPr>
          <p:spPr bwMode="auto">
            <a:xfrm>
              <a:off x="7842734" y="4740910"/>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SQL Server</a:t>
              </a:r>
            </a:p>
          </p:txBody>
        </p:sp>
        <p:sp>
          <p:nvSpPr>
            <p:cNvPr id="74" name="Rectangle 73"/>
            <p:cNvSpPr/>
            <p:nvPr/>
          </p:nvSpPr>
          <p:spPr bwMode="auto">
            <a:xfrm>
              <a:off x="7842734" y="5173460"/>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SQL Database Fabric</a:t>
              </a:r>
            </a:p>
          </p:txBody>
        </p:sp>
        <p:sp>
          <p:nvSpPr>
            <p:cNvPr id="75" name="Rectangle 74"/>
            <p:cNvSpPr/>
            <p:nvPr/>
          </p:nvSpPr>
          <p:spPr bwMode="auto">
            <a:xfrm>
              <a:off x="7842734" y="5602951"/>
              <a:ext cx="914400" cy="35459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900" dirty="0">
                  <a:gradFill>
                    <a:gsLst>
                      <a:gs pos="0">
                        <a:srgbClr val="292929"/>
                      </a:gs>
                      <a:gs pos="100000">
                        <a:srgbClr val="292929"/>
                      </a:gs>
                    </a:gsLst>
                    <a:lin ang="5400000" scaled="0"/>
                  </a:gradFill>
                </a:rPr>
                <a:t>Management Services</a:t>
              </a:r>
            </a:p>
          </p:txBody>
        </p:sp>
        <p:sp>
          <p:nvSpPr>
            <p:cNvPr id="76" name="TextBox 75"/>
            <p:cNvSpPr txBox="1"/>
            <p:nvPr/>
          </p:nvSpPr>
          <p:spPr>
            <a:xfrm>
              <a:off x="11286837" y="4826157"/>
              <a:ext cx="141064" cy="166199"/>
            </a:xfrm>
            <a:prstGeom prst="rect">
              <a:avLst/>
            </a:prstGeom>
            <a:noFill/>
          </p:spPr>
          <p:txBody>
            <a:bodyPr wrap="none" lIns="0" tIns="0" rIns="0" bIns="0" rtlCol="0">
              <a:spAutoFit/>
            </a:bodyPr>
            <a:lstStyle/>
            <a:p>
              <a:pPr defTabSz="914363">
                <a:lnSpc>
                  <a:spcPct val="90000"/>
                </a:lnSpc>
                <a:spcBef>
                  <a:spcPct val="20000"/>
                </a:spcBef>
                <a:buSzPct val="80000"/>
              </a:pPr>
              <a:r>
                <a:rPr lang="en-US" sz="1200" b="1" dirty="0">
                  <a:gradFill>
                    <a:gsLst>
                      <a:gs pos="0">
                        <a:srgbClr val="FFFFFF"/>
                      </a:gs>
                      <a:gs pos="100000">
                        <a:srgbClr val="FFFFFF"/>
                      </a:gs>
                    </a:gsLst>
                    <a:lin ang="5400000" scaled="0"/>
                  </a:gradFill>
                </a:rPr>
                <a:t>…</a:t>
              </a:r>
            </a:p>
          </p:txBody>
        </p:sp>
        <p:sp>
          <p:nvSpPr>
            <p:cNvPr id="77" name="TextBox 76"/>
            <p:cNvSpPr txBox="1"/>
            <p:nvPr/>
          </p:nvSpPr>
          <p:spPr>
            <a:xfrm>
              <a:off x="11286837" y="5272131"/>
              <a:ext cx="141064" cy="166199"/>
            </a:xfrm>
            <a:prstGeom prst="rect">
              <a:avLst/>
            </a:prstGeom>
            <a:noFill/>
          </p:spPr>
          <p:txBody>
            <a:bodyPr wrap="none" lIns="0" tIns="0" rIns="0" bIns="0" rtlCol="0">
              <a:spAutoFit/>
            </a:bodyPr>
            <a:lstStyle/>
            <a:p>
              <a:pPr defTabSz="914363">
                <a:lnSpc>
                  <a:spcPct val="90000"/>
                </a:lnSpc>
                <a:spcBef>
                  <a:spcPct val="20000"/>
                </a:spcBef>
                <a:buSzPct val="80000"/>
              </a:pPr>
              <a:r>
                <a:rPr lang="en-US" sz="1200" b="1" dirty="0">
                  <a:gradFill>
                    <a:gsLst>
                      <a:gs pos="0">
                        <a:srgbClr val="FFFFFF"/>
                      </a:gs>
                      <a:gs pos="100000">
                        <a:srgbClr val="FFFFFF"/>
                      </a:gs>
                    </a:gsLst>
                    <a:lin ang="5400000" scaled="0"/>
                  </a:gradFill>
                </a:rPr>
                <a:t>…</a:t>
              </a:r>
            </a:p>
          </p:txBody>
        </p:sp>
        <p:sp>
          <p:nvSpPr>
            <p:cNvPr id="78" name="TextBox 77"/>
            <p:cNvSpPr txBox="1"/>
            <p:nvPr/>
          </p:nvSpPr>
          <p:spPr>
            <a:xfrm>
              <a:off x="11298173" y="5697148"/>
              <a:ext cx="141064" cy="166199"/>
            </a:xfrm>
            <a:prstGeom prst="rect">
              <a:avLst/>
            </a:prstGeom>
            <a:noFill/>
          </p:spPr>
          <p:txBody>
            <a:bodyPr wrap="none" lIns="0" tIns="0" rIns="0" bIns="0" rtlCol="0">
              <a:spAutoFit/>
            </a:bodyPr>
            <a:lstStyle/>
            <a:p>
              <a:pPr defTabSz="914363">
                <a:lnSpc>
                  <a:spcPct val="90000"/>
                </a:lnSpc>
                <a:spcBef>
                  <a:spcPct val="20000"/>
                </a:spcBef>
                <a:buSzPct val="80000"/>
              </a:pPr>
              <a:r>
                <a:rPr lang="en-US" sz="1200" b="1" dirty="0">
                  <a:gradFill>
                    <a:gsLst>
                      <a:gs pos="0">
                        <a:srgbClr val="FFFFFF"/>
                      </a:gs>
                      <a:gs pos="100000">
                        <a:srgbClr val="FFFFFF"/>
                      </a:gs>
                    </a:gsLst>
                    <a:lin ang="5400000" scaled="0"/>
                  </a:gradFill>
                </a:rPr>
                <a:t>…</a:t>
              </a:r>
            </a:p>
          </p:txBody>
        </p:sp>
        <p:cxnSp>
          <p:nvCxnSpPr>
            <p:cNvPr id="20" name="Elbow Connector 19"/>
            <p:cNvCxnSpPr/>
            <p:nvPr/>
          </p:nvCxnSpPr>
          <p:spPr>
            <a:xfrm rot="5400000" flipH="1" flipV="1">
              <a:off x="9493838" y="4862471"/>
              <a:ext cx="8950" cy="2396756"/>
            </a:xfrm>
            <a:prstGeom prst="bentConnector3">
              <a:avLst>
                <a:gd name="adj1" fmla="val -1728592"/>
              </a:avLst>
            </a:prstGeom>
            <a:ln w="15875">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flipV="1">
              <a:off x="9505279" y="6065324"/>
              <a:ext cx="0" cy="141516"/>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30918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
                                            <p:txEl>
                                              <p:pRg st="1" end="1"/>
                                            </p:txEl>
                                          </p:spTgt>
                                        </p:tgtEl>
                                        <p:attrNameLst>
                                          <p:attrName>style.visibility</p:attrName>
                                        </p:attrNameLst>
                                      </p:cBhvr>
                                      <p:to>
                                        <p:strVal val="visible"/>
                                      </p:to>
                                    </p:set>
                                    <p:animEffect transition="in" filter="fade">
                                      <p:cBhvr>
                                        <p:cTn id="7" dur="1000"/>
                                        <p:tgtEl>
                                          <p:spTgt spid="30">
                                            <p:txEl>
                                              <p:pRg st="1" end="1"/>
                                            </p:txEl>
                                          </p:spTgt>
                                        </p:tgtEl>
                                      </p:cBhvr>
                                    </p:animEffect>
                                    <p:anim calcmode="lin" valueType="num">
                                      <p:cBhvr>
                                        <p:cTn id="8" dur="1000" fill="hold"/>
                                        <p:tgtEl>
                                          <p:spTgt spid="3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1000"/>
                                        <p:tgtEl>
                                          <p:spTgt spid="80"/>
                                        </p:tgtEl>
                                      </p:cBhvr>
                                    </p:animEffect>
                                    <p:anim calcmode="lin" valueType="num">
                                      <p:cBhvr>
                                        <p:cTn id="13" dur="1000" fill="hold"/>
                                        <p:tgtEl>
                                          <p:spTgt spid="80"/>
                                        </p:tgtEl>
                                        <p:attrNameLst>
                                          <p:attrName>ppt_x</p:attrName>
                                        </p:attrNameLst>
                                      </p:cBhvr>
                                      <p:tavLst>
                                        <p:tav tm="0">
                                          <p:val>
                                            <p:strVal val="#ppt_x"/>
                                          </p:val>
                                        </p:tav>
                                        <p:tav tm="100000">
                                          <p:val>
                                            <p:strVal val="#ppt_x"/>
                                          </p:val>
                                        </p:tav>
                                      </p:tavLst>
                                    </p:anim>
                                    <p:anim calcmode="lin" valueType="num">
                                      <p:cBhvr>
                                        <p:cTn id="14"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0">
                                            <p:txEl>
                                              <p:pRg st="2" end="2"/>
                                            </p:txEl>
                                          </p:spTgt>
                                        </p:tgtEl>
                                        <p:attrNameLst>
                                          <p:attrName>style.visibility</p:attrName>
                                        </p:attrNameLst>
                                      </p:cBhvr>
                                      <p:to>
                                        <p:strVal val="visible"/>
                                      </p:to>
                                    </p:set>
                                    <p:animEffect transition="in" filter="fade">
                                      <p:cBhvr>
                                        <p:cTn id="19" dur="1000"/>
                                        <p:tgtEl>
                                          <p:spTgt spid="30">
                                            <p:txEl>
                                              <p:pRg st="2" end="2"/>
                                            </p:txEl>
                                          </p:spTgt>
                                        </p:tgtEl>
                                      </p:cBhvr>
                                    </p:animEffect>
                                    <p:anim calcmode="lin" valueType="num">
                                      <p:cBhvr>
                                        <p:cTn id="20" dur="1000" fill="hold"/>
                                        <p:tgtEl>
                                          <p:spTgt spid="30">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0">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1"/>
                                        </p:tgtEl>
                                        <p:attrNameLst>
                                          <p:attrName>style.visibility</p:attrName>
                                        </p:attrNameLst>
                                      </p:cBhvr>
                                      <p:to>
                                        <p:strVal val="visible"/>
                                      </p:to>
                                    </p:set>
                                    <p:animEffect transition="in" filter="fade">
                                      <p:cBhvr>
                                        <p:cTn id="24" dur="1000"/>
                                        <p:tgtEl>
                                          <p:spTgt spid="91"/>
                                        </p:tgtEl>
                                      </p:cBhvr>
                                    </p:animEffect>
                                    <p:anim calcmode="lin" valueType="num">
                                      <p:cBhvr>
                                        <p:cTn id="25" dur="1000" fill="hold"/>
                                        <p:tgtEl>
                                          <p:spTgt spid="91"/>
                                        </p:tgtEl>
                                        <p:attrNameLst>
                                          <p:attrName>ppt_x</p:attrName>
                                        </p:attrNameLst>
                                      </p:cBhvr>
                                      <p:tavLst>
                                        <p:tav tm="0">
                                          <p:val>
                                            <p:strVal val="#ppt_x"/>
                                          </p:val>
                                        </p:tav>
                                        <p:tav tm="100000">
                                          <p:val>
                                            <p:strVal val="#ppt_x"/>
                                          </p:val>
                                        </p:tav>
                                      </p:tavLst>
                                    </p:anim>
                                    <p:anim calcmode="lin" valueType="num">
                                      <p:cBhvr>
                                        <p:cTn id="26" dur="1000" fill="hold"/>
                                        <p:tgtEl>
                                          <p:spTgt spid="9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0">
                                            <p:txEl>
                                              <p:pRg st="3" end="3"/>
                                            </p:txEl>
                                          </p:spTgt>
                                        </p:tgtEl>
                                        <p:attrNameLst>
                                          <p:attrName>style.visibility</p:attrName>
                                        </p:attrNameLst>
                                      </p:cBhvr>
                                      <p:to>
                                        <p:strVal val="visible"/>
                                      </p:to>
                                    </p:set>
                                    <p:animEffect transition="in" filter="fade">
                                      <p:cBhvr>
                                        <p:cTn id="31" dur="1000"/>
                                        <p:tgtEl>
                                          <p:spTgt spid="30">
                                            <p:txEl>
                                              <p:pRg st="3" end="3"/>
                                            </p:txEl>
                                          </p:spTgt>
                                        </p:tgtEl>
                                      </p:cBhvr>
                                    </p:animEffect>
                                    <p:anim calcmode="lin" valueType="num">
                                      <p:cBhvr>
                                        <p:cTn id="32" dur="1000" fill="hold"/>
                                        <p:tgtEl>
                                          <p:spTgt spid="30">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0">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072"/>
                                        </p:tgtEl>
                                        <p:attrNameLst>
                                          <p:attrName>style.visibility</p:attrName>
                                        </p:attrNameLst>
                                      </p:cBhvr>
                                      <p:to>
                                        <p:strVal val="visible"/>
                                      </p:to>
                                    </p:set>
                                    <p:animEffect transition="in" filter="fade">
                                      <p:cBhvr>
                                        <p:cTn id="36" dur="1000"/>
                                        <p:tgtEl>
                                          <p:spTgt spid="3072"/>
                                        </p:tgtEl>
                                      </p:cBhvr>
                                    </p:animEffect>
                                    <p:anim calcmode="lin" valueType="num">
                                      <p:cBhvr>
                                        <p:cTn id="37" dur="1000" fill="hold"/>
                                        <p:tgtEl>
                                          <p:spTgt spid="3072"/>
                                        </p:tgtEl>
                                        <p:attrNameLst>
                                          <p:attrName>ppt_x</p:attrName>
                                        </p:attrNameLst>
                                      </p:cBhvr>
                                      <p:tavLst>
                                        <p:tav tm="0">
                                          <p:val>
                                            <p:strVal val="#ppt_x"/>
                                          </p:val>
                                        </p:tav>
                                        <p:tav tm="100000">
                                          <p:val>
                                            <p:strVal val="#ppt_x"/>
                                          </p:val>
                                        </p:tav>
                                      </p:tavLst>
                                    </p:anim>
                                    <p:anim calcmode="lin" valueType="num">
                                      <p:cBhvr>
                                        <p:cTn id="38" dur="1000" fill="hold"/>
                                        <p:tgtEl>
                                          <p:spTgt spid="307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0">
                                            <p:txEl>
                                              <p:pRg st="4" end="4"/>
                                            </p:txEl>
                                          </p:spTgt>
                                        </p:tgtEl>
                                        <p:attrNameLst>
                                          <p:attrName>style.visibility</p:attrName>
                                        </p:attrNameLst>
                                      </p:cBhvr>
                                      <p:to>
                                        <p:strVal val="visible"/>
                                      </p:to>
                                    </p:set>
                                    <p:animEffect transition="in" filter="fade">
                                      <p:cBhvr>
                                        <p:cTn id="43" dur="1000"/>
                                        <p:tgtEl>
                                          <p:spTgt spid="30">
                                            <p:txEl>
                                              <p:pRg st="4" end="4"/>
                                            </p:txEl>
                                          </p:spTgt>
                                        </p:tgtEl>
                                      </p:cBhvr>
                                    </p:animEffect>
                                    <p:anim calcmode="lin" valueType="num">
                                      <p:cBhvr>
                                        <p:cTn id="44" dur="1000" fill="hold"/>
                                        <p:tgtEl>
                                          <p:spTgt spid="30">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30">
                                            <p:txEl>
                                              <p:pRg st="4" end="4"/>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79"/>
                                        </p:tgtEl>
                                        <p:attrNameLst>
                                          <p:attrName>style.visibility</p:attrName>
                                        </p:attrNameLst>
                                      </p:cBhvr>
                                      <p:to>
                                        <p:strVal val="visible"/>
                                      </p:to>
                                    </p:set>
                                    <p:animEffect transition="in" filter="fade">
                                      <p:cBhvr>
                                        <p:cTn id="48" dur="1000"/>
                                        <p:tgtEl>
                                          <p:spTgt spid="79"/>
                                        </p:tgtEl>
                                      </p:cBhvr>
                                    </p:animEffect>
                                    <p:anim calcmode="lin" valueType="num">
                                      <p:cBhvr>
                                        <p:cTn id="49" dur="1000" fill="hold"/>
                                        <p:tgtEl>
                                          <p:spTgt spid="79"/>
                                        </p:tgtEl>
                                        <p:attrNameLst>
                                          <p:attrName>ppt_x</p:attrName>
                                        </p:attrNameLst>
                                      </p:cBhvr>
                                      <p:tavLst>
                                        <p:tav tm="0">
                                          <p:val>
                                            <p:strVal val="#ppt_x"/>
                                          </p:val>
                                        </p:tav>
                                        <p:tav tm="100000">
                                          <p:val>
                                            <p:strVal val="#ppt_x"/>
                                          </p:val>
                                        </p:tav>
                                      </p:tavLst>
                                    </p:anim>
                                    <p:anim calcmode="lin" valueType="num">
                                      <p:cBhvr>
                                        <p:cTn id="50"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Server Provisioning</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3554" y="4413738"/>
            <a:ext cx="5066198" cy="2139462"/>
          </a:xfrm>
          <a:prstGeom prst="rect">
            <a:avLst/>
          </a:prstGeom>
          <a:noFill/>
          <a:ln w="9525">
            <a:noFill/>
            <a:miter lim="800000"/>
            <a:headEnd/>
            <a:tailEnd/>
          </a:ln>
          <a:effectLst>
            <a:outerShdw blurRad="50800" dist="25400" dir="2700000" algn="tl" rotWithShape="0">
              <a:prstClr val="black">
                <a:alpha val="20000"/>
              </a:prstClr>
            </a:outerShdw>
          </a:effectLst>
        </p:spPr>
      </p:pic>
      <p:sp>
        <p:nvSpPr>
          <p:cNvPr id="9" name="Content Placeholder 2"/>
          <p:cNvSpPr txBox="1">
            <a:spLocks/>
          </p:cNvSpPr>
          <p:nvPr/>
        </p:nvSpPr>
        <p:spPr>
          <a:xfrm>
            <a:off x="520701" y="1316823"/>
            <a:ext cx="5573712" cy="5055230"/>
          </a:xfrm>
          <a:prstGeom prst="rect">
            <a:avLst/>
          </a:prstGeom>
        </p:spPr>
        <p:txBody>
          <a:bodyPr lIns="0" tIns="0" rIns="0" bIns="0"/>
          <a:lst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defTabSz="914325">
              <a:spcBef>
                <a:spcPts val="0"/>
              </a:spcBef>
              <a:spcAft>
                <a:spcPts val="300"/>
              </a:spcAft>
              <a:buNone/>
            </a:pPr>
            <a:r>
              <a:rPr lang="en-US" sz="2800" spc="-100" dirty="0">
                <a:solidFill>
                  <a:schemeClr val="accent2">
                    <a:alpha val="99000"/>
                  </a:schemeClr>
                </a:solidFill>
                <a:latin typeface="Segoe UI Light" pitchFamily="34" charset="0"/>
              </a:rPr>
              <a:t>Server Defined</a:t>
            </a:r>
          </a:p>
          <a:p>
            <a:pPr marL="3175" lvl="1" indent="0" defTabSz="914325">
              <a:spcBef>
                <a:spcPts val="600"/>
              </a:spcBef>
              <a:buNone/>
            </a:pPr>
            <a:r>
              <a:rPr lang="en-US" sz="1400" spc="-51" dirty="0"/>
              <a:t>Service head that </a:t>
            </a:r>
            <a:r>
              <a:rPr lang="en-US" sz="1400" spc="-51" dirty="0" smtClean="0"/>
              <a:t>logically groups databases</a:t>
            </a:r>
            <a:endParaRPr lang="en-US" sz="1400" spc="-51" dirty="0"/>
          </a:p>
          <a:p>
            <a:pPr marL="3175" lvl="1" indent="0" defTabSz="914325">
              <a:spcBef>
                <a:spcPts val="600"/>
              </a:spcBef>
              <a:buNone/>
            </a:pPr>
            <a:r>
              <a:rPr lang="en-US" sz="1400" spc="-51" dirty="0"/>
              <a:t>Connect via automatically generated FQDN (xxx.database.windows.net)</a:t>
            </a:r>
          </a:p>
          <a:p>
            <a:pPr marL="3175" lvl="1" indent="0" defTabSz="914325">
              <a:spcBef>
                <a:spcPts val="600"/>
              </a:spcBef>
              <a:buNone/>
            </a:pPr>
            <a:r>
              <a:rPr lang="en-US" sz="1400" spc="-51" dirty="0"/>
              <a:t>Initially contains only a </a:t>
            </a:r>
            <a:r>
              <a:rPr lang="en-US" sz="1400" b="1" spc="-51" dirty="0"/>
              <a:t>master</a:t>
            </a:r>
            <a:r>
              <a:rPr lang="en-US" sz="1400" spc="-51" dirty="0"/>
              <a:t> database</a:t>
            </a:r>
            <a:br>
              <a:rPr lang="en-US" sz="1400" spc="-51" dirty="0"/>
            </a:br>
            <a:endParaRPr lang="en-US" sz="1800" dirty="0"/>
          </a:p>
          <a:p>
            <a:pPr marL="3175" indent="0" defTabSz="914325">
              <a:spcBef>
                <a:spcPts val="0"/>
              </a:spcBef>
              <a:spcAft>
                <a:spcPts val="300"/>
              </a:spcAft>
              <a:buNone/>
            </a:pPr>
            <a:r>
              <a:rPr lang="en-US" sz="2800" spc="-100" dirty="0">
                <a:solidFill>
                  <a:schemeClr val="accent2">
                    <a:alpha val="99000"/>
                  </a:schemeClr>
                </a:solidFill>
                <a:latin typeface="Segoe UI Light" pitchFamily="34" charset="0"/>
              </a:rPr>
              <a:t>Provision Servers Interactively</a:t>
            </a:r>
          </a:p>
          <a:p>
            <a:pPr marL="3175" lvl="1" indent="0" defTabSz="914325">
              <a:spcBef>
                <a:spcPts val="600"/>
              </a:spcBef>
              <a:buNone/>
            </a:pPr>
            <a:r>
              <a:rPr lang="en-US" sz="1400" spc="-51" dirty="0"/>
              <a:t>Log on to Windows Azure Management Portal</a:t>
            </a:r>
          </a:p>
          <a:p>
            <a:pPr marL="3175" lvl="1" indent="0" defTabSz="914325">
              <a:spcBef>
                <a:spcPts val="600"/>
              </a:spcBef>
              <a:buNone/>
            </a:pPr>
            <a:r>
              <a:rPr lang="en-US" sz="1400" spc="-51" dirty="0"/>
              <a:t>Create a SQL Database server</a:t>
            </a:r>
          </a:p>
          <a:p>
            <a:pPr marL="3175" lvl="1" indent="0" defTabSz="914325">
              <a:spcBef>
                <a:spcPts val="600"/>
              </a:spcBef>
              <a:buNone/>
            </a:pPr>
            <a:r>
              <a:rPr lang="en-US" sz="1400" spc="-51" dirty="0"/>
              <a:t>Specify admin login credentials</a:t>
            </a:r>
          </a:p>
          <a:p>
            <a:pPr marL="3175" lvl="1" indent="0" defTabSz="914325">
              <a:spcBef>
                <a:spcPts val="600"/>
              </a:spcBef>
              <a:buNone/>
            </a:pPr>
            <a:r>
              <a:rPr lang="en-US" sz="1400" spc="-51" dirty="0"/>
              <a:t>Add firewall rules and enable service access</a:t>
            </a:r>
            <a:br>
              <a:rPr lang="en-US" sz="1400" spc="-51" dirty="0"/>
            </a:br>
            <a:endParaRPr lang="en-US" sz="1400" spc="-51" dirty="0"/>
          </a:p>
          <a:p>
            <a:pPr marL="3175" indent="0" defTabSz="914325">
              <a:spcBef>
                <a:spcPts val="0"/>
              </a:spcBef>
              <a:spcAft>
                <a:spcPts val="300"/>
              </a:spcAft>
              <a:buNone/>
            </a:pPr>
            <a:r>
              <a:rPr lang="en-US" sz="2800" spc="-100" dirty="0">
                <a:solidFill>
                  <a:schemeClr val="accent2">
                    <a:alpha val="99000"/>
                  </a:schemeClr>
                </a:solidFill>
                <a:latin typeface="Segoe UI Light" pitchFamily="34" charset="0"/>
              </a:rPr>
              <a:t>Automate Server Provisioning</a:t>
            </a:r>
          </a:p>
          <a:p>
            <a:pPr marL="3175" lvl="1" indent="0" defTabSz="914325">
              <a:spcBef>
                <a:spcPts val="600"/>
              </a:spcBef>
              <a:buNone/>
            </a:pPr>
            <a:r>
              <a:rPr lang="en-US" sz="1400" spc="-51" dirty="0"/>
              <a:t>Use Windows Azure Platform PowerShell cmdlets </a:t>
            </a:r>
            <a:br>
              <a:rPr lang="en-US" sz="1400" spc="-51" dirty="0"/>
            </a:br>
            <a:r>
              <a:rPr lang="en-US" sz="1400" spc="-51" dirty="0"/>
              <a:t>(or use REST API directly)</a:t>
            </a:r>
          </a:p>
          <a:p>
            <a:pPr marL="3175" lvl="1" indent="0" defTabSz="914325">
              <a:spcBef>
                <a:spcPts val="600"/>
              </a:spcBef>
              <a:buNone/>
            </a:pPr>
            <a:r>
              <a:rPr lang="en-US" sz="1400" b="1" spc="-51" dirty="0"/>
              <a:t>wappowershell.codeplex.com</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2413" y="1495123"/>
            <a:ext cx="3103263" cy="2707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73712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500"/>
                                        <p:tgtEl>
                                          <p:spTgt spid="9">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fade">
                                      <p:cBhvr>
                                        <p:cTn id="16" dur="500"/>
                                        <p:tgtEl>
                                          <p:spTgt spid="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500"/>
                                        <p:tgtEl>
                                          <p:spTgt spid="9">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fade">
                                      <p:cBhvr>
                                        <p:cTn id="24" dur="500"/>
                                        <p:tgtEl>
                                          <p:spTgt spid="9">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fade">
                                      <p:cBhvr>
                                        <p:cTn id="27" dur="500"/>
                                        <p:tgtEl>
                                          <p:spTgt spid="9">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fade">
                                      <p:cBhvr>
                                        <p:cTn id="30" dur="500"/>
                                        <p:tgtEl>
                                          <p:spTgt spid="9">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Effect transition="in" filter="fade">
                                      <p:cBhvr>
                                        <p:cTn id="33" dur="500"/>
                                        <p:tgtEl>
                                          <p:spTgt spid="9">
                                            <p:txEl>
                                              <p:pRg st="8" end="8"/>
                                            </p:txEl>
                                          </p:spTgt>
                                        </p:tgtEl>
                                      </p:cBhvr>
                                    </p:animEffect>
                                  </p:childTnLst>
                                </p:cTn>
                              </p:par>
                              <p:par>
                                <p:cTn id="34" presetID="1" presetClass="entr" presetSubtype="0" fill="hold" nodeType="withEffect">
                                  <p:stCondLst>
                                    <p:cond delay="0"/>
                                  </p:stCondLst>
                                  <p:childTnLst>
                                    <p:set>
                                      <p:cBhvr>
                                        <p:cTn id="35" dur="1" fill="hold">
                                          <p:stCondLst>
                                            <p:cond delay="0"/>
                                          </p:stCondLst>
                                        </p:cTn>
                                        <p:tgtEl>
                                          <p:spTgt spid="102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xEl>
                                              <p:pRg st="9" end="9"/>
                                            </p:txEl>
                                          </p:spTgt>
                                        </p:tgtEl>
                                        <p:attrNameLst>
                                          <p:attrName>style.visibility</p:attrName>
                                        </p:attrNameLst>
                                      </p:cBhvr>
                                      <p:to>
                                        <p:strVal val="visible"/>
                                      </p:to>
                                    </p:set>
                                    <p:animEffect transition="in" filter="fade">
                                      <p:cBhvr>
                                        <p:cTn id="40" dur="500"/>
                                        <p:tgtEl>
                                          <p:spTgt spid="9">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animEffect transition="in" filter="fade">
                                      <p:cBhvr>
                                        <p:cTn id="43" dur="500"/>
                                        <p:tgtEl>
                                          <p:spTgt spid="9">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
                                            <p:txEl>
                                              <p:pRg st="11" end="11"/>
                                            </p:txEl>
                                          </p:spTgt>
                                        </p:tgtEl>
                                        <p:attrNameLst>
                                          <p:attrName>style.visibility</p:attrName>
                                        </p:attrNameLst>
                                      </p:cBhvr>
                                      <p:to>
                                        <p:strVal val="visible"/>
                                      </p:to>
                                    </p:set>
                                    <p:animEffect transition="in" filter="fade">
                                      <p:cBhvr>
                                        <p:cTn id="46" dur="500"/>
                                        <p:tgtEl>
                                          <p:spTgt spid="9">
                                            <p:txEl>
                                              <p:pRg st="11" end="11"/>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Group 71"/>
          <p:cNvGrpSpPr/>
          <p:nvPr/>
        </p:nvGrpSpPr>
        <p:grpSpPr>
          <a:xfrm>
            <a:off x="794048" y="1468877"/>
            <a:ext cx="3851488" cy="4238502"/>
            <a:chOff x="5104512" y="1101224"/>
            <a:chExt cx="3851488" cy="4238502"/>
          </a:xfrm>
        </p:grpSpPr>
        <p:sp>
          <p:nvSpPr>
            <p:cNvPr id="6" name="Rectangle 5"/>
            <p:cNvSpPr/>
            <p:nvPr/>
          </p:nvSpPr>
          <p:spPr bwMode="auto">
            <a:xfrm>
              <a:off x="5104512" y="2743185"/>
              <a:ext cx="3851488" cy="2596541"/>
            </a:xfrm>
            <a:prstGeom prst="rect">
              <a:avLst/>
            </a:prstGeom>
            <a:solidFill>
              <a:schemeClr val="accent2"/>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91440" rIns="91436" bIns="91440" numCol="1" rtlCol="0" anchor="b" anchorCtr="0" compatLnSpc="1">
              <a:prstTxWarp prst="textNoShape">
                <a:avLst/>
              </a:prstTxWarp>
            </a:bodyPr>
            <a:lstStyle/>
            <a:p>
              <a:pPr algn="ctr" defTabSz="914099" fontAlgn="base">
                <a:spcBef>
                  <a:spcPct val="0"/>
                </a:spcBef>
                <a:spcAft>
                  <a:spcPct val="0"/>
                </a:spcAft>
              </a:pPr>
              <a:r>
                <a:rPr lang="en-US" dirty="0">
                  <a:gradFill>
                    <a:gsLst>
                      <a:gs pos="0">
                        <a:schemeClr val="bg1"/>
                      </a:gs>
                      <a:gs pos="100000">
                        <a:schemeClr val="bg1"/>
                      </a:gs>
                    </a:gsLst>
                    <a:lin ang="5400000" scaled="0"/>
                  </a:gradFill>
                </a:rPr>
                <a:t>Services Layer</a:t>
              </a:r>
            </a:p>
          </p:txBody>
        </p:sp>
        <p:sp>
          <p:nvSpPr>
            <p:cNvPr id="7" name="Rectangle 6"/>
            <p:cNvSpPr/>
            <p:nvPr/>
          </p:nvSpPr>
          <p:spPr bwMode="auto">
            <a:xfrm>
              <a:off x="5487100" y="4333973"/>
              <a:ext cx="3086312" cy="500745"/>
            </a:xfrm>
            <a:prstGeom prst="rect">
              <a:avLst/>
            </a:prstGeom>
            <a:solidFill>
              <a:schemeClr val="accent6">
                <a:lumMod val="20000"/>
                <a:lumOff val="8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dirty="0">
                  <a:gradFill>
                    <a:gsLst>
                      <a:gs pos="0">
                        <a:schemeClr val="tx1"/>
                      </a:gs>
                      <a:gs pos="100000">
                        <a:schemeClr val="tx1"/>
                      </a:gs>
                    </a:gsLst>
                    <a:lin ang="5400000" scaled="0"/>
                  </a:gradFill>
                </a:rPr>
                <a:t>Services Layer</a:t>
              </a:r>
            </a:p>
          </p:txBody>
        </p:sp>
        <p:grpSp>
          <p:nvGrpSpPr>
            <p:cNvPr id="2" name="Group 1"/>
            <p:cNvGrpSpPr/>
            <p:nvPr/>
          </p:nvGrpSpPr>
          <p:grpSpPr>
            <a:xfrm>
              <a:off x="5487100" y="3931202"/>
              <a:ext cx="3086312" cy="275844"/>
              <a:chOff x="5522700" y="3940629"/>
              <a:chExt cx="3086312" cy="275844"/>
            </a:xfrm>
          </p:grpSpPr>
          <p:sp>
            <p:nvSpPr>
              <p:cNvPr id="8" name="Rectangle 7"/>
              <p:cNvSpPr/>
              <p:nvPr/>
            </p:nvSpPr>
            <p:spPr bwMode="auto">
              <a:xfrm>
                <a:off x="5522700" y="3940629"/>
                <a:ext cx="3086312" cy="272145"/>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9" name="Rectangle 8"/>
              <p:cNvSpPr/>
              <p:nvPr/>
            </p:nvSpPr>
            <p:spPr bwMode="auto">
              <a:xfrm>
                <a:off x="5522700"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0" name="Rectangle 9"/>
              <p:cNvSpPr/>
              <p:nvPr/>
            </p:nvSpPr>
            <p:spPr bwMode="auto">
              <a:xfrm>
                <a:off x="5700279"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1" name="Rectangle 10"/>
              <p:cNvSpPr/>
              <p:nvPr/>
            </p:nvSpPr>
            <p:spPr bwMode="auto">
              <a:xfrm>
                <a:off x="5877858"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2" name="Rectangle 11"/>
              <p:cNvSpPr/>
              <p:nvPr/>
            </p:nvSpPr>
            <p:spPr bwMode="auto">
              <a:xfrm>
                <a:off x="6055436"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3" name="Rectangle 12"/>
              <p:cNvSpPr/>
              <p:nvPr/>
            </p:nvSpPr>
            <p:spPr bwMode="auto">
              <a:xfrm>
                <a:off x="6230749"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4" name="Rectangle 13"/>
              <p:cNvSpPr/>
              <p:nvPr/>
            </p:nvSpPr>
            <p:spPr bwMode="auto">
              <a:xfrm>
                <a:off x="6408328"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5" name="Rectangle 14"/>
              <p:cNvSpPr/>
              <p:nvPr/>
            </p:nvSpPr>
            <p:spPr bwMode="auto">
              <a:xfrm>
                <a:off x="6585907"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6" name="Rectangle 15"/>
              <p:cNvSpPr/>
              <p:nvPr/>
            </p:nvSpPr>
            <p:spPr bwMode="auto">
              <a:xfrm>
                <a:off x="6763485"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7" name="Rectangle 16"/>
              <p:cNvSpPr/>
              <p:nvPr/>
            </p:nvSpPr>
            <p:spPr bwMode="auto">
              <a:xfrm>
                <a:off x="6940806"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8" name="Rectangle 17"/>
              <p:cNvSpPr/>
              <p:nvPr/>
            </p:nvSpPr>
            <p:spPr bwMode="auto">
              <a:xfrm>
                <a:off x="7118385"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19" name="Rectangle 18"/>
              <p:cNvSpPr/>
              <p:nvPr/>
            </p:nvSpPr>
            <p:spPr bwMode="auto">
              <a:xfrm>
                <a:off x="7295964"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0" name="Rectangle 19"/>
              <p:cNvSpPr/>
              <p:nvPr/>
            </p:nvSpPr>
            <p:spPr bwMode="auto">
              <a:xfrm>
                <a:off x="7473542"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1" name="Rectangle 20"/>
              <p:cNvSpPr/>
              <p:nvPr/>
            </p:nvSpPr>
            <p:spPr bwMode="auto">
              <a:xfrm>
                <a:off x="7648855"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2" name="Rectangle 21"/>
              <p:cNvSpPr/>
              <p:nvPr/>
            </p:nvSpPr>
            <p:spPr bwMode="auto">
              <a:xfrm>
                <a:off x="7826434"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3" name="Rectangle 22"/>
              <p:cNvSpPr/>
              <p:nvPr/>
            </p:nvSpPr>
            <p:spPr bwMode="auto">
              <a:xfrm>
                <a:off x="8004013"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4" name="Rectangle 23"/>
              <p:cNvSpPr/>
              <p:nvPr/>
            </p:nvSpPr>
            <p:spPr bwMode="auto">
              <a:xfrm>
                <a:off x="8181591"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5" name="Rectangle 24"/>
              <p:cNvSpPr/>
              <p:nvPr/>
            </p:nvSpPr>
            <p:spPr bwMode="auto">
              <a:xfrm>
                <a:off x="8360719" y="3940629"/>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6" name="Rectangle 25"/>
              <p:cNvSpPr/>
              <p:nvPr/>
            </p:nvSpPr>
            <p:spPr bwMode="auto">
              <a:xfrm>
                <a:off x="8538297" y="3940629"/>
                <a:ext cx="70715"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7" name="Rectangle 26"/>
              <p:cNvSpPr/>
              <p:nvPr/>
            </p:nvSpPr>
            <p:spPr bwMode="auto">
              <a:xfrm>
                <a:off x="5612150"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8" name="Rectangle 27"/>
              <p:cNvSpPr/>
              <p:nvPr/>
            </p:nvSpPr>
            <p:spPr bwMode="auto">
              <a:xfrm>
                <a:off x="5789729"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29" name="Rectangle 28"/>
              <p:cNvSpPr/>
              <p:nvPr/>
            </p:nvSpPr>
            <p:spPr bwMode="auto">
              <a:xfrm>
                <a:off x="5967308"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0" name="Rectangle 29"/>
              <p:cNvSpPr/>
              <p:nvPr/>
            </p:nvSpPr>
            <p:spPr bwMode="auto">
              <a:xfrm>
                <a:off x="6144886"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1" name="Rectangle 30"/>
              <p:cNvSpPr/>
              <p:nvPr/>
            </p:nvSpPr>
            <p:spPr bwMode="auto">
              <a:xfrm>
                <a:off x="6320199"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2" name="Rectangle 31"/>
              <p:cNvSpPr/>
              <p:nvPr/>
            </p:nvSpPr>
            <p:spPr bwMode="auto">
              <a:xfrm>
                <a:off x="6497778"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3" name="Rectangle 32"/>
              <p:cNvSpPr/>
              <p:nvPr/>
            </p:nvSpPr>
            <p:spPr bwMode="auto">
              <a:xfrm>
                <a:off x="6675357"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4" name="Rectangle 33"/>
              <p:cNvSpPr/>
              <p:nvPr/>
            </p:nvSpPr>
            <p:spPr bwMode="auto">
              <a:xfrm>
                <a:off x="6852935"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5" name="Rectangle 34"/>
              <p:cNvSpPr/>
              <p:nvPr/>
            </p:nvSpPr>
            <p:spPr bwMode="auto">
              <a:xfrm>
                <a:off x="7030256"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6" name="Rectangle 35"/>
              <p:cNvSpPr/>
              <p:nvPr/>
            </p:nvSpPr>
            <p:spPr bwMode="auto">
              <a:xfrm>
                <a:off x="7207835"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7" name="Rectangle 36"/>
              <p:cNvSpPr/>
              <p:nvPr/>
            </p:nvSpPr>
            <p:spPr bwMode="auto">
              <a:xfrm>
                <a:off x="7385414"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8" name="Rectangle 37"/>
              <p:cNvSpPr/>
              <p:nvPr/>
            </p:nvSpPr>
            <p:spPr bwMode="auto">
              <a:xfrm>
                <a:off x="7562992"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39" name="Rectangle 38"/>
              <p:cNvSpPr/>
              <p:nvPr/>
            </p:nvSpPr>
            <p:spPr bwMode="auto">
              <a:xfrm>
                <a:off x="7738305"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40" name="Rectangle 39"/>
              <p:cNvSpPr/>
              <p:nvPr/>
            </p:nvSpPr>
            <p:spPr bwMode="auto">
              <a:xfrm>
                <a:off x="7915884"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41" name="Rectangle 40"/>
              <p:cNvSpPr/>
              <p:nvPr/>
            </p:nvSpPr>
            <p:spPr bwMode="auto">
              <a:xfrm>
                <a:off x="8093463"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42" name="Rectangle 41"/>
              <p:cNvSpPr/>
              <p:nvPr/>
            </p:nvSpPr>
            <p:spPr bwMode="auto">
              <a:xfrm>
                <a:off x="8271041" y="4035553"/>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43" name="Rectangle 42"/>
              <p:cNvSpPr/>
              <p:nvPr/>
            </p:nvSpPr>
            <p:spPr bwMode="auto">
              <a:xfrm>
                <a:off x="8450169" y="4035553"/>
                <a:ext cx="158843"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45" name="Rectangle 44"/>
              <p:cNvSpPr/>
              <p:nvPr/>
            </p:nvSpPr>
            <p:spPr bwMode="auto">
              <a:xfrm>
                <a:off x="5522700"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46" name="Rectangle 45"/>
              <p:cNvSpPr/>
              <p:nvPr/>
            </p:nvSpPr>
            <p:spPr bwMode="auto">
              <a:xfrm>
                <a:off x="5700279"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47" name="Rectangle 46"/>
              <p:cNvSpPr/>
              <p:nvPr/>
            </p:nvSpPr>
            <p:spPr bwMode="auto">
              <a:xfrm>
                <a:off x="5877858"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48" name="Rectangle 47"/>
              <p:cNvSpPr/>
              <p:nvPr/>
            </p:nvSpPr>
            <p:spPr bwMode="auto">
              <a:xfrm>
                <a:off x="6055436"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49" name="Rectangle 48"/>
              <p:cNvSpPr/>
              <p:nvPr/>
            </p:nvSpPr>
            <p:spPr bwMode="auto">
              <a:xfrm>
                <a:off x="6230749"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0" name="Rectangle 49"/>
              <p:cNvSpPr/>
              <p:nvPr/>
            </p:nvSpPr>
            <p:spPr bwMode="auto">
              <a:xfrm>
                <a:off x="6408328"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1" name="Rectangle 50"/>
              <p:cNvSpPr/>
              <p:nvPr/>
            </p:nvSpPr>
            <p:spPr bwMode="auto">
              <a:xfrm>
                <a:off x="6585907"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2" name="Rectangle 51"/>
              <p:cNvSpPr/>
              <p:nvPr/>
            </p:nvSpPr>
            <p:spPr bwMode="auto">
              <a:xfrm>
                <a:off x="6763485"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3" name="Rectangle 52"/>
              <p:cNvSpPr/>
              <p:nvPr/>
            </p:nvSpPr>
            <p:spPr bwMode="auto">
              <a:xfrm>
                <a:off x="6940806"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4" name="Rectangle 53"/>
              <p:cNvSpPr/>
              <p:nvPr/>
            </p:nvSpPr>
            <p:spPr bwMode="auto">
              <a:xfrm>
                <a:off x="7118385"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5" name="Rectangle 54"/>
              <p:cNvSpPr/>
              <p:nvPr/>
            </p:nvSpPr>
            <p:spPr bwMode="auto">
              <a:xfrm>
                <a:off x="7295964"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6" name="Rectangle 55"/>
              <p:cNvSpPr/>
              <p:nvPr/>
            </p:nvSpPr>
            <p:spPr bwMode="auto">
              <a:xfrm>
                <a:off x="7473542"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7" name="Rectangle 56"/>
              <p:cNvSpPr/>
              <p:nvPr/>
            </p:nvSpPr>
            <p:spPr bwMode="auto">
              <a:xfrm>
                <a:off x="7648855"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8" name="Rectangle 57"/>
              <p:cNvSpPr/>
              <p:nvPr/>
            </p:nvSpPr>
            <p:spPr bwMode="auto">
              <a:xfrm>
                <a:off x="7826434"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59" name="Rectangle 58"/>
              <p:cNvSpPr/>
              <p:nvPr/>
            </p:nvSpPr>
            <p:spPr bwMode="auto">
              <a:xfrm>
                <a:off x="8004013"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60" name="Rectangle 59"/>
              <p:cNvSpPr/>
              <p:nvPr/>
            </p:nvSpPr>
            <p:spPr bwMode="auto">
              <a:xfrm>
                <a:off x="8181591"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61" name="Rectangle 60"/>
              <p:cNvSpPr/>
              <p:nvPr/>
            </p:nvSpPr>
            <p:spPr bwMode="auto">
              <a:xfrm>
                <a:off x="8360719" y="4134177"/>
                <a:ext cx="164592"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62" name="Rectangle 61"/>
              <p:cNvSpPr/>
              <p:nvPr/>
            </p:nvSpPr>
            <p:spPr bwMode="auto">
              <a:xfrm>
                <a:off x="8538297" y="4134177"/>
                <a:ext cx="70715"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sp>
            <p:nvSpPr>
              <p:cNvPr id="63" name="Rectangle 62"/>
              <p:cNvSpPr/>
              <p:nvPr/>
            </p:nvSpPr>
            <p:spPr bwMode="auto">
              <a:xfrm>
                <a:off x="5522700" y="4036318"/>
                <a:ext cx="76990" cy="82296"/>
              </a:xfrm>
              <a:prstGeom prst="rect">
                <a:avLst/>
              </a:prstGeom>
              <a:solidFill>
                <a:schemeClr val="accent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grpSp>
        <p:sp>
          <p:nvSpPr>
            <p:cNvPr id="64" name="Rectangle 63"/>
            <p:cNvSpPr/>
            <p:nvPr/>
          </p:nvSpPr>
          <p:spPr bwMode="auto">
            <a:xfrm>
              <a:off x="6639756" y="2986047"/>
              <a:ext cx="1942995" cy="500745"/>
            </a:xfrm>
            <a:prstGeom prst="rect">
              <a:avLst/>
            </a:prstGeom>
            <a:solidFill>
              <a:schemeClr val="accent6">
                <a:lumMod val="20000"/>
                <a:lumOff val="8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a:gradFill>
                  <a:gsLst>
                    <a:gs pos="0">
                      <a:schemeClr val="tx1"/>
                    </a:gs>
                    <a:gs pos="100000">
                      <a:schemeClr val="tx1"/>
                    </a:gs>
                  </a:gsLst>
                  <a:lin ang="5400000" scaled="0"/>
                </a:gradFill>
              </a:endParaRPr>
            </a:p>
          </p:txBody>
        </p:sp>
        <p:pic>
          <p:nvPicPr>
            <p:cNvPr id="3" name="Picture 2" descr="C:\Users\ADI\Pictures\Logos\Windows azur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523" y="3098296"/>
              <a:ext cx="1805461" cy="276246"/>
            </a:xfrm>
            <a:prstGeom prst="rect">
              <a:avLst/>
            </a:prstGeom>
            <a:noFill/>
            <a:extLst>
              <a:ext uri="{909E8E84-426E-40DD-AFC4-6F175D3DCCD1}">
                <a14:hiddenFill xmlns:a14="http://schemas.microsoft.com/office/drawing/2010/main">
                  <a:solidFill>
                    <a:srgbClr val="FFFFFF"/>
                  </a:solidFill>
                </a14:hiddenFill>
              </a:ext>
            </a:extLst>
          </p:spPr>
        </p:pic>
        <p:cxnSp>
          <p:nvCxnSpPr>
            <p:cNvPr id="66" name="Straight Arrow Connector 65"/>
            <p:cNvCxnSpPr/>
            <p:nvPr/>
          </p:nvCxnSpPr>
          <p:spPr>
            <a:xfrm>
              <a:off x="7613255" y="3486792"/>
              <a:ext cx="0" cy="44441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6096300" y="2743185"/>
              <a:ext cx="0" cy="1188017"/>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6096300" y="2265688"/>
              <a:ext cx="0" cy="471447"/>
            </a:xfrm>
            <a:prstGeom prst="straightConnector1">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73" name="Freeform 10"/>
            <p:cNvSpPr>
              <a:spLocks noEditPoints="1"/>
            </p:cNvSpPr>
            <p:nvPr/>
          </p:nvSpPr>
          <p:spPr bwMode="black">
            <a:xfrm>
              <a:off x="5112078" y="1101224"/>
              <a:ext cx="1945266" cy="1164463"/>
            </a:xfrm>
            <a:custGeom>
              <a:avLst/>
              <a:gdLst>
                <a:gd name="T0" fmla="*/ 401 w 672"/>
                <a:gd name="T1" fmla="*/ 114 h 402"/>
                <a:gd name="T2" fmla="*/ 545 w 672"/>
                <a:gd name="T3" fmla="*/ 258 h 402"/>
                <a:gd name="T4" fmla="*/ 401 w 672"/>
                <a:gd name="T5" fmla="*/ 402 h 402"/>
                <a:gd name="T6" fmla="*/ 401 w 672"/>
                <a:gd name="T7" fmla="*/ 402 h 402"/>
                <a:gd name="T8" fmla="*/ 401 w 672"/>
                <a:gd name="T9" fmla="*/ 402 h 402"/>
                <a:gd name="T10" fmla="*/ 96 w 672"/>
                <a:gd name="T11" fmla="*/ 402 h 402"/>
                <a:gd name="T12" fmla="*/ 96 w 672"/>
                <a:gd name="T13" fmla="*/ 402 h 402"/>
                <a:gd name="T14" fmla="*/ 90 w 672"/>
                <a:gd name="T15" fmla="*/ 402 h 402"/>
                <a:gd name="T16" fmla="*/ 90 w 672"/>
                <a:gd name="T17" fmla="*/ 402 h 402"/>
                <a:gd name="T18" fmla="*/ 89 w 672"/>
                <a:gd name="T19" fmla="*/ 402 h 402"/>
                <a:gd name="T20" fmla="*/ 0 w 672"/>
                <a:gd name="T21" fmla="*/ 314 h 402"/>
                <a:gd name="T22" fmla="*/ 89 w 672"/>
                <a:gd name="T23" fmla="*/ 225 h 402"/>
                <a:gd name="T24" fmla="*/ 124 w 672"/>
                <a:gd name="T25" fmla="*/ 233 h 402"/>
                <a:gd name="T26" fmla="*/ 226 w 672"/>
                <a:gd name="T27" fmla="*/ 171 h 402"/>
                <a:gd name="T28" fmla="*/ 278 w 672"/>
                <a:gd name="T29" fmla="*/ 184 h 402"/>
                <a:gd name="T30" fmla="*/ 401 w 672"/>
                <a:gd name="T31" fmla="*/ 114 h 402"/>
                <a:gd name="T32" fmla="*/ 544 w 672"/>
                <a:gd name="T33" fmla="*/ 0 h 402"/>
                <a:gd name="T34" fmla="*/ 672 w 672"/>
                <a:gd name="T35" fmla="*/ 128 h 402"/>
                <a:gd name="T36" fmla="*/ 557 w 672"/>
                <a:gd name="T37" fmla="*/ 255 h 402"/>
                <a:gd name="T38" fmla="*/ 557 w 672"/>
                <a:gd name="T39" fmla="*/ 253 h 402"/>
                <a:gd name="T40" fmla="*/ 403 w 672"/>
                <a:gd name="T41" fmla="*/ 100 h 402"/>
                <a:gd name="T42" fmla="*/ 273 w 672"/>
                <a:gd name="T43" fmla="*/ 171 h 402"/>
                <a:gd name="T44" fmla="*/ 229 w 672"/>
                <a:gd name="T45" fmla="*/ 159 h 402"/>
                <a:gd name="T46" fmla="*/ 192 w 672"/>
                <a:gd name="T47" fmla="*/ 168 h 402"/>
                <a:gd name="T48" fmla="*/ 265 w 672"/>
                <a:gd name="T49" fmla="*/ 104 h 402"/>
                <a:gd name="T50" fmla="*/ 295 w 672"/>
                <a:gd name="T51" fmla="*/ 111 h 402"/>
                <a:gd name="T52" fmla="*/ 387 w 672"/>
                <a:gd name="T53" fmla="*/ 53 h 402"/>
                <a:gd name="T54" fmla="*/ 433 w 672"/>
                <a:gd name="T55" fmla="*/ 65 h 402"/>
                <a:gd name="T56" fmla="*/ 544 w 672"/>
                <a:gd name="T57"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2" h="402">
                  <a:moveTo>
                    <a:pt x="401" y="114"/>
                  </a:moveTo>
                  <a:cubicBezTo>
                    <a:pt x="481" y="114"/>
                    <a:pt x="545" y="178"/>
                    <a:pt x="545" y="258"/>
                  </a:cubicBezTo>
                  <a:cubicBezTo>
                    <a:pt x="545" y="338"/>
                    <a:pt x="481" y="402"/>
                    <a:pt x="401" y="402"/>
                  </a:cubicBezTo>
                  <a:cubicBezTo>
                    <a:pt x="401" y="402"/>
                    <a:pt x="401" y="402"/>
                    <a:pt x="401" y="402"/>
                  </a:cubicBezTo>
                  <a:cubicBezTo>
                    <a:pt x="401" y="402"/>
                    <a:pt x="401" y="402"/>
                    <a:pt x="401" y="402"/>
                  </a:cubicBezTo>
                  <a:cubicBezTo>
                    <a:pt x="96" y="402"/>
                    <a:pt x="96" y="402"/>
                    <a:pt x="96" y="402"/>
                  </a:cubicBezTo>
                  <a:cubicBezTo>
                    <a:pt x="96" y="402"/>
                    <a:pt x="96" y="402"/>
                    <a:pt x="96" y="402"/>
                  </a:cubicBezTo>
                  <a:cubicBezTo>
                    <a:pt x="90" y="402"/>
                    <a:pt x="90" y="402"/>
                    <a:pt x="90" y="402"/>
                  </a:cubicBezTo>
                  <a:cubicBezTo>
                    <a:pt x="90" y="402"/>
                    <a:pt x="90" y="402"/>
                    <a:pt x="90" y="402"/>
                  </a:cubicBezTo>
                  <a:cubicBezTo>
                    <a:pt x="90" y="402"/>
                    <a:pt x="89" y="402"/>
                    <a:pt x="89" y="402"/>
                  </a:cubicBezTo>
                  <a:cubicBezTo>
                    <a:pt x="40" y="402"/>
                    <a:pt x="0" y="363"/>
                    <a:pt x="0" y="314"/>
                  </a:cubicBezTo>
                  <a:cubicBezTo>
                    <a:pt x="0" y="265"/>
                    <a:pt x="40" y="225"/>
                    <a:pt x="89" y="225"/>
                  </a:cubicBezTo>
                  <a:cubicBezTo>
                    <a:pt x="102" y="225"/>
                    <a:pt x="114" y="228"/>
                    <a:pt x="124" y="233"/>
                  </a:cubicBezTo>
                  <a:cubicBezTo>
                    <a:pt x="143" y="196"/>
                    <a:pt x="181" y="171"/>
                    <a:pt x="226" y="171"/>
                  </a:cubicBezTo>
                  <a:cubicBezTo>
                    <a:pt x="244" y="171"/>
                    <a:pt x="262" y="176"/>
                    <a:pt x="278" y="184"/>
                  </a:cubicBezTo>
                  <a:cubicBezTo>
                    <a:pt x="303" y="142"/>
                    <a:pt x="349" y="114"/>
                    <a:pt x="401" y="114"/>
                  </a:cubicBezTo>
                  <a:close/>
                  <a:moveTo>
                    <a:pt x="544" y="0"/>
                  </a:moveTo>
                  <a:cubicBezTo>
                    <a:pt x="615" y="0"/>
                    <a:pt x="672" y="57"/>
                    <a:pt x="672" y="128"/>
                  </a:cubicBezTo>
                  <a:cubicBezTo>
                    <a:pt x="672" y="194"/>
                    <a:pt x="622" y="249"/>
                    <a:pt x="557" y="255"/>
                  </a:cubicBezTo>
                  <a:cubicBezTo>
                    <a:pt x="557" y="253"/>
                    <a:pt x="557" y="253"/>
                    <a:pt x="557" y="253"/>
                  </a:cubicBezTo>
                  <a:cubicBezTo>
                    <a:pt x="557" y="168"/>
                    <a:pt x="488" y="100"/>
                    <a:pt x="403" y="100"/>
                  </a:cubicBezTo>
                  <a:cubicBezTo>
                    <a:pt x="348" y="100"/>
                    <a:pt x="300" y="128"/>
                    <a:pt x="273" y="171"/>
                  </a:cubicBezTo>
                  <a:cubicBezTo>
                    <a:pt x="260" y="163"/>
                    <a:pt x="245" y="159"/>
                    <a:pt x="229" y="159"/>
                  </a:cubicBezTo>
                  <a:cubicBezTo>
                    <a:pt x="216" y="159"/>
                    <a:pt x="203" y="162"/>
                    <a:pt x="192" y="168"/>
                  </a:cubicBezTo>
                  <a:cubicBezTo>
                    <a:pt x="196" y="132"/>
                    <a:pt x="227" y="104"/>
                    <a:pt x="265" y="104"/>
                  </a:cubicBezTo>
                  <a:cubicBezTo>
                    <a:pt x="275" y="104"/>
                    <a:pt x="286" y="106"/>
                    <a:pt x="295" y="111"/>
                  </a:cubicBezTo>
                  <a:cubicBezTo>
                    <a:pt x="311" y="77"/>
                    <a:pt x="346" y="53"/>
                    <a:pt x="387" y="53"/>
                  </a:cubicBezTo>
                  <a:cubicBezTo>
                    <a:pt x="403" y="53"/>
                    <a:pt x="419" y="57"/>
                    <a:pt x="433" y="65"/>
                  </a:cubicBezTo>
                  <a:cubicBezTo>
                    <a:pt x="455" y="26"/>
                    <a:pt x="496" y="0"/>
                    <a:pt x="544" y="0"/>
                  </a:cubicBezTo>
                  <a:close/>
                </a:path>
              </a:pathLst>
            </a:custGeom>
            <a:solidFill>
              <a:schemeClr val="accent6"/>
            </a:solidFill>
            <a:ln>
              <a:noFill/>
            </a:ln>
            <a:extLst/>
          </p:spPr>
          <p:txBody>
            <a:bodyPr vert="horz" wrap="square" lIns="91440" tIns="45720" rIns="640080" bIns="91440" numCol="1" anchor="b" anchorCtr="0" compatLnSpc="1">
              <a:prstTxWarp prst="textNoShape">
                <a:avLst/>
              </a:prstTxWarp>
            </a:bodyPr>
            <a:lstStyle/>
            <a:p>
              <a:pPr algn="ctr"/>
              <a:r>
                <a:rPr lang="en-US" sz="2400" dirty="0">
                  <a:gradFill>
                    <a:gsLst>
                      <a:gs pos="0">
                        <a:schemeClr val="bg1"/>
                      </a:gs>
                      <a:gs pos="100000">
                        <a:schemeClr val="bg1"/>
                      </a:gs>
                    </a:gsLst>
                    <a:lin ang="5400000" scaled="0"/>
                  </a:gradFill>
                </a:rPr>
                <a:t>Internet</a:t>
              </a:r>
            </a:p>
          </p:txBody>
        </p:sp>
        <p:sp>
          <p:nvSpPr>
            <p:cNvPr id="74" name="Rectangle 73"/>
            <p:cNvSpPr/>
            <p:nvPr/>
          </p:nvSpPr>
          <p:spPr bwMode="auto">
            <a:xfrm>
              <a:off x="5482388" y="3915525"/>
              <a:ext cx="3086312" cy="291521"/>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14099" fontAlgn="base">
                <a:spcBef>
                  <a:spcPct val="0"/>
                </a:spcBef>
                <a:spcAft>
                  <a:spcPct val="0"/>
                </a:spcAft>
              </a:pPr>
              <a:r>
                <a:rPr lang="en-US" sz="1600" b="1" dirty="0">
                  <a:gradFill>
                    <a:gsLst>
                      <a:gs pos="0">
                        <a:schemeClr val="tx1"/>
                      </a:gs>
                      <a:gs pos="100000">
                        <a:schemeClr val="tx1"/>
                      </a:gs>
                    </a:gsLst>
                    <a:lin ang="5400000" scaled="0"/>
                  </a:gradFill>
                </a:rPr>
                <a:t>SQL Database Firewall</a:t>
              </a:r>
            </a:p>
          </p:txBody>
        </p:sp>
      </p:grpSp>
      <p:sp>
        <p:nvSpPr>
          <p:cNvPr id="4" name="Title 3"/>
          <p:cNvSpPr>
            <a:spLocks noGrp="1"/>
          </p:cNvSpPr>
          <p:nvPr>
            <p:ph type="title"/>
          </p:nvPr>
        </p:nvSpPr>
        <p:spPr/>
        <p:txBody>
          <a:bodyPr/>
          <a:lstStyle/>
          <a:p>
            <a:r>
              <a:rPr lang="en-US" dirty="0" smtClean="0"/>
              <a:t>SQL Database Firewall</a:t>
            </a:r>
            <a:endParaRPr lang="en-US" dirty="0"/>
          </a:p>
        </p:txBody>
      </p:sp>
      <p:sp>
        <p:nvSpPr>
          <p:cNvPr id="5" name="Content Placeholder 4"/>
          <p:cNvSpPr>
            <a:spLocks noGrp="1"/>
          </p:cNvSpPr>
          <p:nvPr>
            <p:ph type="body" sz="quarter" idx="10"/>
          </p:nvPr>
        </p:nvSpPr>
        <p:spPr>
          <a:xfrm>
            <a:off x="6351510" y="1619882"/>
            <a:ext cx="5258936" cy="2294474"/>
          </a:xfrm>
        </p:spPr>
        <p:txBody>
          <a:bodyPr/>
          <a:lstStyle/>
          <a:p>
            <a:r>
              <a:rPr lang="en-US" sz="2800" dirty="0">
                <a:solidFill>
                  <a:schemeClr val="accent2">
                    <a:alpha val="99000"/>
                  </a:schemeClr>
                </a:solidFill>
              </a:rPr>
              <a:t>Securing your data</a:t>
            </a:r>
            <a:endParaRPr lang="en-US" sz="2800" dirty="0"/>
          </a:p>
          <a:p>
            <a:r>
              <a:rPr lang="en-US" sz="1600" dirty="0">
                <a:latin typeface="+mn-lt"/>
              </a:rPr>
              <a:t>IP Address-based access control for SQL Database</a:t>
            </a:r>
          </a:p>
          <a:p>
            <a:r>
              <a:rPr lang="en-US" sz="1600" dirty="0">
                <a:latin typeface="+mn-lt"/>
              </a:rPr>
              <a:t>Rules can be defined at the </a:t>
            </a:r>
            <a:r>
              <a:rPr lang="en-US" sz="1600" i="1" dirty="0">
                <a:latin typeface="+mn-lt"/>
              </a:rPr>
              <a:t>server </a:t>
            </a:r>
            <a:r>
              <a:rPr lang="en-US" sz="1600" dirty="0" smtClean="0">
                <a:latin typeface="+mn-lt"/>
              </a:rPr>
              <a:t>and/or </a:t>
            </a:r>
            <a:r>
              <a:rPr lang="en-US" sz="1600" i="1" dirty="0" smtClean="0">
                <a:latin typeface="+mn-lt"/>
              </a:rPr>
              <a:t>database </a:t>
            </a:r>
            <a:r>
              <a:rPr lang="en-US" sz="1600" dirty="0" smtClean="0">
                <a:latin typeface="+mn-lt"/>
              </a:rPr>
              <a:t>level</a:t>
            </a:r>
            <a:endParaRPr lang="en-US" sz="1600" i="1" dirty="0">
              <a:latin typeface="+mn-lt"/>
            </a:endParaRPr>
          </a:p>
          <a:p>
            <a:r>
              <a:rPr lang="en-US" sz="1600" dirty="0">
                <a:latin typeface="+mn-lt"/>
              </a:rPr>
              <a:t>No IP authorized by </a:t>
            </a:r>
            <a:r>
              <a:rPr lang="en-US" sz="1600" dirty="0" smtClean="0">
                <a:latin typeface="+mn-lt"/>
              </a:rPr>
              <a:t>default, not even Azure itself</a:t>
            </a:r>
            <a:endParaRPr lang="en-US" sz="1600" dirty="0">
              <a:latin typeface="+mn-lt"/>
            </a:endParaRPr>
          </a:p>
          <a:p>
            <a:r>
              <a:rPr lang="en-US" sz="1600" dirty="0">
                <a:latin typeface="+mn-lt"/>
              </a:rPr>
              <a:t>Configurable using the SQL Database Portal and REST API</a:t>
            </a:r>
          </a:p>
          <a:p>
            <a:r>
              <a:rPr lang="en-US" sz="1600" dirty="0">
                <a:latin typeface="+mn-lt"/>
              </a:rPr>
              <a:t>Option to disable/enable access from applications hosted in Windows </a:t>
            </a:r>
            <a:r>
              <a:rPr lang="en-US" sz="1600" dirty="0" smtClean="0">
                <a:latin typeface="+mn-lt"/>
              </a:rPr>
              <a:t>Azure </a:t>
            </a:r>
            <a:endParaRPr lang="en-US" sz="1600" dirty="0">
              <a:latin typeface="+mn-lt"/>
            </a:endParaRPr>
          </a:p>
        </p:txBody>
      </p:sp>
    </p:spTree>
    <p:extLst>
      <p:ext uri="{BB962C8B-B14F-4D97-AF65-F5344CB8AC3E}">
        <p14:creationId xmlns:p14="http://schemas.microsoft.com/office/powerpoint/2010/main" val="3160283515"/>
      </p:ext>
    </p:extLst>
  </p:cSld>
  <p:clrMapOvr>
    <a:masterClrMapping/>
  </p:clrMapOvr>
  <mc:AlternateContent xmlns:mc="http://schemas.openxmlformats.org/markup-compatibility/2006" xmlns:p14="http://schemas.microsoft.com/office/powerpoint/2010/main">
    <mc:Choice Requires="p14">
      <p:transition spd="med" p14:dur="700" advTm="4078">
        <p:fade/>
      </p:transition>
    </mc:Choice>
    <mc:Fallback xmlns="">
      <p:transition spd="med" advTm="4078">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8171" y="4468763"/>
            <a:ext cx="11432977" cy="2026629"/>
          </a:xfrm>
        </p:spPr>
        <p:txBody>
          <a:bodyPr>
            <a:normAutofit fontScale="90000"/>
          </a:bodyPr>
          <a:lstStyle/>
          <a:p>
            <a:r>
              <a:rPr lang="en-US" dirty="0" smtClean="0"/>
              <a:t>Provisioning a Server [Greg]</a:t>
            </a:r>
            <a:br>
              <a:rPr lang="en-US" dirty="0" smtClean="0"/>
            </a:br>
            <a:r>
              <a:rPr lang="en-US" dirty="0" smtClean="0"/>
              <a:t>Configuring Firewall Rules</a:t>
            </a:r>
            <a:br>
              <a:rPr lang="en-US" dirty="0" smtClean="0"/>
            </a:br>
            <a:r>
              <a:rPr lang="en-US" dirty="0" smtClean="0"/>
              <a:t>Creating a Database</a:t>
            </a:r>
            <a:br>
              <a:rPr lang="en-US" dirty="0" smtClean="0"/>
            </a:br>
            <a:r>
              <a:rPr lang="en-US" dirty="0" smtClean="0"/>
              <a:t>Connecting via SSMS</a:t>
            </a:r>
            <a:endParaRPr lang="en-US" dirty="0"/>
          </a:p>
        </p:txBody>
      </p:sp>
    </p:spTree>
    <p:extLst>
      <p:ext uri="{BB962C8B-B14F-4D97-AF65-F5344CB8AC3E}">
        <p14:creationId xmlns:p14="http://schemas.microsoft.com/office/powerpoint/2010/main" val="15388380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2:</a:t>
            </a:r>
          </a:p>
          <a:p>
            <a:endParaRPr lang="en-NZ" sz="4400" dirty="0">
              <a:solidFill>
                <a:prstClr val="black"/>
              </a:solidFill>
            </a:endParaRPr>
          </a:p>
          <a:p>
            <a:r>
              <a:rPr lang="en-GB" sz="4400" dirty="0" smtClean="0">
                <a:solidFill>
                  <a:prstClr val="black"/>
                </a:solidFill>
              </a:rPr>
              <a:t>Tooling</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907235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p:cNvGraphicFramePr>
            <a:graphicFrameLocks noChangeAspect="1"/>
          </p:cNvGraphicFramePr>
          <p:nvPr>
            <p:custDataLst>
              <p:tags r:id="rId2"/>
            </p:custDataLst>
            <p:extLst/>
          </p:nvPr>
        </p:nvGraphicFramePr>
        <p:xfrm>
          <a:off x="5" y="10"/>
          <a:ext cx="158792" cy="158751"/>
        </p:xfrm>
        <a:graphic>
          <a:graphicData uri="http://schemas.openxmlformats.org/presentationml/2006/ole">
            <mc:AlternateContent xmlns:mc="http://schemas.openxmlformats.org/markup-compatibility/2006">
              <mc:Choice xmlns:v="urn:schemas-microsoft-com:vml" Requires="v">
                <p:oleObj spid="_x0000_s6180"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5" y="10"/>
                        <a:ext cx="158792" cy="158751"/>
                      </a:xfrm>
                      <a:prstGeom prst="rect">
                        <a:avLst/>
                      </a:prstGeom>
                    </p:spPr>
                  </p:pic>
                </p:oleObj>
              </mc:Fallback>
            </mc:AlternateContent>
          </a:graphicData>
        </a:graphic>
      </p:graphicFrame>
      <p:sp>
        <p:nvSpPr>
          <p:cNvPr id="3" name="Title 2"/>
          <p:cNvSpPr>
            <a:spLocks noGrp="1"/>
          </p:cNvSpPr>
          <p:nvPr>
            <p:ph type="title"/>
            <p:custDataLst>
              <p:tags r:id="rId3"/>
            </p:custDataLst>
          </p:nvPr>
        </p:nvSpPr>
        <p:spPr/>
        <p:txBody>
          <a:bodyPr/>
          <a:lstStyle/>
          <a:p>
            <a:r>
              <a:rPr lang="en-IN" sz="4400" dirty="0" smtClean="0"/>
              <a:t>Management Tooling</a:t>
            </a:r>
            <a:endParaRPr lang="en-US" sz="4400" dirty="0"/>
          </a:p>
        </p:txBody>
      </p:sp>
      <p:grpSp>
        <p:nvGrpSpPr>
          <p:cNvPr id="2" name="Group 1"/>
          <p:cNvGrpSpPr/>
          <p:nvPr/>
        </p:nvGrpSpPr>
        <p:grpSpPr>
          <a:xfrm>
            <a:off x="164786" y="1401763"/>
            <a:ext cx="2288067" cy="4995862"/>
            <a:chOff x="287337" y="1401763"/>
            <a:chExt cx="2862072" cy="4995862"/>
          </a:xfrm>
        </p:grpSpPr>
        <p:sp>
          <p:nvSpPr>
            <p:cNvPr id="4" name="Rectangle 3"/>
            <p:cNvSpPr/>
            <p:nvPr/>
          </p:nvSpPr>
          <p:spPr bwMode="auto">
            <a:xfrm>
              <a:off x="287337" y="1401763"/>
              <a:ext cx="2862072" cy="189937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IN" sz="2800" dirty="0" smtClean="0">
                  <a:ln>
                    <a:solidFill>
                      <a:prstClr val="white">
                        <a:alpha val="0"/>
                      </a:prstClr>
                    </a:solidFill>
                  </a:ln>
                  <a:solidFill>
                    <a:prstClr val="white"/>
                  </a:solidFill>
                  <a:ea typeface="Segoe UI" pitchFamily="34" charset="0"/>
                  <a:cs typeface="Segoe UI" pitchFamily="34" charset="0"/>
                </a:rPr>
                <a:t>Azure Management Portal</a:t>
              </a:r>
              <a:endParaRPr lang="en-IN" sz="2800" dirty="0">
                <a:ln>
                  <a:solidFill>
                    <a:prstClr val="white">
                      <a:alpha val="0"/>
                    </a:prstClr>
                  </a:solidFill>
                </a:ln>
                <a:solidFill>
                  <a:prstClr val="white"/>
                </a:solidFill>
                <a:ea typeface="Segoe UI" pitchFamily="34" charset="0"/>
                <a:cs typeface="Segoe UI" pitchFamily="34" charset="0"/>
              </a:endParaRPr>
            </a:p>
          </p:txBody>
        </p:sp>
        <p:sp>
          <p:nvSpPr>
            <p:cNvPr id="27" name="Rectangle 26"/>
            <p:cNvSpPr/>
            <p:nvPr/>
          </p:nvSpPr>
          <p:spPr bwMode="auto">
            <a:xfrm>
              <a:off x="287337" y="3363133"/>
              <a:ext cx="2862072"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ts val="1200"/>
                </a:spcBef>
                <a:spcAft>
                  <a:spcPct val="0"/>
                </a:spcAft>
              </a:pPr>
              <a:r>
                <a:rPr lang="en-IN" dirty="0" smtClean="0">
                  <a:ln>
                    <a:solidFill>
                      <a:prstClr val="white">
                        <a:alpha val="0"/>
                      </a:prstClr>
                    </a:solidFill>
                  </a:ln>
                  <a:gradFill>
                    <a:gsLst>
                      <a:gs pos="0">
                        <a:srgbClr val="4BACC6"/>
                      </a:gs>
                      <a:gs pos="100000">
                        <a:srgbClr val="4BACC6"/>
                      </a:gs>
                    </a:gsLst>
                    <a:lin ang="5400000" scaled="0"/>
                  </a:gradFill>
                  <a:ea typeface="Segoe UI" pitchFamily="34" charset="0"/>
                  <a:cs typeface="Segoe UI" pitchFamily="34" charset="0"/>
                </a:rPr>
                <a:t>Server Configuration</a:t>
              </a:r>
            </a:p>
            <a:p>
              <a:pPr defTabSz="932472" fontAlgn="base">
                <a:spcBef>
                  <a:spcPts val="1200"/>
                </a:spcBef>
                <a:spcAft>
                  <a:spcPct val="0"/>
                </a:spcAft>
              </a:pPr>
              <a:r>
                <a:rPr lang="en-IN" dirty="0" smtClean="0">
                  <a:ln>
                    <a:solidFill>
                      <a:prstClr val="white">
                        <a:alpha val="0"/>
                      </a:prstClr>
                    </a:solidFill>
                  </a:ln>
                  <a:gradFill>
                    <a:gsLst>
                      <a:gs pos="0">
                        <a:srgbClr val="4BACC6"/>
                      </a:gs>
                      <a:gs pos="100000">
                        <a:srgbClr val="4BACC6"/>
                      </a:gs>
                    </a:gsLst>
                    <a:lin ang="5400000" scaled="0"/>
                  </a:gradFill>
                  <a:ea typeface="Segoe UI" pitchFamily="34" charset="0"/>
                  <a:cs typeface="Segoe UI" pitchFamily="34" charset="0"/>
                </a:rPr>
                <a:t>Database Creation</a:t>
              </a:r>
            </a:p>
            <a:p>
              <a:pPr defTabSz="932472" fontAlgn="base">
                <a:spcBef>
                  <a:spcPts val="1200"/>
                </a:spcBef>
                <a:spcAft>
                  <a:spcPct val="0"/>
                </a:spcAft>
              </a:pPr>
              <a:r>
                <a:rPr lang="en-IN" dirty="0" smtClean="0">
                  <a:ln>
                    <a:solidFill>
                      <a:prstClr val="white">
                        <a:alpha val="0"/>
                      </a:prstClr>
                    </a:solidFill>
                  </a:ln>
                  <a:gradFill>
                    <a:gsLst>
                      <a:gs pos="0">
                        <a:srgbClr val="4BACC6"/>
                      </a:gs>
                      <a:gs pos="100000">
                        <a:srgbClr val="4BACC6"/>
                      </a:gs>
                    </a:gsLst>
                    <a:lin ang="5400000" scaled="0"/>
                  </a:gradFill>
                  <a:ea typeface="Segoe UI" pitchFamily="34" charset="0"/>
                  <a:cs typeface="Segoe UI" pitchFamily="34" charset="0"/>
                </a:rPr>
                <a:t>Firewall Configuration</a:t>
              </a:r>
            </a:p>
            <a:p>
              <a:pPr defTabSz="932472" fontAlgn="base">
                <a:spcBef>
                  <a:spcPts val="1200"/>
                </a:spcBef>
                <a:spcAft>
                  <a:spcPct val="0"/>
                </a:spcAft>
              </a:pPr>
              <a:r>
                <a:rPr lang="en-IN" dirty="0" smtClean="0">
                  <a:ln>
                    <a:solidFill>
                      <a:prstClr val="white">
                        <a:alpha val="0"/>
                      </a:prstClr>
                    </a:solidFill>
                  </a:ln>
                  <a:gradFill>
                    <a:gsLst>
                      <a:gs pos="0">
                        <a:srgbClr val="4BACC6"/>
                      </a:gs>
                      <a:gs pos="100000">
                        <a:srgbClr val="4BACC6"/>
                      </a:gs>
                    </a:gsLst>
                    <a:lin ang="5400000" scaled="0"/>
                  </a:gradFill>
                  <a:ea typeface="Segoe UI" pitchFamily="34" charset="0"/>
                  <a:cs typeface="Segoe UI" pitchFamily="34" charset="0"/>
                </a:rPr>
                <a:t>High Level Monitoring</a:t>
              </a:r>
            </a:p>
            <a:p>
              <a:pPr defTabSz="932472" fontAlgn="base">
                <a:spcBef>
                  <a:spcPts val="1200"/>
                </a:spcBef>
                <a:spcAft>
                  <a:spcPct val="0"/>
                </a:spcAft>
              </a:pPr>
              <a:r>
                <a:rPr lang="en-IN" dirty="0" smtClean="0">
                  <a:ln>
                    <a:solidFill>
                      <a:prstClr val="white">
                        <a:alpha val="0"/>
                      </a:prstClr>
                    </a:solidFill>
                  </a:ln>
                  <a:gradFill>
                    <a:gsLst>
                      <a:gs pos="0">
                        <a:srgbClr val="4BACC6"/>
                      </a:gs>
                      <a:gs pos="100000">
                        <a:srgbClr val="4BACC6"/>
                      </a:gs>
                    </a:gsLst>
                    <a:lin ang="5400000" scaled="0"/>
                  </a:gradFill>
                  <a:ea typeface="Segoe UI" pitchFamily="34" charset="0"/>
                  <a:cs typeface="Segoe UI" pitchFamily="34" charset="0"/>
                </a:rPr>
                <a:t>HTML based</a:t>
              </a:r>
              <a:endParaRPr lang="en-IN" dirty="0">
                <a:ln>
                  <a:solidFill>
                    <a:prstClr val="white">
                      <a:alpha val="0"/>
                    </a:prstClr>
                  </a:solidFill>
                </a:ln>
                <a:gradFill>
                  <a:gsLst>
                    <a:gs pos="0">
                      <a:srgbClr val="4BACC6"/>
                    </a:gs>
                    <a:gs pos="100000">
                      <a:srgbClr val="4BACC6"/>
                    </a:gs>
                  </a:gsLst>
                  <a:lin ang="5400000" scaled="0"/>
                </a:gradFill>
                <a:ea typeface="Segoe UI" pitchFamily="34" charset="0"/>
                <a:cs typeface="Segoe UI" pitchFamily="34" charset="0"/>
              </a:endParaRPr>
            </a:p>
          </p:txBody>
        </p:sp>
      </p:grpSp>
      <p:grpSp>
        <p:nvGrpSpPr>
          <p:cNvPr id="6" name="Group 5"/>
          <p:cNvGrpSpPr/>
          <p:nvPr/>
        </p:nvGrpSpPr>
        <p:grpSpPr>
          <a:xfrm>
            <a:off x="4951299" y="1401763"/>
            <a:ext cx="2288067" cy="4995862"/>
            <a:chOff x="6148511" y="1401763"/>
            <a:chExt cx="2862072" cy="4995862"/>
          </a:xfrm>
        </p:grpSpPr>
        <p:sp>
          <p:nvSpPr>
            <p:cNvPr id="25" name="Rectangle 24"/>
            <p:cNvSpPr/>
            <p:nvPr/>
          </p:nvSpPr>
          <p:spPr bwMode="auto">
            <a:xfrm>
              <a:off x="6148511" y="1401763"/>
              <a:ext cx="2862072" cy="1899376"/>
            </a:xfrm>
            <a:prstGeom prst="rect">
              <a:avLst/>
            </a:prstGeom>
            <a:solidFill>
              <a:srgbClr val="287E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US" sz="2800" dirty="0" smtClean="0">
                  <a:ln>
                    <a:solidFill>
                      <a:prstClr val="white">
                        <a:alpha val="0"/>
                      </a:prstClr>
                    </a:solidFill>
                  </a:ln>
                  <a:solidFill>
                    <a:prstClr val="white"/>
                  </a:solidFill>
                  <a:ea typeface="Segoe UI" pitchFamily="34" charset="0"/>
                  <a:cs typeface="Segoe UI" pitchFamily="34" charset="0"/>
                </a:rPr>
                <a:t>SQL Server Management Studio</a:t>
              </a:r>
              <a:endParaRPr lang="en-US" sz="2800" dirty="0">
                <a:ln>
                  <a:solidFill>
                    <a:prstClr val="white">
                      <a:alpha val="0"/>
                    </a:prstClr>
                  </a:solidFill>
                </a:ln>
                <a:solidFill>
                  <a:prstClr val="white"/>
                </a:solidFill>
                <a:ea typeface="Segoe UI" pitchFamily="34" charset="0"/>
                <a:cs typeface="Segoe UI" pitchFamily="34" charset="0"/>
              </a:endParaRPr>
            </a:p>
          </p:txBody>
        </p:sp>
        <p:sp>
          <p:nvSpPr>
            <p:cNvPr id="29" name="Rectangle 28"/>
            <p:cNvSpPr/>
            <p:nvPr/>
          </p:nvSpPr>
          <p:spPr bwMode="auto">
            <a:xfrm>
              <a:off x="6148511" y="3363133"/>
              <a:ext cx="2862072"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ts val="1200"/>
                </a:spcBef>
                <a:spcAft>
                  <a:spcPct val="0"/>
                </a:spcAft>
              </a:pPr>
              <a: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t>Object Explorer</a:t>
              </a:r>
            </a:p>
            <a:p>
              <a:pPr defTabSz="932472" fontAlgn="base">
                <a:spcBef>
                  <a:spcPts val="1200"/>
                </a:spcBef>
                <a:spcAft>
                  <a:spcPct val="0"/>
                </a:spcAft>
              </a:pPr>
              <a: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t>Query Windows</a:t>
              </a:r>
            </a:p>
            <a:p>
              <a:pPr defTabSz="932472" fontAlgn="base">
                <a:spcBef>
                  <a:spcPts val="1200"/>
                </a:spcBef>
                <a:spcAft>
                  <a:spcPct val="0"/>
                </a:spcAft>
              </a:pPr>
              <a: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t>Execution Plans</a:t>
              </a:r>
            </a:p>
            <a:p>
              <a:pPr defTabSz="932472" fontAlgn="base">
                <a:spcBef>
                  <a:spcPts val="1200"/>
                </a:spcBef>
                <a:spcAft>
                  <a:spcPct val="0"/>
                </a:spcAft>
              </a:pPr>
              <a: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t>Many features not supported</a:t>
              </a:r>
              <a:b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br>
              <a: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t>- SQL Agent</a:t>
              </a:r>
              <a:b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br>
              <a: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t>- Management Plans</a:t>
              </a:r>
              <a:b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br>
              <a:r>
                <a:rPr lang="en-IN" dirty="0" smtClean="0">
                  <a:ln>
                    <a:solidFill>
                      <a:prstClr val="white">
                        <a:alpha val="0"/>
                      </a:prstClr>
                    </a:solidFill>
                  </a:ln>
                  <a:gradFill>
                    <a:gsLst>
                      <a:gs pos="0">
                        <a:srgbClr val="287EFF"/>
                      </a:gs>
                      <a:gs pos="100000">
                        <a:srgbClr val="287EFF"/>
                      </a:gs>
                    </a:gsLst>
                    <a:lin ang="5400000" scaled="0"/>
                  </a:gradFill>
                  <a:ea typeface="Segoe UI" pitchFamily="34" charset="0"/>
                  <a:cs typeface="Segoe UI" pitchFamily="34" charset="0"/>
                </a:rPr>
                <a:t>- etc…</a:t>
              </a:r>
            </a:p>
          </p:txBody>
        </p:sp>
      </p:grpSp>
      <p:grpSp>
        <p:nvGrpSpPr>
          <p:cNvPr id="7" name="Group 6"/>
          <p:cNvGrpSpPr/>
          <p:nvPr/>
        </p:nvGrpSpPr>
        <p:grpSpPr>
          <a:xfrm>
            <a:off x="7325712" y="1401763"/>
            <a:ext cx="2288067" cy="4995862"/>
            <a:chOff x="9079099" y="1401763"/>
            <a:chExt cx="2862072" cy="4995862"/>
          </a:xfrm>
        </p:grpSpPr>
        <p:sp>
          <p:nvSpPr>
            <p:cNvPr id="26" name="Rectangle 25"/>
            <p:cNvSpPr/>
            <p:nvPr/>
          </p:nvSpPr>
          <p:spPr bwMode="auto">
            <a:xfrm>
              <a:off x="9079099" y="1401763"/>
              <a:ext cx="2862072" cy="1899376"/>
            </a:xfrm>
            <a:prstGeom prst="rect">
              <a:avLst/>
            </a:prstGeom>
            <a:solidFill>
              <a:srgbClr val="00569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US" sz="2800" dirty="0" smtClean="0">
                  <a:ln>
                    <a:solidFill>
                      <a:prstClr val="white">
                        <a:alpha val="0"/>
                      </a:prstClr>
                    </a:solidFill>
                  </a:ln>
                  <a:solidFill>
                    <a:prstClr val="white"/>
                  </a:solidFill>
                  <a:ea typeface="Segoe UI" pitchFamily="34" charset="0"/>
                  <a:cs typeface="Segoe UI" pitchFamily="34" charset="0"/>
                </a:rPr>
                <a:t>REST API &amp; PowerShell</a:t>
              </a:r>
              <a:endParaRPr lang="en-US" sz="2800" dirty="0">
                <a:ln>
                  <a:solidFill>
                    <a:prstClr val="white">
                      <a:alpha val="0"/>
                    </a:prstClr>
                  </a:solidFill>
                </a:ln>
                <a:solidFill>
                  <a:prstClr val="white"/>
                </a:solidFill>
                <a:ea typeface="Segoe UI" pitchFamily="34" charset="0"/>
                <a:cs typeface="Segoe UI" pitchFamily="34" charset="0"/>
              </a:endParaRPr>
            </a:p>
          </p:txBody>
        </p:sp>
        <p:sp>
          <p:nvSpPr>
            <p:cNvPr id="30" name="Rectangle 29"/>
            <p:cNvSpPr/>
            <p:nvPr/>
          </p:nvSpPr>
          <p:spPr bwMode="auto">
            <a:xfrm>
              <a:off x="9079099" y="3363133"/>
              <a:ext cx="2862072"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ts val="1200"/>
                </a:spcBef>
                <a:spcAft>
                  <a:spcPct val="0"/>
                </a:spcAft>
              </a:pPr>
              <a:r>
                <a:rPr lang="en-NZ"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Control deployment</a:t>
              </a:r>
            </a:p>
            <a:p>
              <a:pPr defTabSz="932472" fontAlgn="base">
                <a:spcBef>
                  <a:spcPts val="1200"/>
                </a:spcBef>
                <a:spcAft>
                  <a:spcPct val="0"/>
                </a:spcAft>
              </a:pPr>
              <a:r>
                <a:rPr lang="en-NZ"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Automate management</a:t>
              </a:r>
            </a:p>
            <a:p>
              <a:pPr defTabSz="932472" fontAlgn="base">
                <a:spcBef>
                  <a:spcPts val="1200"/>
                </a:spcBef>
                <a:spcAft>
                  <a:spcPct val="0"/>
                </a:spcAft>
              </a:pPr>
              <a:r>
                <a:rPr lang="en-NZ"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Useful for lifecycle management</a:t>
              </a:r>
            </a:p>
            <a:p>
              <a:pPr defTabSz="932472" fontAlgn="base">
                <a:spcBef>
                  <a:spcPts val="1200"/>
                </a:spcBef>
                <a:spcAft>
                  <a:spcPct val="0"/>
                </a:spcAft>
              </a:pPr>
              <a:r>
                <a:rPr lang="en-NZ"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Continuous build/integration</a:t>
              </a:r>
              <a:endParaRPr lang="en-IN" dirty="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endParaRPr>
            </a:p>
          </p:txBody>
        </p:sp>
      </p:grpSp>
      <p:grpSp>
        <p:nvGrpSpPr>
          <p:cNvPr id="5" name="Group 4"/>
          <p:cNvGrpSpPr/>
          <p:nvPr/>
        </p:nvGrpSpPr>
        <p:grpSpPr>
          <a:xfrm>
            <a:off x="2548619" y="1401763"/>
            <a:ext cx="2288067" cy="4995862"/>
            <a:chOff x="3217924" y="1401763"/>
            <a:chExt cx="2862072" cy="4995862"/>
          </a:xfrm>
        </p:grpSpPr>
        <p:sp>
          <p:nvSpPr>
            <p:cNvPr id="24" name="Rectangle 23"/>
            <p:cNvSpPr/>
            <p:nvPr/>
          </p:nvSpPr>
          <p:spPr bwMode="auto">
            <a:xfrm>
              <a:off x="3217924" y="1401763"/>
              <a:ext cx="2862072" cy="189937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US" sz="2800" dirty="0" smtClean="0">
                  <a:ln>
                    <a:solidFill>
                      <a:prstClr val="white">
                        <a:alpha val="0"/>
                      </a:prstClr>
                    </a:solidFill>
                  </a:ln>
                  <a:solidFill>
                    <a:prstClr val="white"/>
                  </a:solidFill>
                  <a:ea typeface="Segoe UI" pitchFamily="34" charset="0"/>
                  <a:cs typeface="Segoe UI" pitchFamily="34" charset="0"/>
                </a:rPr>
                <a:t>SQL </a:t>
              </a:r>
              <a:br>
                <a:rPr lang="en-US" sz="2800" dirty="0" smtClean="0">
                  <a:ln>
                    <a:solidFill>
                      <a:prstClr val="white">
                        <a:alpha val="0"/>
                      </a:prstClr>
                    </a:solidFill>
                  </a:ln>
                  <a:solidFill>
                    <a:prstClr val="white"/>
                  </a:solidFill>
                  <a:ea typeface="Segoe UI" pitchFamily="34" charset="0"/>
                  <a:cs typeface="Segoe UI" pitchFamily="34" charset="0"/>
                </a:rPr>
              </a:br>
              <a:r>
                <a:rPr lang="en-US" sz="2800" dirty="0" smtClean="0">
                  <a:ln>
                    <a:solidFill>
                      <a:prstClr val="white">
                        <a:alpha val="0"/>
                      </a:prstClr>
                    </a:solidFill>
                  </a:ln>
                  <a:solidFill>
                    <a:prstClr val="white"/>
                  </a:solidFill>
                  <a:ea typeface="Segoe UI" pitchFamily="34" charset="0"/>
                  <a:cs typeface="Segoe UI" pitchFamily="34" charset="0"/>
                </a:rPr>
                <a:t>Database Management Portal</a:t>
              </a:r>
              <a:endParaRPr lang="en-US" sz="2800" dirty="0">
                <a:ln>
                  <a:solidFill>
                    <a:prstClr val="white">
                      <a:alpha val="0"/>
                    </a:prstClr>
                  </a:solidFill>
                </a:ln>
                <a:solidFill>
                  <a:prstClr val="white"/>
                </a:solidFill>
                <a:ea typeface="Segoe UI" pitchFamily="34" charset="0"/>
                <a:cs typeface="Segoe UI" pitchFamily="34" charset="0"/>
              </a:endParaRPr>
            </a:p>
          </p:txBody>
        </p:sp>
        <p:sp>
          <p:nvSpPr>
            <p:cNvPr id="28" name="Rectangle 27"/>
            <p:cNvSpPr/>
            <p:nvPr/>
          </p:nvSpPr>
          <p:spPr bwMode="auto">
            <a:xfrm>
              <a:off x="3217924" y="3363133"/>
              <a:ext cx="2862072"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ts val="1200"/>
                </a:spcBef>
                <a:spcAft>
                  <a:spcPct val="0"/>
                </a:spcAft>
              </a:pPr>
              <a:r>
                <a:rPr lang="en-IN" dirty="0" smtClean="0">
                  <a:ln>
                    <a:solidFill>
                      <a:prstClr val="white">
                        <a:alpha val="0"/>
                      </a:prstClr>
                    </a:solidFill>
                  </a:ln>
                  <a:gradFill>
                    <a:gsLst>
                      <a:gs pos="0">
                        <a:srgbClr val="4F81BD"/>
                      </a:gs>
                      <a:gs pos="100000">
                        <a:srgbClr val="4F81BD"/>
                      </a:gs>
                    </a:gsLst>
                    <a:lin ang="5400000" scaled="0"/>
                  </a:gradFill>
                  <a:ea typeface="Segoe UI" pitchFamily="34" charset="0"/>
                  <a:cs typeface="Segoe UI" pitchFamily="34" charset="0"/>
                </a:rPr>
                <a:t>Rich browser based IDE</a:t>
              </a:r>
            </a:p>
            <a:p>
              <a:pPr defTabSz="932472" fontAlgn="base">
                <a:spcBef>
                  <a:spcPts val="1200"/>
                </a:spcBef>
                <a:spcAft>
                  <a:spcPct val="0"/>
                </a:spcAft>
              </a:pPr>
              <a:r>
                <a:rPr lang="en-IN" dirty="0" smtClean="0">
                  <a:ln>
                    <a:solidFill>
                      <a:prstClr val="white">
                        <a:alpha val="0"/>
                      </a:prstClr>
                    </a:solidFill>
                  </a:ln>
                  <a:gradFill>
                    <a:gsLst>
                      <a:gs pos="0">
                        <a:srgbClr val="4F81BD"/>
                      </a:gs>
                      <a:gs pos="100000">
                        <a:srgbClr val="4F81BD"/>
                      </a:gs>
                    </a:gsLst>
                    <a:lin ang="5400000" scaled="0"/>
                  </a:gradFill>
                  <a:ea typeface="Segoe UI" pitchFamily="34" charset="0"/>
                  <a:cs typeface="Segoe UI" pitchFamily="34" charset="0"/>
                </a:rPr>
                <a:t>Database design</a:t>
              </a:r>
            </a:p>
            <a:p>
              <a:pPr defTabSz="932472" fontAlgn="base">
                <a:spcBef>
                  <a:spcPts val="1200"/>
                </a:spcBef>
                <a:spcAft>
                  <a:spcPct val="0"/>
                </a:spcAft>
              </a:pPr>
              <a:r>
                <a:rPr lang="en-IN" dirty="0" smtClean="0">
                  <a:ln>
                    <a:solidFill>
                      <a:prstClr val="white">
                        <a:alpha val="0"/>
                      </a:prstClr>
                    </a:solidFill>
                  </a:ln>
                  <a:gradFill>
                    <a:gsLst>
                      <a:gs pos="0">
                        <a:srgbClr val="4F81BD"/>
                      </a:gs>
                      <a:gs pos="100000">
                        <a:srgbClr val="4F81BD"/>
                      </a:gs>
                    </a:gsLst>
                    <a:lin ang="5400000" scaled="0"/>
                  </a:gradFill>
                  <a:ea typeface="Segoe UI" pitchFamily="34" charset="0"/>
                  <a:cs typeface="Segoe UI" pitchFamily="34" charset="0"/>
                </a:rPr>
                <a:t>View stats and query plans</a:t>
              </a:r>
            </a:p>
            <a:p>
              <a:pPr defTabSz="932472" fontAlgn="base">
                <a:spcBef>
                  <a:spcPts val="1200"/>
                </a:spcBef>
                <a:spcAft>
                  <a:spcPct val="0"/>
                </a:spcAft>
              </a:pPr>
              <a:r>
                <a:rPr lang="en-IN" dirty="0" smtClean="0">
                  <a:ln>
                    <a:solidFill>
                      <a:prstClr val="white">
                        <a:alpha val="0"/>
                      </a:prstClr>
                    </a:solidFill>
                  </a:ln>
                  <a:gradFill>
                    <a:gsLst>
                      <a:gs pos="0">
                        <a:srgbClr val="4F81BD"/>
                      </a:gs>
                      <a:gs pos="100000">
                        <a:srgbClr val="4F81BD"/>
                      </a:gs>
                    </a:gsLst>
                    <a:lin ang="5400000" scaled="0"/>
                  </a:gradFill>
                  <a:ea typeface="Segoe UI" pitchFamily="34" charset="0"/>
                  <a:cs typeface="Segoe UI" pitchFamily="34" charset="0"/>
                </a:rPr>
                <a:t>Silverlight based</a:t>
              </a:r>
              <a:endParaRPr lang="en-IN" dirty="0">
                <a:ln>
                  <a:solidFill>
                    <a:prstClr val="white">
                      <a:alpha val="0"/>
                    </a:prstClr>
                  </a:solidFill>
                </a:ln>
                <a:gradFill>
                  <a:gsLst>
                    <a:gs pos="0">
                      <a:srgbClr val="4F81BD"/>
                    </a:gs>
                    <a:gs pos="100000">
                      <a:srgbClr val="4F81BD"/>
                    </a:gs>
                  </a:gsLst>
                  <a:lin ang="5400000" scaled="0"/>
                </a:gradFill>
                <a:ea typeface="Segoe UI" pitchFamily="34" charset="0"/>
                <a:cs typeface="Segoe UI" pitchFamily="34" charset="0"/>
              </a:endParaRPr>
            </a:p>
          </p:txBody>
        </p:sp>
      </p:grpSp>
      <p:sp>
        <p:nvSpPr>
          <p:cNvPr id="8" name="Slide Number Placeholder 7"/>
          <p:cNvSpPr>
            <a:spLocks noGrp="1"/>
          </p:cNvSpPr>
          <p:nvPr>
            <p:ph type="sldNum" sz="quarter" idx="4294967295"/>
          </p:nvPr>
        </p:nvSpPr>
        <p:spPr>
          <a:xfrm>
            <a:off x="11244615" y="6558796"/>
            <a:ext cx="555596" cy="134483"/>
          </a:xfrm>
          <a:prstGeom prst="rect">
            <a:avLst/>
          </a:prstGeom>
        </p:spPr>
        <p:txBody>
          <a:bodyPr/>
          <a:lstStyle/>
          <a:p>
            <a:fld id="{27258FFF-F925-446B-8502-81C933981705}" type="slidenum">
              <a:rPr lang="en-US" smtClean="0">
                <a:solidFill>
                  <a:prstClr val="black"/>
                </a:solidFill>
              </a:rPr>
              <a:pPr/>
              <a:t>11</a:t>
            </a:fld>
            <a:endParaRPr lang="en-US">
              <a:solidFill>
                <a:prstClr val="black"/>
              </a:solidFill>
            </a:endParaRPr>
          </a:p>
        </p:txBody>
      </p:sp>
      <p:grpSp>
        <p:nvGrpSpPr>
          <p:cNvPr id="32" name="Group 31"/>
          <p:cNvGrpSpPr/>
          <p:nvPr/>
        </p:nvGrpSpPr>
        <p:grpSpPr>
          <a:xfrm>
            <a:off x="9700125" y="1401763"/>
            <a:ext cx="2288067" cy="4995862"/>
            <a:chOff x="9079099" y="1401763"/>
            <a:chExt cx="2862072" cy="4995862"/>
          </a:xfrm>
        </p:grpSpPr>
        <p:sp>
          <p:nvSpPr>
            <p:cNvPr id="33" name="Rectangle 32"/>
            <p:cNvSpPr/>
            <p:nvPr/>
          </p:nvSpPr>
          <p:spPr bwMode="auto">
            <a:xfrm>
              <a:off x="9079099" y="1401763"/>
              <a:ext cx="2862072" cy="1899376"/>
            </a:xfrm>
            <a:prstGeom prst="rect">
              <a:avLst/>
            </a:prstGeom>
            <a:solidFill>
              <a:srgbClr val="7030A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US" sz="2800" dirty="0" smtClean="0">
                  <a:ln>
                    <a:solidFill>
                      <a:prstClr val="white">
                        <a:alpha val="0"/>
                      </a:prstClr>
                    </a:solidFill>
                  </a:ln>
                  <a:solidFill>
                    <a:prstClr val="white"/>
                  </a:solidFill>
                  <a:ea typeface="Segoe UI" pitchFamily="34" charset="0"/>
                  <a:cs typeface="Segoe UI" pitchFamily="34" charset="0"/>
                </a:rPr>
                <a:t>3</a:t>
              </a:r>
              <a:r>
                <a:rPr lang="en-US" sz="2800" baseline="30000" dirty="0" smtClean="0">
                  <a:ln>
                    <a:solidFill>
                      <a:prstClr val="white">
                        <a:alpha val="0"/>
                      </a:prstClr>
                    </a:solidFill>
                  </a:ln>
                  <a:solidFill>
                    <a:prstClr val="white"/>
                  </a:solidFill>
                  <a:ea typeface="Segoe UI" pitchFamily="34" charset="0"/>
                  <a:cs typeface="Segoe UI" pitchFamily="34" charset="0"/>
                </a:rPr>
                <a:t>rd</a:t>
              </a:r>
              <a:r>
                <a:rPr lang="en-US" sz="2800" dirty="0" smtClean="0">
                  <a:ln>
                    <a:solidFill>
                      <a:prstClr val="white">
                        <a:alpha val="0"/>
                      </a:prstClr>
                    </a:solidFill>
                  </a:ln>
                  <a:solidFill>
                    <a:prstClr val="white"/>
                  </a:solidFill>
                  <a:ea typeface="Segoe UI" pitchFamily="34" charset="0"/>
                  <a:cs typeface="Segoe UI" pitchFamily="34" charset="0"/>
                </a:rPr>
                <a:t> Party Tools</a:t>
              </a:r>
              <a:endParaRPr lang="en-US" sz="2800" dirty="0">
                <a:ln>
                  <a:solidFill>
                    <a:prstClr val="white">
                      <a:alpha val="0"/>
                    </a:prstClr>
                  </a:solidFill>
                </a:ln>
                <a:solidFill>
                  <a:prstClr val="white"/>
                </a:solidFill>
                <a:ea typeface="Segoe UI" pitchFamily="34" charset="0"/>
                <a:cs typeface="Segoe UI" pitchFamily="34" charset="0"/>
              </a:endParaRPr>
            </a:p>
          </p:txBody>
        </p:sp>
        <p:sp>
          <p:nvSpPr>
            <p:cNvPr id="34" name="Rectangle 33"/>
            <p:cNvSpPr/>
            <p:nvPr/>
          </p:nvSpPr>
          <p:spPr bwMode="auto">
            <a:xfrm>
              <a:off x="9079099" y="3363133"/>
              <a:ext cx="2862072"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ts val="1200"/>
                </a:spcBef>
                <a:spcAft>
                  <a:spcPct val="0"/>
                </a:spcAft>
              </a:pPr>
              <a:r>
                <a:rPr lang="en-IN"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TDS </a:t>
              </a:r>
              <a:r>
                <a:rPr lang="en-IN" dirty="0" err="1"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Compatability</a:t>
              </a:r>
              <a:endParaRPr lang="en-IN" dirty="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endParaRPr>
            </a:p>
            <a:p>
              <a:pPr defTabSz="932472" fontAlgn="base">
                <a:spcBef>
                  <a:spcPts val="1200"/>
                </a:spcBef>
                <a:spcAft>
                  <a:spcPct val="0"/>
                </a:spcAft>
              </a:pPr>
              <a:r>
                <a:rPr lang="en-IN"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Visual Studio</a:t>
              </a:r>
            </a:p>
            <a:p>
              <a:pPr defTabSz="932472" fontAlgn="base">
                <a:spcBef>
                  <a:spcPts val="1200"/>
                </a:spcBef>
                <a:spcAft>
                  <a:spcPct val="0"/>
                </a:spcAft>
              </a:pPr>
              <a:r>
                <a:rPr lang="en-IN" dirty="0" err="1"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RedGate</a:t>
              </a:r>
              <a:endParaRPr lang="en-IN"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endParaRPr>
            </a:p>
            <a:p>
              <a:pPr defTabSz="932472" fontAlgn="base">
                <a:spcBef>
                  <a:spcPts val="1200"/>
                </a:spcBef>
                <a:spcAft>
                  <a:spcPct val="0"/>
                </a:spcAft>
              </a:pPr>
              <a:r>
                <a:rPr lang="en-IN" dirty="0" err="1"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ERWin</a:t>
              </a:r>
              <a:endParaRPr lang="en-IN"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endParaRPr>
            </a:p>
            <a:p>
              <a:pPr defTabSz="932472" fontAlgn="base">
                <a:spcBef>
                  <a:spcPts val="1200"/>
                </a:spcBef>
                <a:spcAft>
                  <a:spcPct val="0"/>
                </a:spcAft>
              </a:pPr>
              <a:r>
                <a:rPr lang="en-IN"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DB Artisan</a:t>
              </a:r>
            </a:p>
            <a:p>
              <a:pPr defTabSz="932472" fontAlgn="base">
                <a:spcBef>
                  <a:spcPts val="1200"/>
                </a:spcBef>
                <a:spcAft>
                  <a:spcPct val="0"/>
                </a:spcAft>
              </a:pPr>
              <a:r>
                <a:rPr lang="en-IN" dirty="0" smtClean="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rPr>
                <a:t>Etc…</a:t>
              </a:r>
              <a:endParaRPr lang="en-IN" dirty="0">
                <a:ln>
                  <a:solidFill>
                    <a:prstClr val="white">
                      <a:alpha val="0"/>
                    </a:prstClr>
                  </a:solidFill>
                </a:ln>
                <a:gradFill>
                  <a:gsLst>
                    <a:gs pos="0">
                      <a:srgbClr val="005695"/>
                    </a:gs>
                    <a:gs pos="100000">
                      <a:srgbClr val="005695"/>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8300884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1000"/>
                                        <p:tgtEl>
                                          <p:spTgt spid="32"/>
                                        </p:tgtEl>
                                      </p:cBhvr>
                                    </p:animEffect>
                                    <p:anim calcmode="lin" valueType="num">
                                      <p:cBhvr>
                                        <p:cTn id="32" dur="1000" fill="hold"/>
                                        <p:tgtEl>
                                          <p:spTgt spid="32"/>
                                        </p:tgtEl>
                                        <p:attrNameLst>
                                          <p:attrName>ppt_x</p:attrName>
                                        </p:attrNameLst>
                                      </p:cBhvr>
                                      <p:tavLst>
                                        <p:tav tm="0">
                                          <p:val>
                                            <p:strVal val="#ppt_x"/>
                                          </p:val>
                                        </p:tav>
                                        <p:tav tm="100000">
                                          <p:val>
                                            <p:strVal val="#ppt_x"/>
                                          </p:val>
                                        </p:tav>
                                      </p:tavLst>
                                    </p:anim>
                                    <p:anim calcmode="lin" valueType="num">
                                      <p:cBhvr>
                                        <p:cTn id="3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Database Management using the SQL Database Management Portal [Chris]</a:t>
            </a:r>
            <a:endParaRPr lang="en-US" dirty="0"/>
          </a:p>
        </p:txBody>
      </p:sp>
    </p:spTree>
    <p:extLst>
      <p:ext uri="{BB962C8B-B14F-4D97-AF65-F5344CB8AC3E}">
        <p14:creationId xmlns:p14="http://schemas.microsoft.com/office/powerpoint/2010/main" val="896063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3:</a:t>
            </a:r>
          </a:p>
          <a:p>
            <a:endParaRPr lang="en-NZ" sz="4400" dirty="0">
              <a:solidFill>
                <a:prstClr val="black"/>
              </a:solidFill>
            </a:endParaRPr>
          </a:p>
          <a:p>
            <a:r>
              <a:rPr lang="en-GB" sz="4400" dirty="0" smtClean="0">
                <a:solidFill>
                  <a:prstClr val="black"/>
                </a:solidFill>
              </a:rPr>
              <a:t>Security</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2872443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Server Level Security</a:t>
            </a:r>
            <a:endParaRPr lang="en-US" dirty="0"/>
          </a:p>
        </p:txBody>
      </p:sp>
      <p:sp>
        <p:nvSpPr>
          <p:cNvPr id="6" name="Content Placeholder 2"/>
          <p:cNvSpPr txBox="1">
            <a:spLocks/>
          </p:cNvSpPr>
          <p:nvPr/>
        </p:nvSpPr>
        <p:spPr>
          <a:xfrm>
            <a:off x="6324601" y="1664933"/>
            <a:ext cx="5345112" cy="3261299"/>
          </a:xfrm>
          <a:prstGeom prst="rect">
            <a:avLst/>
          </a:prstGeom>
        </p:spPr>
        <p:txBody>
          <a:bodyPr lIns="0" tIns="0" rIns="0" bIns="0"/>
          <a:lst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defTabSz="914325">
              <a:spcBef>
                <a:spcPts val="0"/>
              </a:spcBef>
              <a:spcAft>
                <a:spcPts val="300"/>
              </a:spcAft>
              <a:buNone/>
            </a:pPr>
            <a:r>
              <a:rPr lang="en-US" sz="2800" spc="-100" dirty="0" smtClean="0">
                <a:solidFill>
                  <a:srgbClr val="00AEEF">
                    <a:alpha val="99000"/>
                  </a:srgbClr>
                </a:solidFill>
                <a:latin typeface="Segoe UI Light" pitchFamily="34" charset="0"/>
              </a:rPr>
              <a:t>Pre defined server level users and roles</a:t>
            </a:r>
            <a:endParaRPr lang="en-US" sz="2800" spc="-100" dirty="0">
              <a:solidFill>
                <a:srgbClr val="00AEEF">
                  <a:alpha val="99000"/>
                </a:srgbClr>
              </a:solidFill>
              <a:latin typeface="Segoe UI Light" pitchFamily="34" charset="0"/>
            </a:endParaRPr>
          </a:p>
          <a:p>
            <a:pPr marL="3175" lvl="1" indent="0" defTabSz="914325">
              <a:spcBef>
                <a:spcPts val="900"/>
              </a:spcBef>
              <a:buNone/>
            </a:pPr>
            <a:r>
              <a:rPr lang="en-US" sz="1600" spc="-51" dirty="0"/>
              <a:t>SQL authentication supported (No Integrated authentication)</a:t>
            </a:r>
          </a:p>
          <a:p>
            <a:pPr marL="3175" lvl="1" indent="0" defTabSz="914325">
              <a:spcBef>
                <a:spcPts val="900"/>
              </a:spcBef>
              <a:buNone/>
            </a:pPr>
            <a:r>
              <a:rPr lang="en-US" sz="1600" spc="-51" dirty="0"/>
              <a:t>The Admin login is similar to </a:t>
            </a:r>
            <a:r>
              <a:rPr lang="en-US" sz="1600" b="1" spc="-51" dirty="0" err="1"/>
              <a:t>sa</a:t>
            </a:r>
            <a:endParaRPr lang="en-US" sz="1600" spc="-51" dirty="0"/>
          </a:p>
          <a:p>
            <a:pPr marL="3175" lvl="1" indent="0" defTabSz="914325">
              <a:spcBef>
                <a:spcPts val="900"/>
              </a:spcBef>
              <a:buNone/>
            </a:pPr>
            <a:r>
              <a:rPr lang="en-US" sz="1600" spc="-51" dirty="0"/>
              <a:t>Connect to </a:t>
            </a:r>
            <a:r>
              <a:rPr lang="en-US" sz="1600" b="1" spc="-51" dirty="0"/>
              <a:t>master</a:t>
            </a:r>
            <a:r>
              <a:rPr lang="en-US" sz="1600" spc="-51" dirty="0"/>
              <a:t> to administer logins</a:t>
            </a:r>
          </a:p>
          <a:p>
            <a:pPr marL="3175" lvl="1" indent="0" defTabSz="914325">
              <a:spcBef>
                <a:spcPts val="900"/>
              </a:spcBef>
              <a:buNone/>
            </a:pPr>
            <a:r>
              <a:rPr lang="en-US" sz="1600" b="1" spc="-51" dirty="0" err="1"/>
              <a:t>loginmanager</a:t>
            </a:r>
            <a:r>
              <a:rPr lang="en-US" sz="1600" b="1" spc="-51" dirty="0"/>
              <a:t>:</a:t>
            </a:r>
            <a:r>
              <a:rPr lang="en-US" sz="1600" spc="-51" dirty="0"/>
              <a:t> Server-Level security role for creating logins</a:t>
            </a:r>
          </a:p>
          <a:p>
            <a:pPr marL="3175" lvl="1" indent="0" defTabSz="914325">
              <a:spcBef>
                <a:spcPts val="900"/>
              </a:spcBef>
              <a:buNone/>
            </a:pPr>
            <a:r>
              <a:rPr lang="en-US" sz="1600" b="1" spc="-51" dirty="0" err="1"/>
              <a:t>dbmanager</a:t>
            </a:r>
            <a:r>
              <a:rPr lang="en-US" sz="1600" b="1" spc="-51" dirty="0"/>
              <a:t>:</a:t>
            </a:r>
            <a:r>
              <a:rPr lang="en-US" sz="1600" spc="-51" dirty="0"/>
              <a:t> Server-Level security role for creating databases</a:t>
            </a:r>
          </a:p>
        </p:txBody>
      </p:sp>
      <p:sp>
        <p:nvSpPr>
          <p:cNvPr id="9" name="Freeform 58"/>
          <p:cNvSpPr>
            <a:spLocks noEditPoints="1"/>
          </p:cNvSpPr>
          <p:nvPr/>
        </p:nvSpPr>
        <p:spPr bwMode="black">
          <a:xfrm>
            <a:off x="1066105" y="1668036"/>
            <a:ext cx="3551570" cy="3806640"/>
          </a:xfrm>
          <a:custGeom>
            <a:avLst/>
            <a:gdLst>
              <a:gd name="T0" fmla="*/ 181 w 182"/>
              <a:gd name="T1" fmla="*/ 65 h 195"/>
              <a:gd name="T2" fmla="*/ 88 w 182"/>
              <a:gd name="T3" fmla="*/ 0 h 195"/>
              <a:gd name="T4" fmla="*/ 88 w 182"/>
              <a:gd name="T5" fmla="*/ 40 h 195"/>
              <a:gd name="T6" fmla="*/ 1 w 182"/>
              <a:gd name="T7" fmla="*/ 40 h 195"/>
              <a:gd name="T8" fmla="*/ 1 w 182"/>
              <a:gd name="T9" fmla="*/ 89 h 195"/>
              <a:gd name="T10" fmla="*/ 57 w 182"/>
              <a:gd name="T11" fmla="*/ 89 h 195"/>
              <a:gd name="T12" fmla="*/ 88 w 182"/>
              <a:gd name="T13" fmla="*/ 68 h 195"/>
              <a:gd name="T14" fmla="*/ 88 w 182"/>
              <a:gd name="T15" fmla="*/ 130 h 195"/>
              <a:gd name="T16" fmla="*/ 181 w 182"/>
              <a:gd name="T17" fmla="*/ 65 h 195"/>
              <a:gd name="T18" fmla="*/ 19 w 182"/>
              <a:gd name="T19" fmla="*/ 127 h 195"/>
              <a:gd name="T20" fmla="*/ 88 w 182"/>
              <a:gd name="T21" fmla="*/ 172 h 195"/>
              <a:gd name="T22" fmla="*/ 88 w 182"/>
              <a:gd name="T23" fmla="*/ 142 h 195"/>
              <a:gd name="T24" fmla="*/ 178 w 182"/>
              <a:gd name="T25" fmla="*/ 142 h 195"/>
              <a:gd name="T26" fmla="*/ 178 w 182"/>
              <a:gd name="T27" fmla="*/ 153 h 195"/>
              <a:gd name="T28" fmla="*/ 100 w 182"/>
              <a:gd name="T29" fmla="*/ 153 h 195"/>
              <a:gd name="T30" fmla="*/ 100 w 182"/>
              <a:gd name="T31" fmla="*/ 195 h 195"/>
              <a:gd name="T32" fmla="*/ 0 w 182"/>
              <a:gd name="T33" fmla="*/ 127 h 195"/>
              <a:gd name="T34" fmla="*/ 19 w 182"/>
              <a:gd name="T35" fmla="*/ 12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2" h="195">
                <a:moveTo>
                  <a:pt x="181" y="65"/>
                </a:moveTo>
                <a:cubicBezTo>
                  <a:pt x="88" y="0"/>
                  <a:pt x="88" y="0"/>
                  <a:pt x="88" y="0"/>
                </a:cubicBezTo>
                <a:cubicBezTo>
                  <a:pt x="88" y="40"/>
                  <a:pt x="88" y="40"/>
                  <a:pt x="88" y="40"/>
                </a:cubicBezTo>
                <a:cubicBezTo>
                  <a:pt x="1" y="40"/>
                  <a:pt x="1" y="40"/>
                  <a:pt x="1" y="40"/>
                </a:cubicBezTo>
                <a:cubicBezTo>
                  <a:pt x="1" y="89"/>
                  <a:pt x="1" y="89"/>
                  <a:pt x="1" y="89"/>
                </a:cubicBezTo>
                <a:cubicBezTo>
                  <a:pt x="57" y="89"/>
                  <a:pt x="57" y="89"/>
                  <a:pt x="57" y="89"/>
                </a:cubicBezTo>
                <a:cubicBezTo>
                  <a:pt x="88" y="68"/>
                  <a:pt x="88" y="68"/>
                  <a:pt x="88" y="68"/>
                </a:cubicBezTo>
                <a:cubicBezTo>
                  <a:pt x="88" y="130"/>
                  <a:pt x="88" y="130"/>
                  <a:pt x="88" y="130"/>
                </a:cubicBezTo>
                <a:cubicBezTo>
                  <a:pt x="181" y="65"/>
                  <a:pt x="181" y="65"/>
                  <a:pt x="181" y="65"/>
                </a:cubicBezTo>
                <a:close/>
                <a:moveTo>
                  <a:pt x="19" y="127"/>
                </a:moveTo>
                <a:cubicBezTo>
                  <a:pt x="88" y="172"/>
                  <a:pt x="88" y="172"/>
                  <a:pt x="88" y="172"/>
                </a:cubicBezTo>
                <a:cubicBezTo>
                  <a:pt x="88" y="142"/>
                  <a:pt x="88" y="142"/>
                  <a:pt x="88" y="142"/>
                </a:cubicBezTo>
                <a:cubicBezTo>
                  <a:pt x="178" y="142"/>
                  <a:pt x="178" y="142"/>
                  <a:pt x="178" y="142"/>
                </a:cubicBezTo>
                <a:cubicBezTo>
                  <a:pt x="182" y="142"/>
                  <a:pt x="182" y="153"/>
                  <a:pt x="178" y="153"/>
                </a:cubicBezTo>
                <a:cubicBezTo>
                  <a:pt x="100" y="153"/>
                  <a:pt x="100" y="153"/>
                  <a:pt x="100" y="153"/>
                </a:cubicBezTo>
                <a:cubicBezTo>
                  <a:pt x="100" y="195"/>
                  <a:pt x="100" y="195"/>
                  <a:pt x="100" y="195"/>
                </a:cubicBezTo>
                <a:cubicBezTo>
                  <a:pt x="0" y="127"/>
                  <a:pt x="0" y="127"/>
                  <a:pt x="0" y="127"/>
                </a:cubicBezTo>
                <a:cubicBezTo>
                  <a:pt x="19" y="127"/>
                  <a:pt x="19" y="127"/>
                  <a:pt x="19" y="127"/>
                </a:cubicBez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34634286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Database Level Security</a:t>
            </a:r>
            <a:endParaRPr lang="en-US" dirty="0"/>
          </a:p>
        </p:txBody>
      </p:sp>
      <p:sp>
        <p:nvSpPr>
          <p:cNvPr id="7" name="Content Placeholder 2"/>
          <p:cNvSpPr txBox="1">
            <a:spLocks/>
          </p:cNvSpPr>
          <p:nvPr/>
        </p:nvSpPr>
        <p:spPr>
          <a:xfrm>
            <a:off x="522289" y="1566077"/>
            <a:ext cx="5345112" cy="3185487"/>
          </a:xfrm>
          <a:prstGeom prst="rect">
            <a:avLst/>
          </a:prstGeom>
        </p:spPr>
        <p:txBody>
          <a:bodyPr wrap="square" lIns="0" tIns="0" rIns="0" bIns="0">
            <a:spAutoFit/>
          </a:bodyPr>
          <a:lst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defTabSz="914325">
              <a:spcBef>
                <a:spcPts val="0"/>
              </a:spcBef>
              <a:buNone/>
            </a:pPr>
            <a:r>
              <a:rPr lang="en-US" sz="2800" spc="-100" dirty="0">
                <a:solidFill>
                  <a:schemeClr val="accent2">
                    <a:alpha val="99000"/>
                  </a:schemeClr>
                </a:solidFill>
                <a:latin typeface="Segoe UI Light" pitchFamily="34" charset="0"/>
              </a:rPr>
              <a:t>Database identity and access </a:t>
            </a:r>
            <a:r>
              <a:rPr lang="en-US" sz="2800" spc="-100" dirty="0" smtClean="0">
                <a:solidFill>
                  <a:schemeClr val="accent2">
                    <a:alpha val="99000"/>
                  </a:schemeClr>
                </a:solidFill>
                <a:latin typeface="Segoe UI Light" pitchFamily="34" charset="0"/>
              </a:rPr>
              <a:t>control per on premises SQL Server Authentication</a:t>
            </a:r>
            <a:endParaRPr lang="en-US" sz="2800" spc="-100" dirty="0">
              <a:solidFill>
                <a:schemeClr val="accent2">
                  <a:alpha val="99000"/>
                </a:schemeClr>
              </a:solidFill>
              <a:latin typeface="Segoe UI Light" pitchFamily="34" charset="0"/>
            </a:endParaRPr>
          </a:p>
          <a:p>
            <a:pPr marL="3175" lvl="1" indent="0" defTabSz="914325">
              <a:spcBef>
                <a:spcPts val="900"/>
              </a:spcBef>
              <a:buNone/>
            </a:pPr>
            <a:r>
              <a:rPr lang="en-US" sz="1600" spc="-51" dirty="0"/>
              <a:t>Logins require an associated user account</a:t>
            </a:r>
          </a:p>
          <a:p>
            <a:pPr marL="3175" lvl="1" indent="0" defTabSz="914325">
              <a:spcBef>
                <a:spcPts val="900"/>
              </a:spcBef>
              <a:buNone/>
            </a:pPr>
            <a:r>
              <a:rPr lang="en-US" sz="1600" spc="-51" dirty="0"/>
              <a:t>The Admin login is automatically associated with </a:t>
            </a:r>
            <a:r>
              <a:rPr lang="en-US" sz="1600" b="1" spc="-51" dirty="0" err="1"/>
              <a:t>dbo</a:t>
            </a:r>
            <a:endParaRPr lang="en-US" sz="1600" spc="-51" dirty="0"/>
          </a:p>
          <a:p>
            <a:pPr marL="3175" lvl="1" indent="0" defTabSz="914325">
              <a:spcBef>
                <a:spcPts val="900"/>
              </a:spcBef>
              <a:buNone/>
            </a:pPr>
            <a:r>
              <a:rPr lang="en-US" sz="1600" spc="-51" dirty="0"/>
              <a:t>The dbo has full rights in the database</a:t>
            </a:r>
          </a:p>
          <a:p>
            <a:pPr marL="3175" lvl="1" indent="0" defTabSz="914325">
              <a:spcBef>
                <a:spcPts val="900"/>
              </a:spcBef>
              <a:buNone/>
            </a:pPr>
            <a:r>
              <a:rPr lang="en-US" sz="1600" spc="-51" dirty="0"/>
              <a:t>Manage users with CREATE / ALTER / DROP USER commands</a:t>
            </a:r>
          </a:p>
          <a:p>
            <a:pPr marL="3175" lvl="1" indent="0" defTabSz="914325">
              <a:spcBef>
                <a:spcPts val="900"/>
              </a:spcBef>
              <a:buNone/>
            </a:pPr>
            <a:r>
              <a:rPr lang="en-US" sz="1600" spc="-51" dirty="0"/>
              <a:t>Add users to roles via </a:t>
            </a:r>
            <a:r>
              <a:rPr lang="en-US" sz="1600" spc="-51" dirty="0" err="1"/>
              <a:t>sp_add_rolemember</a:t>
            </a:r>
            <a:r>
              <a:rPr lang="en-US" sz="1600" spc="-51" dirty="0"/>
              <a:t> to grant privileges</a:t>
            </a:r>
          </a:p>
          <a:p>
            <a:pPr marL="3175" lvl="1" indent="0" defTabSz="914325">
              <a:spcBef>
                <a:spcPts val="900"/>
              </a:spcBef>
              <a:buNone/>
            </a:pPr>
            <a:r>
              <a:rPr lang="en-US" sz="1600" spc="-51" dirty="0"/>
              <a:t>Utilize schemas where appropriate</a:t>
            </a:r>
          </a:p>
        </p:txBody>
      </p:sp>
      <p:sp>
        <p:nvSpPr>
          <p:cNvPr id="8" name="Freeform 83"/>
          <p:cNvSpPr>
            <a:spLocks noEditPoints="1"/>
          </p:cNvSpPr>
          <p:nvPr/>
        </p:nvSpPr>
        <p:spPr bwMode="black">
          <a:xfrm>
            <a:off x="7217176" y="1566077"/>
            <a:ext cx="3638120" cy="3840506"/>
          </a:xfrm>
          <a:custGeom>
            <a:avLst/>
            <a:gdLst>
              <a:gd name="T0" fmla="*/ 502 w 2107"/>
              <a:gd name="T1" fmla="*/ 1162 h 2221"/>
              <a:gd name="T2" fmla="*/ 239 w 2107"/>
              <a:gd name="T3" fmla="*/ 2072 h 2221"/>
              <a:gd name="T4" fmla="*/ 1587 w 2107"/>
              <a:gd name="T5" fmla="*/ 1800 h 2221"/>
              <a:gd name="T6" fmla="*/ 1487 w 2107"/>
              <a:gd name="T7" fmla="*/ 1835 h 2221"/>
              <a:gd name="T8" fmla="*/ 1579 w 2107"/>
              <a:gd name="T9" fmla="*/ 1870 h 2221"/>
              <a:gd name="T10" fmla="*/ 1470 w 2107"/>
              <a:gd name="T11" fmla="*/ 1847 h 2221"/>
              <a:gd name="T12" fmla="*/ 983 w 2107"/>
              <a:gd name="T13" fmla="*/ 1837 h 2221"/>
              <a:gd name="T14" fmla="*/ 1062 w 2107"/>
              <a:gd name="T15" fmla="*/ 1872 h 2221"/>
              <a:gd name="T16" fmla="*/ 956 w 2107"/>
              <a:gd name="T17" fmla="*/ 1951 h 2221"/>
              <a:gd name="T18" fmla="*/ 1046 w 2107"/>
              <a:gd name="T19" fmla="*/ 1970 h 2221"/>
              <a:gd name="T20" fmla="*/ 820 w 2107"/>
              <a:gd name="T21" fmla="*/ 1872 h 2221"/>
              <a:gd name="T22" fmla="*/ 899 w 2107"/>
              <a:gd name="T23" fmla="*/ 1836 h 2221"/>
              <a:gd name="T24" fmla="*/ 841 w 2107"/>
              <a:gd name="T25" fmla="*/ 1886 h 2221"/>
              <a:gd name="T26" fmla="*/ 905 w 2107"/>
              <a:gd name="T27" fmla="*/ 1920 h 2221"/>
              <a:gd name="T28" fmla="*/ 882 w 2107"/>
              <a:gd name="T29" fmla="*/ 1971 h 2221"/>
              <a:gd name="T30" fmla="*/ 687 w 2107"/>
              <a:gd name="T31" fmla="*/ 1847 h 2221"/>
              <a:gd name="T32" fmla="*/ 780 w 2107"/>
              <a:gd name="T33" fmla="*/ 1844 h 2221"/>
              <a:gd name="T34" fmla="*/ 760 w 2107"/>
              <a:gd name="T35" fmla="*/ 1882 h 2221"/>
              <a:gd name="T36" fmla="*/ 703 w 2107"/>
              <a:gd name="T37" fmla="*/ 1912 h 2221"/>
              <a:gd name="T38" fmla="*/ 682 w 2107"/>
              <a:gd name="T39" fmla="*/ 1972 h 2221"/>
              <a:gd name="T40" fmla="*/ 647 w 2107"/>
              <a:gd name="T41" fmla="*/ 1928 h 2221"/>
              <a:gd name="T42" fmla="*/ 631 w 2107"/>
              <a:gd name="T43" fmla="*/ 1862 h 2221"/>
              <a:gd name="T44" fmla="*/ 545 w 2107"/>
              <a:gd name="T45" fmla="*/ 2017 h 2221"/>
              <a:gd name="T46" fmla="*/ 416 w 2107"/>
              <a:gd name="T47" fmla="*/ 2078 h 2221"/>
              <a:gd name="T48" fmla="*/ 435 w 2107"/>
              <a:gd name="T49" fmla="*/ 2014 h 2221"/>
              <a:gd name="T50" fmla="*/ 538 w 2107"/>
              <a:gd name="T51" fmla="*/ 2006 h 2221"/>
              <a:gd name="T52" fmla="*/ 520 w 2107"/>
              <a:gd name="T53" fmla="*/ 1973 h 2221"/>
              <a:gd name="T54" fmla="*/ 490 w 2107"/>
              <a:gd name="T55" fmla="*/ 1930 h 2221"/>
              <a:gd name="T56" fmla="*/ 587 w 2107"/>
              <a:gd name="T57" fmla="*/ 1913 h 2221"/>
              <a:gd name="T58" fmla="*/ 1055 w 2107"/>
              <a:gd name="T59" fmla="*/ 2071 h 2221"/>
              <a:gd name="T60" fmla="*/ 605 w 2107"/>
              <a:gd name="T61" fmla="*/ 2078 h 2221"/>
              <a:gd name="T62" fmla="*/ 613 w 2107"/>
              <a:gd name="T63" fmla="*/ 2010 h 2221"/>
              <a:gd name="T64" fmla="*/ 1046 w 2107"/>
              <a:gd name="T65" fmla="*/ 2003 h 2221"/>
              <a:gd name="T66" fmla="*/ 1113 w 2107"/>
              <a:gd name="T67" fmla="*/ 1877 h 2221"/>
              <a:gd name="T68" fmla="*/ 1176 w 2107"/>
              <a:gd name="T69" fmla="*/ 1835 h 2221"/>
              <a:gd name="T70" fmla="*/ 1137 w 2107"/>
              <a:gd name="T71" fmla="*/ 1885 h 2221"/>
              <a:gd name="T72" fmla="*/ 1115 w 2107"/>
              <a:gd name="T73" fmla="*/ 1926 h 2221"/>
              <a:gd name="T74" fmla="*/ 1215 w 2107"/>
              <a:gd name="T75" fmla="*/ 1968 h 2221"/>
              <a:gd name="T76" fmla="*/ 1135 w 2107"/>
              <a:gd name="T77" fmla="*/ 1970 h 2221"/>
              <a:gd name="T78" fmla="*/ 1146 w 2107"/>
              <a:gd name="T79" fmla="*/ 2075 h 2221"/>
              <a:gd name="T80" fmla="*/ 1122 w 2107"/>
              <a:gd name="T81" fmla="*/ 2019 h 2221"/>
              <a:gd name="T82" fmla="*/ 1139 w 2107"/>
              <a:gd name="T83" fmla="*/ 2003 h 2221"/>
              <a:gd name="T84" fmla="*/ 1217 w 2107"/>
              <a:gd name="T85" fmla="*/ 2003 h 2221"/>
              <a:gd name="T86" fmla="*/ 1337 w 2107"/>
              <a:gd name="T87" fmla="*/ 1868 h 2221"/>
              <a:gd name="T88" fmla="*/ 1411 w 2107"/>
              <a:gd name="T89" fmla="*/ 1838 h 2221"/>
              <a:gd name="T90" fmla="*/ 1425 w 2107"/>
              <a:gd name="T91" fmla="*/ 1883 h 2221"/>
              <a:gd name="T92" fmla="*/ 1359 w 2107"/>
              <a:gd name="T93" fmla="*/ 1927 h 2221"/>
              <a:gd name="T94" fmla="*/ 1476 w 2107"/>
              <a:gd name="T95" fmla="*/ 1956 h 2221"/>
              <a:gd name="T96" fmla="*/ 1461 w 2107"/>
              <a:gd name="T97" fmla="*/ 1970 h 2221"/>
              <a:gd name="T98" fmla="*/ 1511 w 2107"/>
              <a:gd name="T99" fmla="*/ 2075 h 2221"/>
              <a:gd name="T100" fmla="*/ 1393 w 2107"/>
              <a:gd name="T101" fmla="*/ 2019 h 2221"/>
              <a:gd name="T102" fmla="*/ 1475 w 2107"/>
              <a:gd name="T103" fmla="*/ 2001 h 2221"/>
              <a:gd name="T104" fmla="*/ 1681 w 2107"/>
              <a:gd name="T105" fmla="*/ 2018 h 2221"/>
              <a:gd name="T106" fmla="*/ 1623 w 2107"/>
              <a:gd name="T107" fmla="*/ 2075 h 2221"/>
              <a:gd name="T108" fmla="*/ 1639 w 2107"/>
              <a:gd name="T109" fmla="*/ 2000 h 2221"/>
              <a:gd name="T110" fmla="*/ 1630 w 2107"/>
              <a:gd name="T111" fmla="*/ 1969 h 2221"/>
              <a:gd name="T112" fmla="*/ 1532 w 2107"/>
              <a:gd name="T113" fmla="*/ 1910 h 2221"/>
              <a:gd name="T114" fmla="*/ 933 w 2107"/>
              <a:gd name="T115" fmla="*/ 1308 h 2221"/>
              <a:gd name="T116" fmla="*/ 9 w 2107"/>
              <a:gd name="T117" fmla="*/ 909 h 2221"/>
              <a:gd name="T118" fmla="*/ 413 w 2107"/>
              <a:gd name="T119" fmla="*/ 386 h 2221"/>
              <a:gd name="T120" fmla="*/ 1700 w 2107"/>
              <a:gd name="T121" fmla="*/ 556 h 2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07" h="2221">
                <a:moveTo>
                  <a:pt x="2107" y="809"/>
                </a:moveTo>
                <a:cubicBezTo>
                  <a:pt x="2106" y="786"/>
                  <a:pt x="2103" y="764"/>
                  <a:pt x="2098" y="742"/>
                </a:cubicBezTo>
                <a:cubicBezTo>
                  <a:pt x="2098" y="745"/>
                  <a:pt x="2098" y="747"/>
                  <a:pt x="2098" y="749"/>
                </a:cubicBezTo>
                <a:cubicBezTo>
                  <a:pt x="2096" y="810"/>
                  <a:pt x="2076" y="869"/>
                  <a:pt x="2040" y="926"/>
                </a:cubicBezTo>
                <a:cubicBezTo>
                  <a:pt x="2018" y="961"/>
                  <a:pt x="1988" y="995"/>
                  <a:pt x="1953" y="1027"/>
                </a:cubicBezTo>
                <a:cubicBezTo>
                  <a:pt x="1918" y="1064"/>
                  <a:pt x="1873" y="1098"/>
                  <a:pt x="1819" y="1131"/>
                </a:cubicBezTo>
                <a:cubicBezTo>
                  <a:pt x="1777" y="1156"/>
                  <a:pt x="1731" y="1178"/>
                  <a:pt x="1682" y="1198"/>
                </a:cubicBezTo>
                <a:cubicBezTo>
                  <a:pt x="1682" y="1061"/>
                  <a:pt x="1682" y="1061"/>
                  <a:pt x="1682" y="1061"/>
                </a:cubicBezTo>
                <a:cubicBezTo>
                  <a:pt x="1682" y="1059"/>
                  <a:pt x="1682" y="1058"/>
                  <a:pt x="1682" y="1056"/>
                </a:cubicBezTo>
                <a:cubicBezTo>
                  <a:pt x="1680" y="988"/>
                  <a:pt x="1624" y="933"/>
                  <a:pt x="1554" y="933"/>
                </a:cubicBezTo>
                <a:cubicBezTo>
                  <a:pt x="555" y="933"/>
                  <a:pt x="555" y="933"/>
                  <a:pt x="555" y="933"/>
                </a:cubicBezTo>
                <a:cubicBezTo>
                  <a:pt x="484" y="933"/>
                  <a:pt x="426" y="990"/>
                  <a:pt x="426" y="1061"/>
                </a:cubicBezTo>
                <a:cubicBezTo>
                  <a:pt x="426" y="1141"/>
                  <a:pt x="426" y="1141"/>
                  <a:pt x="426" y="1141"/>
                </a:cubicBezTo>
                <a:cubicBezTo>
                  <a:pt x="430" y="1142"/>
                  <a:pt x="430" y="1142"/>
                  <a:pt x="430" y="1142"/>
                </a:cubicBezTo>
                <a:cubicBezTo>
                  <a:pt x="430" y="1143"/>
                  <a:pt x="459" y="1152"/>
                  <a:pt x="502" y="1162"/>
                </a:cubicBezTo>
                <a:cubicBezTo>
                  <a:pt x="502" y="1069"/>
                  <a:pt x="502" y="1069"/>
                  <a:pt x="502" y="1069"/>
                </a:cubicBezTo>
                <a:cubicBezTo>
                  <a:pt x="502" y="1032"/>
                  <a:pt x="531" y="1003"/>
                  <a:pt x="568" y="1003"/>
                </a:cubicBezTo>
                <a:cubicBezTo>
                  <a:pt x="1541" y="1003"/>
                  <a:pt x="1541" y="1003"/>
                  <a:pt x="1541" y="1003"/>
                </a:cubicBezTo>
                <a:cubicBezTo>
                  <a:pt x="1577" y="1003"/>
                  <a:pt x="1607" y="1032"/>
                  <a:pt x="1607" y="1069"/>
                </a:cubicBezTo>
                <a:cubicBezTo>
                  <a:pt x="1607" y="1668"/>
                  <a:pt x="1607" y="1668"/>
                  <a:pt x="1607" y="1668"/>
                </a:cubicBezTo>
                <a:cubicBezTo>
                  <a:pt x="1607" y="1704"/>
                  <a:pt x="1577" y="1734"/>
                  <a:pt x="1541" y="1734"/>
                </a:cubicBezTo>
                <a:cubicBezTo>
                  <a:pt x="568" y="1734"/>
                  <a:pt x="568" y="1734"/>
                  <a:pt x="568" y="1734"/>
                </a:cubicBezTo>
                <a:cubicBezTo>
                  <a:pt x="531" y="1734"/>
                  <a:pt x="502" y="1704"/>
                  <a:pt x="502" y="1668"/>
                </a:cubicBezTo>
                <a:cubicBezTo>
                  <a:pt x="502" y="1541"/>
                  <a:pt x="502" y="1541"/>
                  <a:pt x="502" y="1541"/>
                </a:cubicBezTo>
                <a:cubicBezTo>
                  <a:pt x="476" y="1535"/>
                  <a:pt x="451" y="1528"/>
                  <a:pt x="426" y="1520"/>
                </a:cubicBezTo>
                <a:cubicBezTo>
                  <a:pt x="426" y="1676"/>
                  <a:pt x="426" y="1676"/>
                  <a:pt x="426" y="1676"/>
                </a:cubicBezTo>
                <a:cubicBezTo>
                  <a:pt x="426" y="1736"/>
                  <a:pt x="467" y="1786"/>
                  <a:pt x="523" y="1800"/>
                </a:cubicBezTo>
                <a:cubicBezTo>
                  <a:pt x="491" y="1802"/>
                  <a:pt x="456" y="1813"/>
                  <a:pt x="435" y="1837"/>
                </a:cubicBezTo>
                <a:cubicBezTo>
                  <a:pt x="419" y="1857"/>
                  <a:pt x="403" y="1876"/>
                  <a:pt x="387" y="1895"/>
                </a:cubicBezTo>
                <a:cubicBezTo>
                  <a:pt x="337" y="1954"/>
                  <a:pt x="288" y="2013"/>
                  <a:pt x="239" y="2072"/>
                </a:cubicBezTo>
                <a:cubicBezTo>
                  <a:pt x="227" y="2086"/>
                  <a:pt x="203" y="2107"/>
                  <a:pt x="203" y="2127"/>
                </a:cubicBezTo>
                <a:cubicBezTo>
                  <a:pt x="203" y="2183"/>
                  <a:pt x="203" y="2183"/>
                  <a:pt x="203" y="2183"/>
                </a:cubicBezTo>
                <a:cubicBezTo>
                  <a:pt x="204" y="2190"/>
                  <a:pt x="206" y="2197"/>
                  <a:pt x="209" y="2202"/>
                </a:cubicBezTo>
                <a:cubicBezTo>
                  <a:pt x="222" y="2220"/>
                  <a:pt x="247" y="2221"/>
                  <a:pt x="267" y="2221"/>
                </a:cubicBezTo>
                <a:cubicBezTo>
                  <a:pt x="295" y="2221"/>
                  <a:pt x="1759" y="2221"/>
                  <a:pt x="1804" y="2221"/>
                </a:cubicBezTo>
                <a:cubicBezTo>
                  <a:pt x="1826" y="2221"/>
                  <a:pt x="1850" y="2219"/>
                  <a:pt x="1871" y="2214"/>
                </a:cubicBezTo>
                <a:cubicBezTo>
                  <a:pt x="1886" y="2211"/>
                  <a:pt x="1903" y="2203"/>
                  <a:pt x="1905" y="2186"/>
                </a:cubicBezTo>
                <a:cubicBezTo>
                  <a:pt x="1905" y="2126"/>
                  <a:pt x="1905" y="2126"/>
                  <a:pt x="1905" y="2126"/>
                </a:cubicBezTo>
                <a:cubicBezTo>
                  <a:pt x="1907" y="2113"/>
                  <a:pt x="1899" y="2100"/>
                  <a:pt x="1891" y="2091"/>
                </a:cubicBezTo>
                <a:cubicBezTo>
                  <a:pt x="1887" y="2086"/>
                  <a:pt x="1883" y="2081"/>
                  <a:pt x="1879" y="2077"/>
                </a:cubicBezTo>
                <a:cubicBezTo>
                  <a:pt x="1858" y="2052"/>
                  <a:pt x="1837" y="2027"/>
                  <a:pt x="1816" y="2003"/>
                </a:cubicBezTo>
                <a:cubicBezTo>
                  <a:pt x="1770" y="1948"/>
                  <a:pt x="1724" y="1894"/>
                  <a:pt x="1678" y="1840"/>
                </a:cubicBezTo>
                <a:cubicBezTo>
                  <a:pt x="1676" y="1837"/>
                  <a:pt x="1674" y="1834"/>
                  <a:pt x="1671" y="1832"/>
                </a:cubicBezTo>
                <a:cubicBezTo>
                  <a:pt x="1662" y="1820"/>
                  <a:pt x="1647" y="1813"/>
                  <a:pt x="1633" y="1809"/>
                </a:cubicBezTo>
                <a:cubicBezTo>
                  <a:pt x="1618" y="1804"/>
                  <a:pt x="1603" y="1801"/>
                  <a:pt x="1587" y="1800"/>
                </a:cubicBezTo>
                <a:cubicBezTo>
                  <a:pt x="1642" y="1785"/>
                  <a:pt x="1682" y="1735"/>
                  <a:pt x="1682" y="1676"/>
                </a:cubicBezTo>
                <a:cubicBezTo>
                  <a:pt x="1682" y="1462"/>
                  <a:pt x="1682" y="1462"/>
                  <a:pt x="1682" y="1462"/>
                </a:cubicBezTo>
                <a:cubicBezTo>
                  <a:pt x="1698" y="1455"/>
                  <a:pt x="1714" y="1448"/>
                  <a:pt x="1730" y="1441"/>
                </a:cubicBezTo>
                <a:cubicBezTo>
                  <a:pt x="1801" y="1408"/>
                  <a:pt x="1863" y="1368"/>
                  <a:pt x="1916" y="1325"/>
                </a:cubicBezTo>
                <a:cubicBezTo>
                  <a:pt x="1946" y="1300"/>
                  <a:pt x="1972" y="1273"/>
                  <a:pt x="1995" y="1246"/>
                </a:cubicBezTo>
                <a:cubicBezTo>
                  <a:pt x="2018" y="1218"/>
                  <a:pt x="2037" y="1187"/>
                  <a:pt x="2054" y="1154"/>
                </a:cubicBezTo>
                <a:cubicBezTo>
                  <a:pt x="2068" y="1124"/>
                  <a:pt x="2079" y="1090"/>
                  <a:pt x="2084" y="1054"/>
                </a:cubicBezTo>
                <a:cubicBezTo>
                  <a:pt x="2086" y="1040"/>
                  <a:pt x="2087" y="1026"/>
                  <a:pt x="2089" y="1013"/>
                </a:cubicBezTo>
                <a:cubicBezTo>
                  <a:pt x="2089" y="1008"/>
                  <a:pt x="2090" y="1003"/>
                  <a:pt x="2090" y="998"/>
                </a:cubicBezTo>
                <a:cubicBezTo>
                  <a:pt x="2102" y="877"/>
                  <a:pt x="2102" y="877"/>
                  <a:pt x="2102" y="877"/>
                </a:cubicBezTo>
                <a:cubicBezTo>
                  <a:pt x="2103" y="874"/>
                  <a:pt x="2103" y="870"/>
                  <a:pt x="2103" y="867"/>
                </a:cubicBezTo>
                <a:cubicBezTo>
                  <a:pt x="2105" y="848"/>
                  <a:pt x="2107" y="829"/>
                  <a:pt x="2107" y="809"/>
                </a:cubicBezTo>
                <a:close/>
                <a:moveTo>
                  <a:pt x="1474" y="1837"/>
                </a:moveTo>
                <a:cubicBezTo>
                  <a:pt x="1475" y="1836"/>
                  <a:pt x="1476" y="1836"/>
                  <a:pt x="1478" y="1836"/>
                </a:cubicBezTo>
                <a:cubicBezTo>
                  <a:pt x="1481" y="1835"/>
                  <a:pt x="1483" y="1835"/>
                  <a:pt x="1487" y="1835"/>
                </a:cubicBezTo>
                <a:cubicBezTo>
                  <a:pt x="1492" y="1835"/>
                  <a:pt x="1492" y="1835"/>
                  <a:pt x="1492" y="1835"/>
                </a:cubicBezTo>
                <a:cubicBezTo>
                  <a:pt x="1492" y="1835"/>
                  <a:pt x="1492" y="1835"/>
                  <a:pt x="1492" y="1835"/>
                </a:cubicBezTo>
                <a:cubicBezTo>
                  <a:pt x="1502" y="1835"/>
                  <a:pt x="1511" y="1835"/>
                  <a:pt x="1521" y="1835"/>
                </a:cubicBezTo>
                <a:cubicBezTo>
                  <a:pt x="1521" y="1835"/>
                  <a:pt x="1521" y="1835"/>
                  <a:pt x="1521" y="1835"/>
                </a:cubicBezTo>
                <a:cubicBezTo>
                  <a:pt x="1531" y="1835"/>
                  <a:pt x="1531" y="1835"/>
                  <a:pt x="1531" y="1835"/>
                </a:cubicBezTo>
                <a:cubicBezTo>
                  <a:pt x="1534" y="1834"/>
                  <a:pt x="1538" y="1835"/>
                  <a:pt x="1541" y="1835"/>
                </a:cubicBezTo>
                <a:cubicBezTo>
                  <a:pt x="1543" y="1836"/>
                  <a:pt x="1546" y="1836"/>
                  <a:pt x="1548" y="1837"/>
                </a:cubicBezTo>
                <a:cubicBezTo>
                  <a:pt x="1548" y="1837"/>
                  <a:pt x="1548" y="1837"/>
                  <a:pt x="1548" y="1837"/>
                </a:cubicBezTo>
                <a:cubicBezTo>
                  <a:pt x="1549" y="1837"/>
                  <a:pt x="1549" y="1838"/>
                  <a:pt x="1549" y="1838"/>
                </a:cubicBezTo>
                <a:cubicBezTo>
                  <a:pt x="1550" y="1838"/>
                  <a:pt x="1550" y="1838"/>
                  <a:pt x="1550" y="1838"/>
                </a:cubicBezTo>
                <a:cubicBezTo>
                  <a:pt x="1553" y="1839"/>
                  <a:pt x="1556" y="1840"/>
                  <a:pt x="1558" y="1842"/>
                </a:cubicBezTo>
                <a:cubicBezTo>
                  <a:pt x="1560" y="1843"/>
                  <a:pt x="1562" y="1845"/>
                  <a:pt x="1563" y="1847"/>
                </a:cubicBezTo>
                <a:cubicBezTo>
                  <a:pt x="1571" y="1858"/>
                  <a:pt x="1571" y="1858"/>
                  <a:pt x="1571" y="1858"/>
                </a:cubicBezTo>
                <a:cubicBezTo>
                  <a:pt x="1573" y="1861"/>
                  <a:pt x="1577" y="1865"/>
                  <a:pt x="1579" y="1870"/>
                </a:cubicBezTo>
                <a:cubicBezTo>
                  <a:pt x="1579" y="1870"/>
                  <a:pt x="1579" y="1870"/>
                  <a:pt x="1579" y="1870"/>
                </a:cubicBezTo>
                <a:cubicBezTo>
                  <a:pt x="1581" y="1872"/>
                  <a:pt x="1581" y="1874"/>
                  <a:pt x="1581" y="1876"/>
                </a:cubicBezTo>
                <a:cubicBezTo>
                  <a:pt x="1581" y="1877"/>
                  <a:pt x="1580" y="1878"/>
                  <a:pt x="1579" y="1879"/>
                </a:cubicBezTo>
                <a:cubicBezTo>
                  <a:pt x="1579" y="1879"/>
                  <a:pt x="1579" y="1880"/>
                  <a:pt x="1579" y="1880"/>
                </a:cubicBezTo>
                <a:cubicBezTo>
                  <a:pt x="1579" y="1880"/>
                  <a:pt x="1579" y="1880"/>
                  <a:pt x="1579" y="1880"/>
                </a:cubicBezTo>
                <a:cubicBezTo>
                  <a:pt x="1578" y="1880"/>
                  <a:pt x="1578" y="1880"/>
                  <a:pt x="1578" y="1880"/>
                </a:cubicBezTo>
                <a:cubicBezTo>
                  <a:pt x="1578" y="1880"/>
                  <a:pt x="1578" y="1881"/>
                  <a:pt x="1577" y="1881"/>
                </a:cubicBezTo>
                <a:cubicBezTo>
                  <a:pt x="1577" y="1881"/>
                  <a:pt x="1577" y="1881"/>
                  <a:pt x="1576" y="1881"/>
                </a:cubicBezTo>
                <a:cubicBezTo>
                  <a:pt x="1576" y="1881"/>
                  <a:pt x="1576" y="1882"/>
                  <a:pt x="1575" y="1882"/>
                </a:cubicBezTo>
                <a:cubicBezTo>
                  <a:pt x="1569" y="1885"/>
                  <a:pt x="1560" y="1884"/>
                  <a:pt x="1553" y="1884"/>
                </a:cubicBezTo>
                <a:cubicBezTo>
                  <a:pt x="1516" y="1884"/>
                  <a:pt x="1516" y="1884"/>
                  <a:pt x="1516" y="1884"/>
                </a:cubicBezTo>
                <a:cubicBezTo>
                  <a:pt x="1509" y="1884"/>
                  <a:pt x="1501" y="1883"/>
                  <a:pt x="1494" y="1879"/>
                </a:cubicBezTo>
                <a:cubicBezTo>
                  <a:pt x="1492" y="1878"/>
                  <a:pt x="1490" y="1877"/>
                  <a:pt x="1488" y="1876"/>
                </a:cubicBezTo>
                <a:cubicBezTo>
                  <a:pt x="1486" y="1874"/>
                  <a:pt x="1484" y="1872"/>
                  <a:pt x="1483" y="1871"/>
                </a:cubicBezTo>
                <a:cubicBezTo>
                  <a:pt x="1481" y="1868"/>
                  <a:pt x="1481" y="1868"/>
                  <a:pt x="1481" y="1868"/>
                </a:cubicBezTo>
                <a:cubicBezTo>
                  <a:pt x="1478" y="1861"/>
                  <a:pt x="1473" y="1854"/>
                  <a:pt x="1470" y="1847"/>
                </a:cubicBezTo>
                <a:cubicBezTo>
                  <a:pt x="1467" y="1842"/>
                  <a:pt x="1469" y="1839"/>
                  <a:pt x="1474" y="1837"/>
                </a:cubicBezTo>
                <a:close/>
                <a:moveTo>
                  <a:pt x="965" y="1871"/>
                </a:moveTo>
                <a:cubicBezTo>
                  <a:pt x="966" y="1869"/>
                  <a:pt x="966" y="1868"/>
                  <a:pt x="966" y="1866"/>
                </a:cubicBezTo>
                <a:cubicBezTo>
                  <a:pt x="966" y="1866"/>
                  <a:pt x="966" y="1866"/>
                  <a:pt x="966" y="1866"/>
                </a:cubicBezTo>
                <a:cubicBezTo>
                  <a:pt x="967" y="1861"/>
                  <a:pt x="966" y="1855"/>
                  <a:pt x="968" y="1850"/>
                </a:cubicBezTo>
                <a:cubicBezTo>
                  <a:pt x="968" y="1848"/>
                  <a:pt x="968" y="1848"/>
                  <a:pt x="968" y="1848"/>
                </a:cubicBezTo>
                <a:cubicBezTo>
                  <a:pt x="968" y="1846"/>
                  <a:pt x="969" y="1845"/>
                  <a:pt x="970" y="1843"/>
                </a:cubicBezTo>
                <a:cubicBezTo>
                  <a:pt x="971" y="1842"/>
                  <a:pt x="973" y="1841"/>
                  <a:pt x="974" y="1841"/>
                </a:cubicBezTo>
                <a:cubicBezTo>
                  <a:pt x="974" y="1840"/>
                  <a:pt x="974" y="1840"/>
                  <a:pt x="974" y="1840"/>
                </a:cubicBezTo>
                <a:cubicBezTo>
                  <a:pt x="975" y="1840"/>
                  <a:pt x="975" y="1840"/>
                  <a:pt x="975" y="1840"/>
                </a:cubicBezTo>
                <a:cubicBezTo>
                  <a:pt x="976" y="1840"/>
                  <a:pt x="976" y="1839"/>
                  <a:pt x="976" y="1839"/>
                </a:cubicBezTo>
                <a:cubicBezTo>
                  <a:pt x="976" y="1839"/>
                  <a:pt x="977" y="1839"/>
                  <a:pt x="977" y="1839"/>
                </a:cubicBezTo>
                <a:cubicBezTo>
                  <a:pt x="978" y="1839"/>
                  <a:pt x="978" y="1838"/>
                  <a:pt x="979" y="1838"/>
                </a:cubicBezTo>
                <a:cubicBezTo>
                  <a:pt x="980" y="1838"/>
                  <a:pt x="980" y="1838"/>
                  <a:pt x="980" y="1838"/>
                </a:cubicBezTo>
                <a:cubicBezTo>
                  <a:pt x="981" y="1837"/>
                  <a:pt x="982" y="1837"/>
                  <a:pt x="983" y="1837"/>
                </a:cubicBezTo>
                <a:cubicBezTo>
                  <a:pt x="983" y="1837"/>
                  <a:pt x="984" y="1837"/>
                  <a:pt x="984" y="1837"/>
                </a:cubicBezTo>
                <a:cubicBezTo>
                  <a:pt x="984" y="1837"/>
                  <a:pt x="984" y="1837"/>
                  <a:pt x="985" y="1837"/>
                </a:cubicBezTo>
                <a:cubicBezTo>
                  <a:pt x="985" y="1837"/>
                  <a:pt x="985" y="1837"/>
                  <a:pt x="986" y="1836"/>
                </a:cubicBezTo>
                <a:cubicBezTo>
                  <a:pt x="988" y="1836"/>
                  <a:pt x="991" y="1836"/>
                  <a:pt x="993" y="1836"/>
                </a:cubicBezTo>
                <a:cubicBezTo>
                  <a:pt x="995" y="1836"/>
                  <a:pt x="995" y="1836"/>
                  <a:pt x="995" y="1836"/>
                </a:cubicBezTo>
                <a:cubicBezTo>
                  <a:pt x="998" y="1836"/>
                  <a:pt x="1000" y="1836"/>
                  <a:pt x="1003" y="1836"/>
                </a:cubicBezTo>
                <a:cubicBezTo>
                  <a:pt x="1038" y="1836"/>
                  <a:pt x="1038" y="1836"/>
                  <a:pt x="1038" y="1836"/>
                </a:cubicBezTo>
                <a:cubicBezTo>
                  <a:pt x="1038" y="1836"/>
                  <a:pt x="1039" y="1836"/>
                  <a:pt x="1040" y="1836"/>
                </a:cubicBezTo>
                <a:cubicBezTo>
                  <a:pt x="1040" y="1836"/>
                  <a:pt x="1040" y="1836"/>
                  <a:pt x="1041" y="1836"/>
                </a:cubicBezTo>
                <a:cubicBezTo>
                  <a:pt x="1042" y="1836"/>
                  <a:pt x="1042" y="1836"/>
                  <a:pt x="1043" y="1836"/>
                </a:cubicBezTo>
                <a:cubicBezTo>
                  <a:pt x="1050" y="1837"/>
                  <a:pt x="1058" y="1839"/>
                  <a:pt x="1061" y="1844"/>
                </a:cubicBezTo>
                <a:cubicBezTo>
                  <a:pt x="1061" y="1845"/>
                  <a:pt x="1061" y="1845"/>
                  <a:pt x="1061" y="1846"/>
                </a:cubicBezTo>
                <a:cubicBezTo>
                  <a:pt x="1061" y="1846"/>
                  <a:pt x="1061" y="1846"/>
                  <a:pt x="1061" y="1846"/>
                </a:cubicBezTo>
                <a:cubicBezTo>
                  <a:pt x="1063" y="1853"/>
                  <a:pt x="1062" y="1863"/>
                  <a:pt x="1062" y="1870"/>
                </a:cubicBezTo>
                <a:cubicBezTo>
                  <a:pt x="1062" y="1872"/>
                  <a:pt x="1062" y="1872"/>
                  <a:pt x="1062" y="1872"/>
                </a:cubicBezTo>
                <a:cubicBezTo>
                  <a:pt x="1062" y="1873"/>
                  <a:pt x="1062" y="1874"/>
                  <a:pt x="1061" y="1876"/>
                </a:cubicBezTo>
                <a:cubicBezTo>
                  <a:pt x="1054" y="1889"/>
                  <a:pt x="1022" y="1885"/>
                  <a:pt x="1010" y="1885"/>
                </a:cubicBezTo>
                <a:cubicBezTo>
                  <a:pt x="1003" y="1885"/>
                  <a:pt x="996" y="1885"/>
                  <a:pt x="989" y="1885"/>
                </a:cubicBezTo>
                <a:cubicBezTo>
                  <a:pt x="983" y="1885"/>
                  <a:pt x="974" y="1884"/>
                  <a:pt x="969" y="1879"/>
                </a:cubicBezTo>
                <a:cubicBezTo>
                  <a:pt x="969" y="1879"/>
                  <a:pt x="969" y="1879"/>
                  <a:pt x="968" y="1879"/>
                </a:cubicBezTo>
                <a:cubicBezTo>
                  <a:pt x="968" y="1879"/>
                  <a:pt x="968" y="1878"/>
                  <a:pt x="968" y="1878"/>
                </a:cubicBezTo>
                <a:cubicBezTo>
                  <a:pt x="967" y="1878"/>
                  <a:pt x="967" y="1878"/>
                  <a:pt x="967" y="1877"/>
                </a:cubicBezTo>
                <a:cubicBezTo>
                  <a:pt x="967" y="1877"/>
                  <a:pt x="967" y="1877"/>
                  <a:pt x="967" y="1877"/>
                </a:cubicBezTo>
                <a:cubicBezTo>
                  <a:pt x="967" y="1877"/>
                  <a:pt x="967" y="1877"/>
                  <a:pt x="967" y="1877"/>
                </a:cubicBezTo>
                <a:cubicBezTo>
                  <a:pt x="966" y="1876"/>
                  <a:pt x="966" y="1876"/>
                  <a:pt x="966" y="1875"/>
                </a:cubicBezTo>
                <a:cubicBezTo>
                  <a:pt x="965" y="1874"/>
                  <a:pt x="965" y="1873"/>
                  <a:pt x="965" y="1872"/>
                </a:cubicBezTo>
                <a:lnTo>
                  <a:pt x="965" y="1871"/>
                </a:lnTo>
                <a:close/>
                <a:moveTo>
                  <a:pt x="956" y="1955"/>
                </a:moveTo>
                <a:cubicBezTo>
                  <a:pt x="956" y="1952"/>
                  <a:pt x="956" y="1952"/>
                  <a:pt x="956" y="1952"/>
                </a:cubicBezTo>
                <a:cubicBezTo>
                  <a:pt x="956" y="1952"/>
                  <a:pt x="956" y="1951"/>
                  <a:pt x="956" y="1951"/>
                </a:cubicBezTo>
                <a:cubicBezTo>
                  <a:pt x="957" y="1943"/>
                  <a:pt x="958" y="1935"/>
                  <a:pt x="959" y="1926"/>
                </a:cubicBezTo>
                <a:cubicBezTo>
                  <a:pt x="959" y="1926"/>
                  <a:pt x="959" y="1926"/>
                  <a:pt x="959" y="1926"/>
                </a:cubicBezTo>
                <a:cubicBezTo>
                  <a:pt x="959" y="1926"/>
                  <a:pt x="959" y="1926"/>
                  <a:pt x="959" y="1925"/>
                </a:cubicBezTo>
                <a:cubicBezTo>
                  <a:pt x="963" y="1907"/>
                  <a:pt x="999" y="1911"/>
                  <a:pt x="1013" y="1911"/>
                </a:cubicBezTo>
                <a:cubicBezTo>
                  <a:pt x="1025" y="1911"/>
                  <a:pt x="1055" y="1908"/>
                  <a:pt x="1061" y="1921"/>
                </a:cubicBezTo>
                <a:cubicBezTo>
                  <a:pt x="1062" y="1923"/>
                  <a:pt x="1063" y="1924"/>
                  <a:pt x="1063" y="1926"/>
                </a:cubicBezTo>
                <a:cubicBezTo>
                  <a:pt x="1063" y="1940"/>
                  <a:pt x="1063" y="1940"/>
                  <a:pt x="1063" y="1940"/>
                </a:cubicBezTo>
                <a:cubicBezTo>
                  <a:pt x="1063" y="1945"/>
                  <a:pt x="1063" y="1949"/>
                  <a:pt x="1063" y="1953"/>
                </a:cubicBezTo>
                <a:cubicBezTo>
                  <a:pt x="1063" y="1953"/>
                  <a:pt x="1063" y="1953"/>
                  <a:pt x="1063" y="1953"/>
                </a:cubicBezTo>
                <a:cubicBezTo>
                  <a:pt x="1063" y="1955"/>
                  <a:pt x="1063" y="1955"/>
                  <a:pt x="1063" y="1955"/>
                </a:cubicBezTo>
                <a:cubicBezTo>
                  <a:pt x="1063" y="1957"/>
                  <a:pt x="1062" y="1959"/>
                  <a:pt x="1061" y="1961"/>
                </a:cubicBezTo>
                <a:cubicBezTo>
                  <a:pt x="1061" y="1962"/>
                  <a:pt x="1060" y="1962"/>
                  <a:pt x="1060" y="1962"/>
                </a:cubicBezTo>
                <a:cubicBezTo>
                  <a:pt x="1060" y="1963"/>
                  <a:pt x="1059" y="1963"/>
                  <a:pt x="1059" y="1964"/>
                </a:cubicBezTo>
                <a:cubicBezTo>
                  <a:pt x="1058" y="1964"/>
                  <a:pt x="1058" y="1964"/>
                  <a:pt x="1058" y="1964"/>
                </a:cubicBezTo>
                <a:cubicBezTo>
                  <a:pt x="1055" y="1967"/>
                  <a:pt x="1051" y="1969"/>
                  <a:pt x="1046" y="1970"/>
                </a:cubicBezTo>
                <a:cubicBezTo>
                  <a:pt x="1046" y="1970"/>
                  <a:pt x="1046" y="1970"/>
                  <a:pt x="1046" y="1970"/>
                </a:cubicBezTo>
                <a:cubicBezTo>
                  <a:pt x="1046" y="1970"/>
                  <a:pt x="1046" y="1970"/>
                  <a:pt x="1046" y="1970"/>
                </a:cubicBezTo>
                <a:cubicBezTo>
                  <a:pt x="1044" y="1971"/>
                  <a:pt x="1043" y="1971"/>
                  <a:pt x="1041" y="1971"/>
                </a:cubicBezTo>
                <a:cubicBezTo>
                  <a:pt x="1041" y="1971"/>
                  <a:pt x="1040" y="1971"/>
                  <a:pt x="1040" y="1971"/>
                </a:cubicBezTo>
                <a:cubicBezTo>
                  <a:pt x="1038" y="1971"/>
                  <a:pt x="1037" y="1972"/>
                  <a:pt x="1035" y="1972"/>
                </a:cubicBezTo>
                <a:cubicBezTo>
                  <a:pt x="1035" y="1972"/>
                  <a:pt x="1035" y="1972"/>
                  <a:pt x="1035" y="1972"/>
                </a:cubicBezTo>
                <a:cubicBezTo>
                  <a:pt x="982" y="1972"/>
                  <a:pt x="982" y="1972"/>
                  <a:pt x="982" y="1972"/>
                </a:cubicBezTo>
                <a:cubicBezTo>
                  <a:pt x="976" y="1972"/>
                  <a:pt x="969" y="1971"/>
                  <a:pt x="963" y="1967"/>
                </a:cubicBezTo>
                <a:cubicBezTo>
                  <a:pt x="963" y="1967"/>
                  <a:pt x="963" y="1967"/>
                  <a:pt x="963" y="1967"/>
                </a:cubicBezTo>
                <a:cubicBezTo>
                  <a:pt x="963" y="1967"/>
                  <a:pt x="963" y="1967"/>
                  <a:pt x="963" y="1967"/>
                </a:cubicBezTo>
                <a:cubicBezTo>
                  <a:pt x="962" y="1966"/>
                  <a:pt x="961" y="1965"/>
                  <a:pt x="960" y="1964"/>
                </a:cubicBezTo>
                <a:cubicBezTo>
                  <a:pt x="959" y="1964"/>
                  <a:pt x="958" y="1963"/>
                  <a:pt x="958" y="1962"/>
                </a:cubicBezTo>
                <a:cubicBezTo>
                  <a:pt x="958" y="1962"/>
                  <a:pt x="958" y="1962"/>
                  <a:pt x="957" y="1962"/>
                </a:cubicBezTo>
                <a:cubicBezTo>
                  <a:pt x="956" y="1960"/>
                  <a:pt x="956" y="1957"/>
                  <a:pt x="956" y="1955"/>
                </a:cubicBezTo>
                <a:close/>
                <a:moveTo>
                  <a:pt x="820" y="1872"/>
                </a:moveTo>
                <a:cubicBezTo>
                  <a:pt x="820" y="1872"/>
                  <a:pt x="820" y="1872"/>
                  <a:pt x="820" y="1872"/>
                </a:cubicBezTo>
                <a:cubicBezTo>
                  <a:pt x="820" y="1872"/>
                  <a:pt x="820" y="1872"/>
                  <a:pt x="820" y="1872"/>
                </a:cubicBezTo>
                <a:cubicBezTo>
                  <a:pt x="820" y="1870"/>
                  <a:pt x="821" y="1868"/>
                  <a:pt x="822" y="1866"/>
                </a:cubicBezTo>
                <a:cubicBezTo>
                  <a:pt x="823" y="1861"/>
                  <a:pt x="824" y="1854"/>
                  <a:pt x="827" y="1849"/>
                </a:cubicBezTo>
                <a:cubicBezTo>
                  <a:pt x="827" y="1848"/>
                  <a:pt x="827" y="1848"/>
                  <a:pt x="827" y="1848"/>
                </a:cubicBezTo>
                <a:cubicBezTo>
                  <a:pt x="827" y="1847"/>
                  <a:pt x="829" y="1845"/>
                  <a:pt x="830" y="1844"/>
                </a:cubicBezTo>
                <a:cubicBezTo>
                  <a:pt x="831" y="1843"/>
                  <a:pt x="832" y="1842"/>
                  <a:pt x="833" y="1841"/>
                </a:cubicBezTo>
                <a:cubicBezTo>
                  <a:pt x="837" y="1839"/>
                  <a:pt x="840" y="1838"/>
                  <a:pt x="844" y="1837"/>
                </a:cubicBezTo>
                <a:cubicBezTo>
                  <a:pt x="845" y="1837"/>
                  <a:pt x="845" y="1837"/>
                  <a:pt x="845" y="1837"/>
                </a:cubicBezTo>
                <a:cubicBezTo>
                  <a:pt x="848" y="1836"/>
                  <a:pt x="851" y="1836"/>
                  <a:pt x="855" y="1836"/>
                </a:cubicBezTo>
                <a:cubicBezTo>
                  <a:pt x="859" y="1836"/>
                  <a:pt x="859" y="1836"/>
                  <a:pt x="859" y="1836"/>
                </a:cubicBezTo>
                <a:cubicBezTo>
                  <a:pt x="861" y="1836"/>
                  <a:pt x="862" y="1836"/>
                  <a:pt x="864" y="1836"/>
                </a:cubicBezTo>
                <a:cubicBezTo>
                  <a:pt x="873" y="1836"/>
                  <a:pt x="883" y="1836"/>
                  <a:pt x="893" y="1836"/>
                </a:cubicBezTo>
                <a:cubicBezTo>
                  <a:pt x="894" y="1836"/>
                  <a:pt x="896" y="1836"/>
                  <a:pt x="897" y="1836"/>
                </a:cubicBezTo>
                <a:cubicBezTo>
                  <a:pt x="899" y="1836"/>
                  <a:pt x="899" y="1836"/>
                  <a:pt x="899" y="1836"/>
                </a:cubicBezTo>
                <a:cubicBezTo>
                  <a:pt x="899" y="1836"/>
                  <a:pt x="899" y="1836"/>
                  <a:pt x="900" y="1836"/>
                </a:cubicBezTo>
                <a:cubicBezTo>
                  <a:pt x="901" y="1836"/>
                  <a:pt x="902" y="1836"/>
                  <a:pt x="904" y="1836"/>
                </a:cubicBezTo>
                <a:cubicBezTo>
                  <a:pt x="904" y="1836"/>
                  <a:pt x="904" y="1836"/>
                  <a:pt x="904" y="1836"/>
                </a:cubicBezTo>
                <a:cubicBezTo>
                  <a:pt x="911" y="1837"/>
                  <a:pt x="919" y="1839"/>
                  <a:pt x="921" y="1846"/>
                </a:cubicBezTo>
                <a:cubicBezTo>
                  <a:pt x="921" y="1846"/>
                  <a:pt x="921" y="1846"/>
                  <a:pt x="921" y="1846"/>
                </a:cubicBezTo>
                <a:cubicBezTo>
                  <a:pt x="921" y="1846"/>
                  <a:pt x="921" y="1846"/>
                  <a:pt x="921" y="1846"/>
                </a:cubicBezTo>
                <a:cubicBezTo>
                  <a:pt x="921" y="1854"/>
                  <a:pt x="918" y="1863"/>
                  <a:pt x="917" y="1870"/>
                </a:cubicBezTo>
                <a:cubicBezTo>
                  <a:pt x="917" y="1870"/>
                  <a:pt x="917" y="1870"/>
                  <a:pt x="917" y="1870"/>
                </a:cubicBezTo>
                <a:cubicBezTo>
                  <a:pt x="917" y="1872"/>
                  <a:pt x="917" y="1872"/>
                  <a:pt x="917" y="1872"/>
                </a:cubicBezTo>
                <a:cubicBezTo>
                  <a:pt x="916" y="1873"/>
                  <a:pt x="916" y="1875"/>
                  <a:pt x="914" y="1876"/>
                </a:cubicBezTo>
                <a:cubicBezTo>
                  <a:pt x="914" y="1876"/>
                  <a:pt x="914" y="1877"/>
                  <a:pt x="914" y="1877"/>
                </a:cubicBezTo>
                <a:cubicBezTo>
                  <a:pt x="914" y="1877"/>
                  <a:pt x="914" y="1877"/>
                  <a:pt x="914" y="1877"/>
                </a:cubicBezTo>
                <a:cubicBezTo>
                  <a:pt x="914" y="1877"/>
                  <a:pt x="914" y="1877"/>
                  <a:pt x="914" y="1877"/>
                </a:cubicBezTo>
                <a:cubicBezTo>
                  <a:pt x="904" y="1889"/>
                  <a:pt x="878" y="1886"/>
                  <a:pt x="865" y="1886"/>
                </a:cubicBezTo>
                <a:cubicBezTo>
                  <a:pt x="857" y="1886"/>
                  <a:pt x="849" y="1886"/>
                  <a:pt x="841" y="1886"/>
                </a:cubicBezTo>
                <a:cubicBezTo>
                  <a:pt x="834" y="1886"/>
                  <a:pt x="824" y="1884"/>
                  <a:pt x="820" y="1877"/>
                </a:cubicBezTo>
                <a:cubicBezTo>
                  <a:pt x="820" y="1877"/>
                  <a:pt x="820" y="1876"/>
                  <a:pt x="820" y="1875"/>
                </a:cubicBezTo>
                <a:cubicBezTo>
                  <a:pt x="820" y="1875"/>
                  <a:pt x="820" y="1875"/>
                  <a:pt x="820" y="1874"/>
                </a:cubicBezTo>
                <a:cubicBezTo>
                  <a:pt x="820" y="1873"/>
                  <a:pt x="820" y="1873"/>
                  <a:pt x="820" y="1872"/>
                </a:cubicBezTo>
                <a:close/>
                <a:moveTo>
                  <a:pt x="795" y="1956"/>
                </a:moveTo>
                <a:cubicBezTo>
                  <a:pt x="796" y="1952"/>
                  <a:pt x="796" y="1952"/>
                  <a:pt x="796" y="1952"/>
                </a:cubicBezTo>
                <a:cubicBezTo>
                  <a:pt x="796" y="1952"/>
                  <a:pt x="796" y="1952"/>
                  <a:pt x="796" y="1952"/>
                </a:cubicBezTo>
                <a:cubicBezTo>
                  <a:pt x="796" y="1951"/>
                  <a:pt x="796" y="1951"/>
                  <a:pt x="796" y="1950"/>
                </a:cubicBezTo>
                <a:cubicBezTo>
                  <a:pt x="803" y="1926"/>
                  <a:pt x="803" y="1926"/>
                  <a:pt x="803" y="1926"/>
                </a:cubicBezTo>
                <a:cubicBezTo>
                  <a:pt x="804" y="1926"/>
                  <a:pt x="804" y="1926"/>
                  <a:pt x="804" y="1925"/>
                </a:cubicBezTo>
                <a:cubicBezTo>
                  <a:pt x="811" y="1908"/>
                  <a:pt x="843" y="1911"/>
                  <a:pt x="859" y="1911"/>
                </a:cubicBezTo>
                <a:cubicBezTo>
                  <a:pt x="865" y="1911"/>
                  <a:pt x="877" y="1910"/>
                  <a:pt x="888" y="1912"/>
                </a:cubicBezTo>
                <a:cubicBezTo>
                  <a:pt x="890" y="1912"/>
                  <a:pt x="891" y="1912"/>
                  <a:pt x="893" y="1913"/>
                </a:cubicBezTo>
                <a:cubicBezTo>
                  <a:pt x="894" y="1913"/>
                  <a:pt x="894" y="1913"/>
                  <a:pt x="894" y="1913"/>
                </a:cubicBezTo>
                <a:cubicBezTo>
                  <a:pt x="899" y="1914"/>
                  <a:pt x="903" y="1916"/>
                  <a:pt x="905" y="1920"/>
                </a:cubicBezTo>
                <a:cubicBezTo>
                  <a:pt x="906" y="1920"/>
                  <a:pt x="906" y="1920"/>
                  <a:pt x="906" y="1920"/>
                </a:cubicBezTo>
                <a:cubicBezTo>
                  <a:pt x="906" y="1921"/>
                  <a:pt x="906" y="1921"/>
                  <a:pt x="906" y="1921"/>
                </a:cubicBezTo>
                <a:cubicBezTo>
                  <a:pt x="906" y="1921"/>
                  <a:pt x="906" y="1921"/>
                  <a:pt x="906" y="1921"/>
                </a:cubicBezTo>
                <a:cubicBezTo>
                  <a:pt x="907" y="1923"/>
                  <a:pt x="907" y="1924"/>
                  <a:pt x="907" y="1926"/>
                </a:cubicBezTo>
                <a:cubicBezTo>
                  <a:pt x="907" y="1928"/>
                  <a:pt x="907" y="1928"/>
                  <a:pt x="907" y="1928"/>
                </a:cubicBezTo>
                <a:cubicBezTo>
                  <a:pt x="907" y="1928"/>
                  <a:pt x="907" y="1928"/>
                  <a:pt x="907" y="1928"/>
                </a:cubicBezTo>
                <a:cubicBezTo>
                  <a:pt x="906" y="1932"/>
                  <a:pt x="905" y="1936"/>
                  <a:pt x="904" y="1941"/>
                </a:cubicBezTo>
                <a:cubicBezTo>
                  <a:pt x="902" y="1955"/>
                  <a:pt x="902" y="1955"/>
                  <a:pt x="902" y="1955"/>
                </a:cubicBezTo>
                <a:cubicBezTo>
                  <a:pt x="901" y="1958"/>
                  <a:pt x="900" y="1960"/>
                  <a:pt x="899" y="1962"/>
                </a:cubicBezTo>
                <a:cubicBezTo>
                  <a:pt x="898" y="1962"/>
                  <a:pt x="898" y="1962"/>
                  <a:pt x="898" y="1962"/>
                </a:cubicBezTo>
                <a:cubicBezTo>
                  <a:pt x="898" y="1963"/>
                  <a:pt x="897" y="1963"/>
                  <a:pt x="897" y="1963"/>
                </a:cubicBezTo>
                <a:cubicBezTo>
                  <a:pt x="897" y="1964"/>
                  <a:pt x="896" y="1964"/>
                  <a:pt x="895" y="1965"/>
                </a:cubicBezTo>
                <a:cubicBezTo>
                  <a:pt x="891" y="1968"/>
                  <a:pt x="887" y="1969"/>
                  <a:pt x="882" y="1971"/>
                </a:cubicBezTo>
                <a:cubicBezTo>
                  <a:pt x="882" y="1971"/>
                  <a:pt x="882" y="1971"/>
                  <a:pt x="882" y="1971"/>
                </a:cubicBezTo>
                <a:cubicBezTo>
                  <a:pt x="882" y="1971"/>
                  <a:pt x="882" y="1971"/>
                  <a:pt x="882" y="1971"/>
                </a:cubicBezTo>
                <a:cubicBezTo>
                  <a:pt x="880" y="1971"/>
                  <a:pt x="879" y="1971"/>
                  <a:pt x="877" y="1971"/>
                </a:cubicBezTo>
                <a:cubicBezTo>
                  <a:pt x="877" y="1972"/>
                  <a:pt x="876" y="1972"/>
                  <a:pt x="876" y="1972"/>
                </a:cubicBezTo>
                <a:cubicBezTo>
                  <a:pt x="874" y="1972"/>
                  <a:pt x="872" y="1972"/>
                  <a:pt x="871" y="1972"/>
                </a:cubicBezTo>
                <a:cubicBezTo>
                  <a:pt x="871" y="1972"/>
                  <a:pt x="871" y="1972"/>
                  <a:pt x="871" y="1972"/>
                </a:cubicBezTo>
                <a:cubicBezTo>
                  <a:pt x="818" y="1972"/>
                  <a:pt x="818" y="1972"/>
                  <a:pt x="818" y="1972"/>
                </a:cubicBezTo>
                <a:cubicBezTo>
                  <a:pt x="812" y="1972"/>
                  <a:pt x="805" y="1971"/>
                  <a:pt x="799" y="1967"/>
                </a:cubicBezTo>
                <a:cubicBezTo>
                  <a:pt x="799" y="1967"/>
                  <a:pt x="799" y="1967"/>
                  <a:pt x="799" y="1967"/>
                </a:cubicBezTo>
                <a:cubicBezTo>
                  <a:pt x="799" y="1967"/>
                  <a:pt x="799" y="1967"/>
                  <a:pt x="799" y="1967"/>
                </a:cubicBezTo>
                <a:cubicBezTo>
                  <a:pt x="798" y="1967"/>
                  <a:pt x="797" y="1966"/>
                  <a:pt x="797" y="1965"/>
                </a:cubicBezTo>
                <a:cubicBezTo>
                  <a:pt x="796" y="1964"/>
                  <a:pt x="796" y="1963"/>
                  <a:pt x="795" y="1963"/>
                </a:cubicBezTo>
                <a:cubicBezTo>
                  <a:pt x="795" y="1962"/>
                  <a:pt x="795" y="1962"/>
                  <a:pt x="795" y="1962"/>
                </a:cubicBezTo>
                <a:cubicBezTo>
                  <a:pt x="794" y="1960"/>
                  <a:pt x="794" y="1958"/>
                  <a:pt x="795" y="1956"/>
                </a:cubicBezTo>
                <a:close/>
                <a:moveTo>
                  <a:pt x="674" y="1875"/>
                </a:moveTo>
                <a:cubicBezTo>
                  <a:pt x="674" y="1872"/>
                  <a:pt x="676" y="1869"/>
                  <a:pt x="677" y="1867"/>
                </a:cubicBezTo>
                <a:cubicBezTo>
                  <a:pt x="680" y="1861"/>
                  <a:pt x="683" y="1852"/>
                  <a:pt x="687" y="1847"/>
                </a:cubicBezTo>
                <a:cubicBezTo>
                  <a:pt x="688" y="1846"/>
                  <a:pt x="688" y="1846"/>
                  <a:pt x="688" y="1846"/>
                </a:cubicBezTo>
                <a:cubicBezTo>
                  <a:pt x="688" y="1846"/>
                  <a:pt x="689" y="1845"/>
                  <a:pt x="689" y="1845"/>
                </a:cubicBezTo>
                <a:cubicBezTo>
                  <a:pt x="689" y="1845"/>
                  <a:pt x="689" y="1845"/>
                  <a:pt x="690" y="1844"/>
                </a:cubicBezTo>
                <a:cubicBezTo>
                  <a:pt x="690" y="1844"/>
                  <a:pt x="690" y="1844"/>
                  <a:pt x="690" y="1844"/>
                </a:cubicBezTo>
                <a:cubicBezTo>
                  <a:pt x="690" y="1844"/>
                  <a:pt x="691" y="1844"/>
                  <a:pt x="691" y="1843"/>
                </a:cubicBezTo>
                <a:cubicBezTo>
                  <a:pt x="695" y="1840"/>
                  <a:pt x="700" y="1838"/>
                  <a:pt x="706" y="1838"/>
                </a:cubicBezTo>
                <a:cubicBezTo>
                  <a:pt x="706" y="1837"/>
                  <a:pt x="706" y="1837"/>
                  <a:pt x="706" y="1837"/>
                </a:cubicBezTo>
                <a:cubicBezTo>
                  <a:pt x="709" y="1837"/>
                  <a:pt x="713" y="1836"/>
                  <a:pt x="716" y="1836"/>
                </a:cubicBezTo>
                <a:cubicBezTo>
                  <a:pt x="734" y="1836"/>
                  <a:pt x="734" y="1836"/>
                  <a:pt x="734" y="1836"/>
                </a:cubicBezTo>
                <a:cubicBezTo>
                  <a:pt x="740" y="1836"/>
                  <a:pt x="746" y="1836"/>
                  <a:pt x="751" y="1836"/>
                </a:cubicBezTo>
                <a:cubicBezTo>
                  <a:pt x="759" y="1836"/>
                  <a:pt x="771" y="1835"/>
                  <a:pt x="777" y="1841"/>
                </a:cubicBezTo>
                <a:cubicBezTo>
                  <a:pt x="778" y="1841"/>
                  <a:pt x="778" y="1842"/>
                  <a:pt x="778" y="1842"/>
                </a:cubicBezTo>
                <a:cubicBezTo>
                  <a:pt x="778" y="1842"/>
                  <a:pt x="779" y="1842"/>
                  <a:pt x="779" y="1842"/>
                </a:cubicBezTo>
                <a:cubicBezTo>
                  <a:pt x="779" y="1842"/>
                  <a:pt x="779" y="1843"/>
                  <a:pt x="779" y="1843"/>
                </a:cubicBezTo>
                <a:cubicBezTo>
                  <a:pt x="779" y="1843"/>
                  <a:pt x="779" y="1843"/>
                  <a:pt x="780" y="1844"/>
                </a:cubicBezTo>
                <a:cubicBezTo>
                  <a:pt x="780" y="1845"/>
                  <a:pt x="780" y="1846"/>
                  <a:pt x="780" y="1847"/>
                </a:cubicBezTo>
                <a:cubicBezTo>
                  <a:pt x="779" y="1854"/>
                  <a:pt x="774" y="1863"/>
                  <a:pt x="773" y="1867"/>
                </a:cubicBezTo>
                <a:cubicBezTo>
                  <a:pt x="773" y="1867"/>
                  <a:pt x="773" y="1867"/>
                  <a:pt x="773" y="1867"/>
                </a:cubicBezTo>
                <a:cubicBezTo>
                  <a:pt x="772" y="1869"/>
                  <a:pt x="772" y="1870"/>
                  <a:pt x="771" y="1871"/>
                </a:cubicBezTo>
                <a:cubicBezTo>
                  <a:pt x="771" y="1872"/>
                  <a:pt x="771" y="1872"/>
                  <a:pt x="771" y="1872"/>
                </a:cubicBezTo>
                <a:cubicBezTo>
                  <a:pt x="771" y="1873"/>
                  <a:pt x="771" y="1873"/>
                  <a:pt x="770" y="1873"/>
                </a:cubicBezTo>
                <a:cubicBezTo>
                  <a:pt x="770" y="1874"/>
                  <a:pt x="770" y="1874"/>
                  <a:pt x="770" y="1874"/>
                </a:cubicBezTo>
                <a:cubicBezTo>
                  <a:pt x="770" y="1875"/>
                  <a:pt x="769" y="1875"/>
                  <a:pt x="769" y="1876"/>
                </a:cubicBezTo>
                <a:cubicBezTo>
                  <a:pt x="769" y="1876"/>
                  <a:pt x="769" y="1876"/>
                  <a:pt x="768" y="1876"/>
                </a:cubicBezTo>
                <a:cubicBezTo>
                  <a:pt x="768" y="1876"/>
                  <a:pt x="768" y="1877"/>
                  <a:pt x="768" y="1877"/>
                </a:cubicBezTo>
                <a:cubicBezTo>
                  <a:pt x="768" y="1877"/>
                  <a:pt x="767" y="1877"/>
                  <a:pt x="767" y="1877"/>
                </a:cubicBezTo>
                <a:cubicBezTo>
                  <a:pt x="766" y="1878"/>
                  <a:pt x="765" y="1879"/>
                  <a:pt x="764" y="1880"/>
                </a:cubicBezTo>
                <a:cubicBezTo>
                  <a:pt x="763" y="1880"/>
                  <a:pt x="762" y="1881"/>
                  <a:pt x="761" y="1881"/>
                </a:cubicBezTo>
                <a:cubicBezTo>
                  <a:pt x="760" y="1882"/>
                  <a:pt x="760" y="1882"/>
                  <a:pt x="760" y="1882"/>
                </a:cubicBezTo>
                <a:cubicBezTo>
                  <a:pt x="760" y="1882"/>
                  <a:pt x="760" y="1882"/>
                  <a:pt x="760" y="1882"/>
                </a:cubicBezTo>
                <a:cubicBezTo>
                  <a:pt x="756" y="1883"/>
                  <a:pt x="752" y="1885"/>
                  <a:pt x="749" y="1885"/>
                </a:cubicBezTo>
                <a:cubicBezTo>
                  <a:pt x="748" y="1885"/>
                  <a:pt x="746" y="1885"/>
                  <a:pt x="745" y="1886"/>
                </a:cubicBezTo>
                <a:cubicBezTo>
                  <a:pt x="745" y="1886"/>
                  <a:pt x="745" y="1886"/>
                  <a:pt x="745" y="1886"/>
                </a:cubicBezTo>
                <a:cubicBezTo>
                  <a:pt x="738" y="1886"/>
                  <a:pt x="730" y="1886"/>
                  <a:pt x="723" y="1886"/>
                </a:cubicBezTo>
                <a:cubicBezTo>
                  <a:pt x="693" y="1886"/>
                  <a:pt x="693" y="1886"/>
                  <a:pt x="693" y="1886"/>
                </a:cubicBezTo>
                <a:cubicBezTo>
                  <a:pt x="687" y="1886"/>
                  <a:pt x="676" y="1885"/>
                  <a:pt x="674" y="1878"/>
                </a:cubicBezTo>
                <a:cubicBezTo>
                  <a:pt x="673" y="1877"/>
                  <a:pt x="673" y="1876"/>
                  <a:pt x="673" y="1876"/>
                </a:cubicBezTo>
                <a:cubicBezTo>
                  <a:pt x="673" y="1875"/>
                  <a:pt x="674" y="1875"/>
                  <a:pt x="674" y="1875"/>
                </a:cubicBezTo>
                <a:close/>
                <a:moveTo>
                  <a:pt x="647" y="1928"/>
                </a:moveTo>
                <a:cubicBezTo>
                  <a:pt x="648" y="1927"/>
                  <a:pt x="648" y="1927"/>
                  <a:pt x="648" y="1927"/>
                </a:cubicBezTo>
                <a:cubicBezTo>
                  <a:pt x="648" y="1926"/>
                  <a:pt x="648" y="1926"/>
                  <a:pt x="648" y="1926"/>
                </a:cubicBezTo>
                <a:cubicBezTo>
                  <a:pt x="649" y="1925"/>
                  <a:pt x="649" y="1924"/>
                  <a:pt x="650" y="1924"/>
                </a:cubicBezTo>
                <a:cubicBezTo>
                  <a:pt x="650" y="1924"/>
                  <a:pt x="650" y="1924"/>
                  <a:pt x="650" y="1924"/>
                </a:cubicBezTo>
                <a:cubicBezTo>
                  <a:pt x="661" y="1909"/>
                  <a:pt x="687" y="1912"/>
                  <a:pt x="703" y="1912"/>
                </a:cubicBezTo>
                <a:cubicBezTo>
                  <a:pt x="703" y="1912"/>
                  <a:pt x="703" y="1912"/>
                  <a:pt x="703" y="1912"/>
                </a:cubicBezTo>
                <a:cubicBezTo>
                  <a:pt x="708" y="1912"/>
                  <a:pt x="720" y="1911"/>
                  <a:pt x="730" y="1912"/>
                </a:cubicBezTo>
                <a:cubicBezTo>
                  <a:pt x="734" y="1912"/>
                  <a:pt x="737" y="1912"/>
                  <a:pt x="740" y="1913"/>
                </a:cubicBezTo>
                <a:cubicBezTo>
                  <a:pt x="742" y="1913"/>
                  <a:pt x="744" y="1914"/>
                  <a:pt x="745" y="1915"/>
                </a:cubicBezTo>
                <a:cubicBezTo>
                  <a:pt x="749" y="1917"/>
                  <a:pt x="752" y="1919"/>
                  <a:pt x="752" y="1923"/>
                </a:cubicBezTo>
                <a:cubicBezTo>
                  <a:pt x="752" y="1923"/>
                  <a:pt x="752" y="1924"/>
                  <a:pt x="752" y="1924"/>
                </a:cubicBezTo>
                <a:cubicBezTo>
                  <a:pt x="752" y="1924"/>
                  <a:pt x="752" y="1924"/>
                  <a:pt x="752" y="1924"/>
                </a:cubicBezTo>
                <a:cubicBezTo>
                  <a:pt x="752" y="1925"/>
                  <a:pt x="751" y="1926"/>
                  <a:pt x="751" y="1927"/>
                </a:cubicBezTo>
                <a:cubicBezTo>
                  <a:pt x="741" y="1956"/>
                  <a:pt x="741" y="1956"/>
                  <a:pt x="741" y="1956"/>
                </a:cubicBezTo>
                <a:cubicBezTo>
                  <a:pt x="740" y="1958"/>
                  <a:pt x="738" y="1960"/>
                  <a:pt x="736" y="1962"/>
                </a:cubicBezTo>
                <a:cubicBezTo>
                  <a:pt x="734" y="1964"/>
                  <a:pt x="731" y="1966"/>
                  <a:pt x="728" y="1967"/>
                </a:cubicBezTo>
                <a:cubicBezTo>
                  <a:pt x="728" y="1968"/>
                  <a:pt x="727" y="1968"/>
                  <a:pt x="727" y="1968"/>
                </a:cubicBezTo>
                <a:cubicBezTo>
                  <a:pt x="723" y="1970"/>
                  <a:pt x="718" y="1971"/>
                  <a:pt x="713" y="1972"/>
                </a:cubicBezTo>
                <a:cubicBezTo>
                  <a:pt x="713" y="1972"/>
                  <a:pt x="713" y="1972"/>
                  <a:pt x="713" y="1972"/>
                </a:cubicBezTo>
                <a:cubicBezTo>
                  <a:pt x="712" y="1972"/>
                  <a:pt x="711" y="1972"/>
                  <a:pt x="710" y="1972"/>
                </a:cubicBezTo>
                <a:cubicBezTo>
                  <a:pt x="701" y="1973"/>
                  <a:pt x="692" y="1972"/>
                  <a:pt x="682" y="1972"/>
                </a:cubicBezTo>
                <a:cubicBezTo>
                  <a:pt x="673" y="1973"/>
                  <a:pt x="663" y="1973"/>
                  <a:pt x="654" y="1973"/>
                </a:cubicBezTo>
                <a:cubicBezTo>
                  <a:pt x="647" y="1973"/>
                  <a:pt x="638" y="1971"/>
                  <a:pt x="634" y="1966"/>
                </a:cubicBezTo>
                <a:cubicBezTo>
                  <a:pt x="634" y="1965"/>
                  <a:pt x="634" y="1965"/>
                  <a:pt x="633" y="1965"/>
                </a:cubicBezTo>
                <a:cubicBezTo>
                  <a:pt x="633" y="1964"/>
                  <a:pt x="633" y="1964"/>
                  <a:pt x="633" y="1964"/>
                </a:cubicBezTo>
                <a:cubicBezTo>
                  <a:pt x="633" y="1963"/>
                  <a:pt x="633" y="1963"/>
                  <a:pt x="632" y="1963"/>
                </a:cubicBezTo>
                <a:cubicBezTo>
                  <a:pt x="632" y="1963"/>
                  <a:pt x="632" y="1962"/>
                  <a:pt x="632" y="1962"/>
                </a:cubicBezTo>
                <a:cubicBezTo>
                  <a:pt x="632" y="1962"/>
                  <a:pt x="632" y="1962"/>
                  <a:pt x="632" y="1962"/>
                </a:cubicBezTo>
                <a:cubicBezTo>
                  <a:pt x="632" y="1962"/>
                  <a:pt x="632" y="1961"/>
                  <a:pt x="632" y="1960"/>
                </a:cubicBezTo>
                <a:cubicBezTo>
                  <a:pt x="632" y="1959"/>
                  <a:pt x="632" y="1959"/>
                  <a:pt x="633" y="1959"/>
                </a:cubicBezTo>
                <a:cubicBezTo>
                  <a:pt x="633" y="1958"/>
                  <a:pt x="633" y="1957"/>
                  <a:pt x="633" y="1956"/>
                </a:cubicBezTo>
                <a:cubicBezTo>
                  <a:pt x="633" y="1956"/>
                  <a:pt x="633" y="1956"/>
                  <a:pt x="633" y="1956"/>
                </a:cubicBezTo>
                <a:cubicBezTo>
                  <a:pt x="634" y="1955"/>
                  <a:pt x="634" y="1955"/>
                  <a:pt x="634" y="1955"/>
                </a:cubicBezTo>
                <a:cubicBezTo>
                  <a:pt x="634" y="1954"/>
                  <a:pt x="635" y="1953"/>
                  <a:pt x="635" y="1952"/>
                </a:cubicBezTo>
                <a:cubicBezTo>
                  <a:pt x="639" y="1944"/>
                  <a:pt x="643" y="1936"/>
                  <a:pt x="647" y="1928"/>
                </a:cubicBezTo>
                <a:cubicBezTo>
                  <a:pt x="647" y="1928"/>
                  <a:pt x="647" y="1928"/>
                  <a:pt x="647" y="1928"/>
                </a:cubicBezTo>
                <a:close/>
                <a:moveTo>
                  <a:pt x="527" y="1875"/>
                </a:moveTo>
                <a:cubicBezTo>
                  <a:pt x="528" y="1873"/>
                  <a:pt x="531" y="1870"/>
                  <a:pt x="532" y="1868"/>
                </a:cubicBezTo>
                <a:cubicBezTo>
                  <a:pt x="536" y="1861"/>
                  <a:pt x="541" y="1854"/>
                  <a:pt x="546" y="1848"/>
                </a:cubicBezTo>
                <a:cubicBezTo>
                  <a:pt x="546" y="1847"/>
                  <a:pt x="546" y="1847"/>
                  <a:pt x="547" y="1847"/>
                </a:cubicBezTo>
                <a:cubicBezTo>
                  <a:pt x="547" y="1847"/>
                  <a:pt x="547" y="1847"/>
                  <a:pt x="547" y="1846"/>
                </a:cubicBezTo>
                <a:cubicBezTo>
                  <a:pt x="561" y="1833"/>
                  <a:pt x="590" y="1837"/>
                  <a:pt x="608" y="1837"/>
                </a:cubicBezTo>
                <a:cubicBezTo>
                  <a:pt x="616" y="1837"/>
                  <a:pt x="626" y="1835"/>
                  <a:pt x="634" y="1839"/>
                </a:cubicBezTo>
                <a:cubicBezTo>
                  <a:pt x="634" y="1839"/>
                  <a:pt x="634" y="1839"/>
                  <a:pt x="634" y="1839"/>
                </a:cubicBezTo>
                <a:cubicBezTo>
                  <a:pt x="634" y="1839"/>
                  <a:pt x="635" y="1839"/>
                  <a:pt x="636" y="1840"/>
                </a:cubicBezTo>
                <a:cubicBezTo>
                  <a:pt x="636" y="1840"/>
                  <a:pt x="636" y="1840"/>
                  <a:pt x="636" y="1840"/>
                </a:cubicBezTo>
                <a:cubicBezTo>
                  <a:pt x="638" y="1841"/>
                  <a:pt x="639" y="1843"/>
                  <a:pt x="639" y="1844"/>
                </a:cubicBezTo>
                <a:cubicBezTo>
                  <a:pt x="640" y="1845"/>
                  <a:pt x="640" y="1847"/>
                  <a:pt x="639" y="1849"/>
                </a:cubicBezTo>
                <a:cubicBezTo>
                  <a:pt x="638" y="1850"/>
                  <a:pt x="638" y="1850"/>
                  <a:pt x="638" y="1850"/>
                </a:cubicBezTo>
                <a:cubicBezTo>
                  <a:pt x="637" y="1854"/>
                  <a:pt x="633" y="1858"/>
                  <a:pt x="631" y="1862"/>
                </a:cubicBezTo>
                <a:cubicBezTo>
                  <a:pt x="631" y="1862"/>
                  <a:pt x="631" y="1862"/>
                  <a:pt x="631" y="1862"/>
                </a:cubicBezTo>
                <a:cubicBezTo>
                  <a:pt x="625" y="1873"/>
                  <a:pt x="625" y="1873"/>
                  <a:pt x="625" y="1873"/>
                </a:cubicBezTo>
                <a:cubicBezTo>
                  <a:pt x="624" y="1874"/>
                  <a:pt x="623" y="1876"/>
                  <a:pt x="621" y="1878"/>
                </a:cubicBezTo>
                <a:cubicBezTo>
                  <a:pt x="618" y="1879"/>
                  <a:pt x="616" y="1881"/>
                  <a:pt x="613" y="1882"/>
                </a:cubicBezTo>
                <a:cubicBezTo>
                  <a:pt x="612" y="1882"/>
                  <a:pt x="611" y="1883"/>
                  <a:pt x="610" y="1883"/>
                </a:cubicBezTo>
                <a:cubicBezTo>
                  <a:pt x="610" y="1883"/>
                  <a:pt x="609" y="1883"/>
                  <a:pt x="609" y="1884"/>
                </a:cubicBezTo>
                <a:cubicBezTo>
                  <a:pt x="609" y="1884"/>
                  <a:pt x="609" y="1884"/>
                  <a:pt x="609" y="1884"/>
                </a:cubicBezTo>
                <a:cubicBezTo>
                  <a:pt x="607" y="1884"/>
                  <a:pt x="605" y="1885"/>
                  <a:pt x="603" y="1885"/>
                </a:cubicBezTo>
                <a:cubicBezTo>
                  <a:pt x="599" y="1886"/>
                  <a:pt x="596" y="1886"/>
                  <a:pt x="592" y="1886"/>
                </a:cubicBezTo>
                <a:cubicBezTo>
                  <a:pt x="582" y="1886"/>
                  <a:pt x="582" y="1886"/>
                  <a:pt x="582" y="1886"/>
                </a:cubicBezTo>
                <a:cubicBezTo>
                  <a:pt x="582" y="1886"/>
                  <a:pt x="582" y="1886"/>
                  <a:pt x="582" y="1886"/>
                </a:cubicBezTo>
                <a:cubicBezTo>
                  <a:pt x="570" y="1886"/>
                  <a:pt x="557" y="1886"/>
                  <a:pt x="545" y="1886"/>
                </a:cubicBezTo>
                <a:cubicBezTo>
                  <a:pt x="540" y="1886"/>
                  <a:pt x="528" y="1885"/>
                  <a:pt x="527" y="1878"/>
                </a:cubicBezTo>
                <a:cubicBezTo>
                  <a:pt x="527" y="1877"/>
                  <a:pt x="527" y="1876"/>
                  <a:pt x="527" y="1875"/>
                </a:cubicBezTo>
                <a:close/>
                <a:moveTo>
                  <a:pt x="545" y="2017"/>
                </a:moveTo>
                <a:cubicBezTo>
                  <a:pt x="545" y="2017"/>
                  <a:pt x="545" y="2017"/>
                  <a:pt x="545" y="2017"/>
                </a:cubicBezTo>
                <a:cubicBezTo>
                  <a:pt x="543" y="2024"/>
                  <a:pt x="538" y="2031"/>
                  <a:pt x="534" y="2038"/>
                </a:cubicBezTo>
                <a:cubicBezTo>
                  <a:pt x="534" y="2038"/>
                  <a:pt x="534" y="2038"/>
                  <a:pt x="534" y="2038"/>
                </a:cubicBezTo>
                <a:cubicBezTo>
                  <a:pt x="530" y="2045"/>
                  <a:pt x="527" y="2053"/>
                  <a:pt x="521" y="2060"/>
                </a:cubicBezTo>
                <a:cubicBezTo>
                  <a:pt x="521" y="2061"/>
                  <a:pt x="520" y="2061"/>
                  <a:pt x="520" y="2062"/>
                </a:cubicBezTo>
                <a:cubicBezTo>
                  <a:pt x="520" y="2062"/>
                  <a:pt x="520" y="2062"/>
                  <a:pt x="520" y="2062"/>
                </a:cubicBezTo>
                <a:cubicBezTo>
                  <a:pt x="519" y="2063"/>
                  <a:pt x="518" y="2064"/>
                  <a:pt x="517" y="2064"/>
                </a:cubicBezTo>
                <a:cubicBezTo>
                  <a:pt x="517" y="2065"/>
                  <a:pt x="517" y="2065"/>
                  <a:pt x="516" y="2065"/>
                </a:cubicBezTo>
                <a:cubicBezTo>
                  <a:pt x="516" y="2065"/>
                  <a:pt x="516" y="2066"/>
                  <a:pt x="516" y="2066"/>
                </a:cubicBezTo>
                <a:cubicBezTo>
                  <a:pt x="510" y="2071"/>
                  <a:pt x="503" y="2074"/>
                  <a:pt x="496" y="2076"/>
                </a:cubicBezTo>
                <a:cubicBezTo>
                  <a:pt x="495" y="2076"/>
                  <a:pt x="494" y="2076"/>
                  <a:pt x="493" y="2077"/>
                </a:cubicBezTo>
                <a:cubicBezTo>
                  <a:pt x="489" y="2078"/>
                  <a:pt x="484" y="2078"/>
                  <a:pt x="480" y="2078"/>
                </a:cubicBezTo>
                <a:cubicBezTo>
                  <a:pt x="476" y="2078"/>
                  <a:pt x="476" y="2078"/>
                  <a:pt x="476" y="2078"/>
                </a:cubicBezTo>
                <a:cubicBezTo>
                  <a:pt x="476" y="2078"/>
                  <a:pt x="476" y="2078"/>
                  <a:pt x="476" y="2078"/>
                </a:cubicBezTo>
                <a:cubicBezTo>
                  <a:pt x="458" y="2078"/>
                  <a:pt x="439" y="2078"/>
                  <a:pt x="421" y="2079"/>
                </a:cubicBezTo>
                <a:cubicBezTo>
                  <a:pt x="419" y="2079"/>
                  <a:pt x="418" y="2078"/>
                  <a:pt x="416" y="2078"/>
                </a:cubicBezTo>
                <a:cubicBezTo>
                  <a:pt x="414" y="2078"/>
                  <a:pt x="412" y="2078"/>
                  <a:pt x="410" y="2077"/>
                </a:cubicBezTo>
                <a:cubicBezTo>
                  <a:pt x="406" y="2076"/>
                  <a:pt x="404" y="2074"/>
                  <a:pt x="402" y="2072"/>
                </a:cubicBezTo>
                <a:cubicBezTo>
                  <a:pt x="401" y="2070"/>
                  <a:pt x="400" y="2068"/>
                  <a:pt x="400" y="2066"/>
                </a:cubicBezTo>
                <a:cubicBezTo>
                  <a:pt x="400" y="2064"/>
                  <a:pt x="401" y="2062"/>
                  <a:pt x="402" y="2060"/>
                </a:cubicBezTo>
                <a:cubicBezTo>
                  <a:pt x="402" y="2059"/>
                  <a:pt x="402" y="2059"/>
                  <a:pt x="403" y="2059"/>
                </a:cubicBezTo>
                <a:cubicBezTo>
                  <a:pt x="403" y="2058"/>
                  <a:pt x="403" y="2058"/>
                  <a:pt x="403" y="2058"/>
                </a:cubicBezTo>
                <a:cubicBezTo>
                  <a:pt x="404" y="2057"/>
                  <a:pt x="404" y="2057"/>
                  <a:pt x="404" y="2057"/>
                </a:cubicBezTo>
                <a:cubicBezTo>
                  <a:pt x="404" y="2057"/>
                  <a:pt x="404" y="2057"/>
                  <a:pt x="404" y="2057"/>
                </a:cubicBezTo>
                <a:cubicBezTo>
                  <a:pt x="409" y="2050"/>
                  <a:pt x="413" y="2043"/>
                  <a:pt x="418" y="2035"/>
                </a:cubicBezTo>
                <a:cubicBezTo>
                  <a:pt x="422" y="2030"/>
                  <a:pt x="425" y="2024"/>
                  <a:pt x="430" y="2019"/>
                </a:cubicBezTo>
                <a:cubicBezTo>
                  <a:pt x="430" y="2018"/>
                  <a:pt x="431" y="2018"/>
                  <a:pt x="431" y="2017"/>
                </a:cubicBezTo>
                <a:cubicBezTo>
                  <a:pt x="431" y="2017"/>
                  <a:pt x="432" y="2017"/>
                  <a:pt x="432" y="2017"/>
                </a:cubicBezTo>
                <a:cubicBezTo>
                  <a:pt x="433" y="2016"/>
                  <a:pt x="434" y="2015"/>
                  <a:pt x="435" y="2014"/>
                </a:cubicBezTo>
                <a:cubicBezTo>
                  <a:pt x="435" y="2014"/>
                  <a:pt x="435" y="2014"/>
                  <a:pt x="435" y="2014"/>
                </a:cubicBezTo>
                <a:cubicBezTo>
                  <a:pt x="435" y="2014"/>
                  <a:pt x="435" y="2014"/>
                  <a:pt x="435" y="2014"/>
                </a:cubicBezTo>
                <a:cubicBezTo>
                  <a:pt x="441" y="2009"/>
                  <a:pt x="449" y="2006"/>
                  <a:pt x="457" y="2004"/>
                </a:cubicBezTo>
                <a:cubicBezTo>
                  <a:pt x="457" y="2004"/>
                  <a:pt x="457" y="2004"/>
                  <a:pt x="457" y="2004"/>
                </a:cubicBezTo>
                <a:cubicBezTo>
                  <a:pt x="457" y="2004"/>
                  <a:pt x="458" y="2004"/>
                  <a:pt x="458" y="2004"/>
                </a:cubicBezTo>
                <a:cubicBezTo>
                  <a:pt x="459" y="2004"/>
                  <a:pt x="461" y="2004"/>
                  <a:pt x="462" y="2004"/>
                </a:cubicBezTo>
                <a:cubicBezTo>
                  <a:pt x="463" y="2003"/>
                  <a:pt x="464" y="2003"/>
                  <a:pt x="465" y="2003"/>
                </a:cubicBezTo>
                <a:cubicBezTo>
                  <a:pt x="466" y="2003"/>
                  <a:pt x="467" y="2003"/>
                  <a:pt x="468" y="2003"/>
                </a:cubicBezTo>
                <a:cubicBezTo>
                  <a:pt x="468" y="2003"/>
                  <a:pt x="469" y="2003"/>
                  <a:pt x="470" y="2003"/>
                </a:cubicBezTo>
                <a:cubicBezTo>
                  <a:pt x="471" y="2003"/>
                  <a:pt x="471" y="2003"/>
                  <a:pt x="471" y="2003"/>
                </a:cubicBezTo>
                <a:cubicBezTo>
                  <a:pt x="471" y="2003"/>
                  <a:pt x="471" y="2003"/>
                  <a:pt x="471" y="2003"/>
                </a:cubicBezTo>
                <a:cubicBezTo>
                  <a:pt x="488" y="2003"/>
                  <a:pt x="504" y="2003"/>
                  <a:pt x="521" y="2003"/>
                </a:cubicBezTo>
                <a:cubicBezTo>
                  <a:pt x="521" y="2003"/>
                  <a:pt x="521" y="2003"/>
                  <a:pt x="521" y="2003"/>
                </a:cubicBezTo>
                <a:cubicBezTo>
                  <a:pt x="524" y="2003"/>
                  <a:pt x="524" y="2003"/>
                  <a:pt x="524" y="2003"/>
                </a:cubicBezTo>
                <a:cubicBezTo>
                  <a:pt x="528" y="2003"/>
                  <a:pt x="532" y="2003"/>
                  <a:pt x="535" y="2004"/>
                </a:cubicBezTo>
                <a:cubicBezTo>
                  <a:pt x="536" y="2004"/>
                  <a:pt x="536" y="2005"/>
                  <a:pt x="537" y="2005"/>
                </a:cubicBezTo>
                <a:cubicBezTo>
                  <a:pt x="537" y="2005"/>
                  <a:pt x="538" y="2005"/>
                  <a:pt x="538" y="2006"/>
                </a:cubicBezTo>
                <a:cubicBezTo>
                  <a:pt x="538" y="2006"/>
                  <a:pt x="539" y="2006"/>
                  <a:pt x="539" y="2006"/>
                </a:cubicBezTo>
                <a:cubicBezTo>
                  <a:pt x="543" y="2008"/>
                  <a:pt x="546" y="2012"/>
                  <a:pt x="545" y="2017"/>
                </a:cubicBezTo>
                <a:close/>
                <a:moveTo>
                  <a:pt x="579" y="1956"/>
                </a:moveTo>
                <a:cubicBezTo>
                  <a:pt x="579" y="1956"/>
                  <a:pt x="579" y="1956"/>
                  <a:pt x="579" y="1956"/>
                </a:cubicBezTo>
                <a:cubicBezTo>
                  <a:pt x="579" y="1956"/>
                  <a:pt x="579" y="1956"/>
                  <a:pt x="579" y="1956"/>
                </a:cubicBezTo>
                <a:cubicBezTo>
                  <a:pt x="578" y="1957"/>
                  <a:pt x="578" y="1958"/>
                  <a:pt x="577" y="1959"/>
                </a:cubicBezTo>
                <a:cubicBezTo>
                  <a:pt x="577" y="1959"/>
                  <a:pt x="577" y="1960"/>
                  <a:pt x="577" y="1960"/>
                </a:cubicBezTo>
                <a:cubicBezTo>
                  <a:pt x="572" y="1964"/>
                  <a:pt x="566" y="1968"/>
                  <a:pt x="560" y="1970"/>
                </a:cubicBezTo>
                <a:cubicBezTo>
                  <a:pt x="560" y="1970"/>
                  <a:pt x="560" y="1970"/>
                  <a:pt x="560" y="1970"/>
                </a:cubicBezTo>
                <a:cubicBezTo>
                  <a:pt x="559" y="1970"/>
                  <a:pt x="558" y="1970"/>
                  <a:pt x="557" y="1971"/>
                </a:cubicBezTo>
                <a:cubicBezTo>
                  <a:pt x="556" y="1971"/>
                  <a:pt x="556" y="1971"/>
                  <a:pt x="555" y="1971"/>
                </a:cubicBezTo>
                <a:cubicBezTo>
                  <a:pt x="554" y="1971"/>
                  <a:pt x="554" y="1971"/>
                  <a:pt x="553" y="1971"/>
                </a:cubicBezTo>
                <a:cubicBezTo>
                  <a:pt x="550" y="1972"/>
                  <a:pt x="546" y="1973"/>
                  <a:pt x="542" y="1973"/>
                </a:cubicBezTo>
                <a:cubicBezTo>
                  <a:pt x="541" y="1973"/>
                  <a:pt x="541" y="1973"/>
                  <a:pt x="541" y="1973"/>
                </a:cubicBezTo>
                <a:cubicBezTo>
                  <a:pt x="534" y="1973"/>
                  <a:pt x="527" y="1973"/>
                  <a:pt x="520" y="1973"/>
                </a:cubicBezTo>
                <a:cubicBezTo>
                  <a:pt x="510" y="1973"/>
                  <a:pt x="499" y="1973"/>
                  <a:pt x="489" y="1973"/>
                </a:cubicBezTo>
                <a:cubicBezTo>
                  <a:pt x="488" y="1973"/>
                  <a:pt x="486" y="1973"/>
                  <a:pt x="484" y="1973"/>
                </a:cubicBezTo>
                <a:cubicBezTo>
                  <a:pt x="484" y="1973"/>
                  <a:pt x="484" y="1973"/>
                  <a:pt x="483" y="1973"/>
                </a:cubicBezTo>
                <a:cubicBezTo>
                  <a:pt x="482" y="1972"/>
                  <a:pt x="480" y="1972"/>
                  <a:pt x="479" y="1972"/>
                </a:cubicBezTo>
                <a:cubicBezTo>
                  <a:pt x="479" y="1972"/>
                  <a:pt x="479" y="1972"/>
                  <a:pt x="479" y="1972"/>
                </a:cubicBezTo>
                <a:cubicBezTo>
                  <a:pt x="479" y="1972"/>
                  <a:pt x="479" y="1972"/>
                  <a:pt x="479" y="1972"/>
                </a:cubicBezTo>
                <a:cubicBezTo>
                  <a:pt x="474" y="1970"/>
                  <a:pt x="470" y="1968"/>
                  <a:pt x="470" y="1963"/>
                </a:cubicBezTo>
                <a:cubicBezTo>
                  <a:pt x="470" y="1962"/>
                  <a:pt x="470" y="1961"/>
                  <a:pt x="470" y="1960"/>
                </a:cubicBezTo>
                <a:cubicBezTo>
                  <a:pt x="470" y="1960"/>
                  <a:pt x="470" y="1959"/>
                  <a:pt x="471" y="1959"/>
                </a:cubicBezTo>
                <a:cubicBezTo>
                  <a:pt x="471" y="1958"/>
                  <a:pt x="471" y="1957"/>
                  <a:pt x="472" y="1957"/>
                </a:cubicBezTo>
                <a:cubicBezTo>
                  <a:pt x="472" y="1957"/>
                  <a:pt x="472" y="1956"/>
                  <a:pt x="472" y="1956"/>
                </a:cubicBezTo>
                <a:cubicBezTo>
                  <a:pt x="472" y="1956"/>
                  <a:pt x="472" y="1956"/>
                  <a:pt x="472" y="1956"/>
                </a:cubicBezTo>
                <a:cubicBezTo>
                  <a:pt x="473" y="1955"/>
                  <a:pt x="474" y="1954"/>
                  <a:pt x="474" y="1953"/>
                </a:cubicBezTo>
                <a:cubicBezTo>
                  <a:pt x="479" y="1945"/>
                  <a:pt x="485" y="1938"/>
                  <a:pt x="490" y="1930"/>
                </a:cubicBezTo>
                <a:cubicBezTo>
                  <a:pt x="490" y="1930"/>
                  <a:pt x="490" y="1930"/>
                  <a:pt x="490" y="1930"/>
                </a:cubicBezTo>
                <a:cubicBezTo>
                  <a:pt x="492" y="1927"/>
                  <a:pt x="492" y="1927"/>
                  <a:pt x="492" y="1927"/>
                </a:cubicBezTo>
                <a:cubicBezTo>
                  <a:pt x="493" y="1925"/>
                  <a:pt x="495" y="1923"/>
                  <a:pt x="498" y="1921"/>
                </a:cubicBezTo>
                <a:cubicBezTo>
                  <a:pt x="499" y="1920"/>
                  <a:pt x="501" y="1919"/>
                  <a:pt x="503" y="1918"/>
                </a:cubicBezTo>
                <a:cubicBezTo>
                  <a:pt x="504" y="1918"/>
                  <a:pt x="505" y="1917"/>
                  <a:pt x="506" y="1917"/>
                </a:cubicBezTo>
                <a:cubicBezTo>
                  <a:pt x="506" y="1917"/>
                  <a:pt x="506" y="1917"/>
                  <a:pt x="507" y="1917"/>
                </a:cubicBezTo>
                <a:cubicBezTo>
                  <a:pt x="507" y="1917"/>
                  <a:pt x="507" y="1916"/>
                  <a:pt x="507" y="1916"/>
                </a:cubicBezTo>
                <a:cubicBezTo>
                  <a:pt x="508" y="1916"/>
                  <a:pt x="508" y="1916"/>
                  <a:pt x="508" y="1916"/>
                </a:cubicBezTo>
                <a:cubicBezTo>
                  <a:pt x="511" y="1915"/>
                  <a:pt x="514" y="1914"/>
                  <a:pt x="517" y="1913"/>
                </a:cubicBezTo>
                <a:cubicBezTo>
                  <a:pt x="521" y="1913"/>
                  <a:pt x="525" y="1912"/>
                  <a:pt x="528" y="1912"/>
                </a:cubicBezTo>
                <a:cubicBezTo>
                  <a:pt x="538" y="1912"/>
                  <a:pt x="538" y="1912"/>
                  <a:pt x="538" y="1912"/>
                </a:cubicBezTo>
                <a:cubicBezTo>
                  <a:pt x="541" y="1912"/>
                  <a:pt x="543" y="1912"/>
                  <a:pt x="545" y="1912"/>
                </a:cubicBezTo>
                <a:cubicBezTo>
                  <a:pt x="555" y="1912"/>
                  <a:pt x="564" y="1912"/>
                  <a:pt x="573" y="1912"/>
                </a:cubicBezTo>
                <a:cubicBezTo>
                  <a:pt x="573" y="1912"/>
                  <a:pt x="573" y="1912"/>
                  <a:pt x="573" y="1912"/>
                </a:cubicBezTo>
                <a:cubicBezTo>
                  <a:pt x="577" y="1912"/>
                  <a:pt x="577" y="1912"/>
                  <a:pt x="577" y="1912"/>
                </a:cubicBezTo>
                <a:cubicBezTo>
                  <a:pt x="581" y="1912"/>
                  <a:pt x="584" y="1913"/>
                  <a:pt x="587" y="1913"/>
                </a:cubicBezTo>
                <a:cubicBezTo>
                  <a:pt x="589" y="1914"/>
                  <a:pt x="590" y="1915"/>
                  <a:pt x="592" y="1915"/>
                </a:cubicBezTo>
                <a:cubicBezTo>
                  <a:pt x="596" y="1918"/>
                  <a:pt x="599" y="1921"/>
                  <a:pt x="595" y="1927"/>
                </a:cubicBezTo>
                <a:cubicBezTo>
                  <a:pt x="592" y="1934"/>
                  <a:pt x="588" y="1941"/>
                  <a:pt x="584" y="1948"/>
                </a:cubicBezTo>
                <a:cubicBezTo>
                  <a:pt x="579" y="1956"/>
                  <a:pt x="579" y="1956"/>
                  <a:pt x="579" y="1956"/>
                </a:cubicBezTo>
                <a:cubicBezTo>
                  <a:pt x="579" y="1956"/>
                  <a:pt x="579" y="1956"/>
                  <a:pt x="579" y="1956"/>
                </a:cubicBezTo>
                <a:close/>
                <a:moveTo>
                  <a:pt x="1064" y="2056"/>
                </a:moveTo>
                <a:cubicBezTo>
                  <a:pt x="1064" y="2057"/>
                  <a:pt x="1064" y="2059"/>
                  <a:pt x="1064" y="2060"/>
                </a:cubicBezTo>
                <a:cubicBezTo>
                  <a:pt x="1064" y="2060"/>
                  <a:pt x="1064" y="2060"/>
                  <a:pt x="1064" y="2061"/>
                </a:cubicBezTo>
                <a:cubicBezTo>
                  <a:pt x="1063" y="2062"/>
                  <a:pt x="1063" y="2063"/>
                  <a:pt x="1062" y="2064"/>
                </a:cubicBezTo>
                <a:cubicBezTo>
                  <a:pt x="1062" y="2064"/>
                  <a:pt x="1062" y="2064"/>
                  <a:pt x="1062" y="2064"/>
                </a:cubicBezTo>
                <a:cubicBezTo>
                  <a:pt x="1062" y="2064"/>
                  <a:pt x="1062" y="2064"/>
                  <a:pt x="1062" y="2064"/>
                </a:cubicBezTo>
                <a:cubicBezTo>
                  <a:pt x="1061" y="2065"/>
                  <a:pt x="1060" y="2066"/>
                  <a:pt x="1059" y="2067"/>
                </a:cubicBezTo>
                <a:cubicBezTo>
                  <a:pt x="1059" y="2067"/>
                  <a:pt x="1059" y="2067"/>
                  <a:pt x="1059" y="2068"/>
                </a:cubicBezTo>
                <a:cubicBezTo>
                  <a:pt x="1058" y="2069"/>
                  <a:pt x="1057" y="2069"/>
                  <a:pt x="1056" y="2070"/>
                </a:cubicBezTo>
                <a:cubicBezTo>
                  <a:pt x="1056" y="2070"/>
                  <a:pt x="1055" y="2071"/>
                  <a:pt x="1055" y="2071"/>
                </a:cubicBezTo>
                <a:cubicBezTo>
                  <a:pt x="1055" y="2071"/>
                  <a:pt x="1055" y="2071"/>
                  <a:pt x="1055" y="2071"/>
                </a:cubicBezTo>
                <a:cubicBezTo>
                  <a:pt x="1053" y="2072"/>
                  <a:pt x="1052" y="2072"/>
                  <a:pt x="1051" y="2073"/>
                </a:cubicBezTo>
                <a:cubicBezTo>
                  <a:pt x="1051" y="2073"/>
                  <a:pt x="1051" y="2073"/>
                  <a:pt x="1050" y="2073"/>
                </a:cubicBezTo>
                <a:cubicBezTo>
                  <a:pt x="1049" y="2074"/>
                  <a:pt x="1048" y="2074"/>
                  <a:pt x="1047" y="2074"/>
                </a:cubicBezTo>
                <a:cubicBezTo>
                  <a:pt x="1047" y="2075"/>
                  <a:pt x="1046" y="2075"/>
                  <a:pt x="1046" y="2075"/>
                </a:cubicBezTo>
                <a:cubicBezTo>
                  <a:pt x="1046" y="2075"/>
                  <a:pt x="1045" y="2075"/>
                  <a:pt x="1045" y="2075"/>
                </a:cubicBezTo>
                <a:cubicBezTo>
                  <a:pt x="1045" y="2075"/>
                  <a:pt x="1045" y="2075"/>
                  <a:pt x="1044" y="2075"/>
                </a:cubicBezTo>
                <a:cubicBezTo>
                  <a:pt x="1043" y="2076"/>
                  <a:pt x="1042" y="2076"/>
                  <a:pt x="1041" y="2076"/>
                </a:cubicBezTo>
                <a:cubicBezTo>
                  <a:pt x="1039" y="2076"/>
                  <a:pt x="1038" y="2076"/>
                  <a:pt x="1037" y="2077"/>
                </a:cubicBezTo>
                <a:cubicBezTo>
                  <a:pt x="1036" y="2077"/>
                  <a:pt x="1035" y="2077"/>
                  <a:pt x="1034" y="2077"/>
                </a:cubicBezTo>
                <a:cubicBezTo>
                  <a:pt x="1033" y="2077"/>
                  <a:pt x="1033" y="2077"/>
                  <a:pt x="1033" y="2077"/>
                </a:cubicBezTo>
                <a:cubicBezTo>
                  <a:pt x="1031" y="2077"/>
                  <a:pt x="1031" y="2077"/>
                  <a:pt x="1031" y="2077"/>
                </a:cubicBezTo>
                <a:cubicBezTo>
                  <a:pt x="1031" y="2077"/>
                  <a:pt x="1031" y="2077"/>
                  <a:pt x="1031" y="2077"/>
                </a:cubicBezTo>
                <a:cubicBezTo>
                  <a:pt x="1025" y="2077"/>
                  <a:pt x="1018" y="2077"/>
                  <a:pt x="1011" y="2077"/>
                </a:cubicBezTo>
                <a:cubicBezTo>
                  <a:pt x="981" y="2077"/>
                  <a:pt x="630" y="2078"/>
                  <a:pt x="605" y="2078"/>
                </a:cubicBezTo>
                <a:cubicBezTo>
                  <a:pt x="604" y="2078"/>
                  <a:pt x="602" y="2078"/>
                  <a:pt x="600" y="2078"/>
                </a:cubicBezTo>
                <a:cubicBezTo>
                  <a:pt x="598" y="2077"/>
                  <a:pt x="596" y="2077"/>
                  <a:pt x="594" y="2076"/>
                </a:cubicBezTo>
                <a:cubicBezTo>
                  <a:pt x="590" y="2075"/>
                  <a:pt x="588" y="2074"/>
                  <a:pt x="586" y="2072"/>
                </a:cubicBezTo>
                <a:cubicBezTo>
                  <a:pt x="584" y="2070"/>
                  <a:pt x="583" y="2068"/>
                  <a:pt x="582" y="2065"/>
                </a:cubicBezTo>
                <a:cubicBezTo>
                  <a:pt x="582" y="2063"/>
                  <a:pt x="582" y="2060"/>
                  <a:pt x="584" y="2057"/>
                </a:cubicBezTo>
                <a:cubicBezTo>
                  <a:pt x="584" y="2056"/>
                  <a:pt x="584" y="2056"/>
                  <a:pt x="584" y="2056"/>
                </a:cubicBezTo>
                <a:cubicBezTo>
                  <a:pt x="584" y="2056"/>
                  <a:pt x="584" y="2056"/>
                  <a:pt x="584" y="2056"/>
                </a:cubicBezTo>
                <a:cubicBezTo>
                  <a:pt x="588" y="2048"/>
                  <a:pt x="592" y="2040"/>
                  <a:pt x="596" y="2031"/>
                </a:cubicBezTo>
                <a:cubicBezTo>
                  <a:pt x="597" y="2030"/>
                  <a:pt x="598" y="2029"/>
                  <a:pt x="598" y="2027"/>
                </a:cubicBezTo>
                <a:cubicBezTo>
                  <a:pt x="601" y="2021"/>
                  <a:pt x="601" y="2021"/>
                  <a:pt x="601" y="2021"/>
                </a:cubicBezTo>
                <a:cubicBezTo>
                  <a:pt x="603" y="2018"/>
                  <a:pt x="605" y="2016"/>
                  <a:pt x="607" y="2014"/>
                </a:cubicBezTo>
                <a:cubicBezTo>
                  <a:pt x="608" y="2013"/>
                  <a:pt x="609" y="2013"/>
                  <a:pt x="609" y="2012"/>
                </a:cubicBezTo>
                <a:cubicBezTo>
                  <a:pt x="610" y="2012"/>
                  <a:pt x="610" y="2012"/>
                  <a:pt x="610" y="2011"/>
                </a:cubicBezTo>
                <a:cubicBezTo>
                  <a:pt x="611" y="2011"/>
                  <a:pt x="612" y="2011"/>
                  <a:pt x="612" y="2010"/>
                </a:cubicBezTo>
                <a:cubicBezTo>
                  <a:pt x="612" y="2010"/>
                  <a:pt x="612" y="2010"/>
                  <a:pt x="613" y="2010"/>
                </a:cubicBezTo>
                <a:cubicBezTo>
                  <a:pt x="613" y="2010"/>
                  <a:pt x="613" y="2010"/>
                  <a:pt x="614" y="2009"/>
                </a:cubicBezTo>
                <a:cubicBezTo>
                  <a:pt x="615" y="2009"/>
                  <a:pt x="616" y="2008"/>
                  <a:pt x="617" y="2008"/>
                </a:cubicBezTo>
                <a:cubicBezTo>
                  <a:pt x="617" y="2008"/>
                  <a:pt x="618" y="2007"/>
                  <a:pt x="618" y="2007"/>
                </a:cubicBezTo>
                <a:cubicBezTo>
                  <a:pt x="619" y="2007"/>
                  <a:pt x="620" y="2007"/>
                  <a:pt x="621" y="2006"/>
                </a:cubicBezTo>
                <a:cubicBezTo>
                  <a:pt x="622" y="2006"/>
                  <a:pt x="623" y="2005"/>
                  <a:pt x="625" y="2005"/>
                </a:cubicBezTo>
                <a:cubicBezTo>
                  <a:pt x="625" y="2005"/>
                  <a:pt x="626" y="2004"/>
                  <a:pt x="627" y="2004"/>
                </a:cubicBezTo>
                <a:cubicBezTo>
                  <a:pt x="627" y="2004"/>
                  <a:pt x="628" y="2004"/>
                  <a:pt x="628" y="2004"/>
                </a:cubicBezTo>
                <a:cubicBezTo>
                  <a:pt x="632" y="2003"/>
                  <a:pt x="636" y="2002"/>
                  <a:pt x="640" y="2002"/>
                </a:cubicBezTo>
                <a:cubicBezTo>
                  <a:pt x="640" y="2002"/>
                  <a:pt x="1008" y="2001"/>
                  <a:pt x="1021" y="2001"/>
                </a:cubicBezTo>
                <a:cubicBezTo>
                  <a:pt x="1026" y="2001"/>
                  <a:pt x="1030" y="2001"/>
                  <a:pt x="1034" y="2001"/>
                </a:cubicBezTo>
                <a:cubicBezTo>
                  <a:pt x="1036" y="2001"/>
                  <a:pt x="1038" y="2002"/>
                  <a:pt x="1040" y="2002"/>
                </a:cubicBezTo>
                <a:cubicBezTo>
                  <a:pt x="1040" y="2002"/>
                  <a:pt x="1040" y="2002"/>
                  <a:pt x="1041" y="2002"/>
                </a:cubicBezTo>
                <a:cubicBezTo>
                  <a:pt x="1042" y="2002"/>
                  <a:pt x="1044" y="2002"/>
                  <a:pt x="1045" y="2003"/>
                </a:cubicBezTo>
                <a:cubicBezTo>
                  <a:pt x="1045" y="2003"/>
                  <a:pt x="1046" y="2003"/>
                  <a:pt x="1046" y="2003"/>
                </a:cubicBezTo>
                <a:cubicBezTo>
                  <a:pt x="1046" y="2003"/>
                  <a:pt x="1046" y="2003"/>
                  <a:pt x="1046" y="2003"/>
                </a:cubicBezTo>
                <a:cubicBezTo>
                  <a:pt x="1048" y="2003"/>
                  <a:pt x="1049" y="2004"/>
                  <a:pt x="1050" y="2004"/>
                </a:cubicBezTo>
                <a:cubicBezTo>
                  <a:pt x="1050" y="2004"/>
                  <a:pt x="1051" y="2005"/>
                  <a:pt x="1051" y="2005"/>
                </a:cubicBezTo>
                <a:cubicBezTo>
                  <a:pt x="1052" y="2005"/>
                  <a:pt x="1053" y="2006"/>
                  <a:pt x="1054" y="2006"/>
                </a:cubicBezTo>
                <a:cubicBezTo>
                  <a:pt x="1055" y="2006"/>
                  <a:pt x="1055" y="2007"/>
                  <a:pt x="1055" y="2007"/>
                </a:cubicBezTo>
                <a:cubicBezTo>
                  <a:pt x="1055" y="2007"/>
                  <a:pt x="1055" y="2007"/>
                  <a:pt x="1056" y="2007"/>
                </a:cubicBezTo>
                <a:cubicBezTo>
                  <a:pt x="1056" y="2008"/>
                  <a:pt x="1057" y="2008"/>
                  <a:pt x="1058" y="2009"/>
                </a:cubicBezTo>
                <a:cubicBezTo>
                  <a:pt x="1059" y="2010"/>
                  <a:pt x="1061" y="2011"/>
                  <a:pt x="1061" y="2013"/>
                </a:cubicBezTo>
                <a:cubicBezTo>
                  <a:pt x="1063" y="2015"/>
                  <a:pt x="1064" y="2017"/>
                  <a:pt x="1064" y="2020"/>
                </a:cubicBezTo>
                <a:cubicBezTo>
                  <a:pt x="1064" y="2022"/>
                  <a:pt x="1064" y="2022"/>
                  <a:pt x="1064" y="2022"/>
                </a:cubicBezTo>
                <a:cubicBezTo>
                  <a:pt x="1064" y="2022"/>
                  <a:pt x="1064" y="2022"/>
                  <a:pt x="1064" y="2022"/>
                </a:cubicBezTo>
                <a:cubicBezTo>
                  <a:pt x="1064" y="2031"/>
                  <a:pt x="1064" y="2040"/>
                  <a:pt x="1064" y="2049"/>
                </a:cubicBezTo>
                <a:cubicBezTo>
                  <a:pt x="1064" y="2051"/>
                  <a:pt x="1064" y="2054"/>
                  <a:pt x="1064" y="2056"/>
                </a:cubicBezTo>
                <a:close/>
                <a:moveTo>
                  <a:pt x="1114" y="1878"/>
                </a:moveTo>
                <a:cubicBezTo>
                  <a:pt x="1114" y="1878"/>
                  <a:pt x="1114" y="1877"/>
                  <a:pt x="1113" y="1877"/>
                </a:cubicBezTo>
                <a:cubicBezTo>
                  <a:pt x="1113" y="1877"/>
                  <a:pt x="1113" y="1877"/>
                  <a:pt x="1113" y="1877"/>
                </a:cubicBezTo>
                <a:cubicBezTo>
                  <a:pt x="1112" y="1875"/>
                  <a:pt x="1111" y="1873"/>
                  <a:pt x="1111" y="1871"/>
                </a:cubicBezTo>
                <a:cubicBezTo>
                  <a:pt x="1111" y="1870"/>
                  <a:pt x="1111" y="1870"/>
                  <a:pt x="1111" y="1870"/>
                </a:cubicBezTo>
                <a:cubicBezTo>
                  <a:pt x="1110" y="1868"/>
                  <a:pt x="1110" y="1867"/>
                  <a:pt x="1110" y="1866"/>
                </a:cubicBezTo>
                <a:cubicBezTo>
                  <a:pt x="1110" y="1866"/>
                  <a:pt x="1110" y="1866"/>
                  <a:pt x="1110" y="1866"/>
                </a:cubicBezTo>
                <a:cubicBezTo>
                  <a:pt x="1110" y="1861"/>
                  <a:pt x="1109" y="1855"/>
                  <a:pt x="1109" y="1849"/>
                </a:cubicBezTo>
                <a:cubicBezTo>
                  <a:pt x="1109" y="1848"/>
                  <a:pt x="1109" y="1848"/>
                  <a:pt x="1109" y="1848"/>
                </a:cubicBezTo>
                <a:cubicBezTo>
                  <a:pt x="1109" y="1846"/>
                  <a:pt x="1109" y="1844"/>
                  <a:pt x="1110" y="1843"/>
                </a:cubicBezTo>
                <a:cubicBezTo>
                  <a:pt x="1112" y="1841"/>
                  <a:pt x="1113" y="1840"/>
                  <a:pt x="1115" y="1839"/>
                </a:cubicBezTo>
                <a:cubicBezTo>
                  <a:pt x="1118" y="1838"/>
                  <a:pt x="1120" y="1837"/>
                  <a:pt x="1123" y="1836"/>
                </a:cubicBezTo>
                <a:cubicBezTo>
                  <a:pt x="1123" y="1836"/>
                  <a:pt x="1123" y="1836"/>
                  <a:pt x="1123" y="1836"/>
                </a:cubicBezTo>
                <a:cubicBezTo>
                  <a:pt x="1123" y="1836"/>
                  <a:pt x="1123" y="1836"/>
                  <a:pt x="1123" y="1836"/>
                </a:cubicBezTo>
                <a:cubicBezTo>
                  <a:pt x="1124" y="1836"/>
                  <a:pt x="1125" y="1836"/>
                  <a:pt x="1126" y="1836"/>
                </a:cubicBezTo>
                <a:cubicBezTo>
                  <a:pt x="1127" y="1836"/>
                  <a:pt x="1127" y="1836"/>
                  <a:pt x="1128" y="1836"/>
                </a:cubicBezTo>
                <a:cubicBezTo>
                  <a:pt x="1133" y="1835"/>
                  <a:pt x="1138" y="1835"/>
                  <a:pt x="1143" y="1835"/>
                </a:cubicBezTo>
                <a:cubicBezTo>
                  <a:pt x="1176" y="1835"/>
                  <a:pt x="1176" y="1835"/>
                  <a:pt x="1176" y="1835"/>
                </a:cubicBezTo>
                <a:cubicBezTo>
                  <a:pt x="1178" y="1835"/>
                  <a:pt x="1180" y="1835"/>
                  <a:pt x="1182" y="1836"/>
                </a:cubicBezTo>
                <a:cubicBezTo>
                  <a:pt x="1191" y="1837"/>
                  <a:pt x="1201" y="1839"/>
                  <a:pt x="1203" y="1848"/>
                </a:cubicBezTo>
                <a:cubicBezTo>
                  <a:pt x="1205" y="1855"/>
                  <a:pt x="1206" y="1863"/>
                  <a:pt x="1207" y="1870"/>
                </a:cubicBezTo>
                <a:cubicBezTo>
                  <a:pt x="1207" y="1871"/>
                  <a:pt x="1207" y="1871"/>
                  <a:pt x="1207" y="1871"/>
                </a:cubicBezTo>
                <a:cubicBezTo>
                  <a:pt x="1208" y="1873"/>
                  <a:pt x="1207" y="1874"/>
                  <a:pt x="1207" y="1876"/>
                </a:cubicBezTo>
                <a:cubicBezTo>
                  <a:pt x="1207" y="1876"/>
                  <a:pt x="1207" y="1876"/>
                  <a:pt x="1206" y="1876"/>
                </a:cubicBezTo>
                <a:cubicBezTo>
                  <a:pt x="1206" y="1876"/>
                  <a:pt x="1206" y="1876"/>
                  <a:pt x="1206" y="1876"/>
                </a:cubicBezTo>
                <a:cubicBezTo>
                  <a:pt x="1206" y="1877"/>
                  <a:pt x="1206" y="1877"/>
                  <a:pt x="1206" y="1877"/>
                </a:cubicBezTo>
                <a:cubicBezTo>
                  <a:pt x="1204" y="1880"/>
                  <a:pt x="1200" y="1882"/>
                  <a:pt x="1195" y="1883"/>
                </a:cubicBezTo>
                <a:cubicBezTo>
                  <a:pt x="1195" y="1883"/>
                  <a:pt x="1195" y="1884"/>
                  <a:pt x="1194" y="1884"/>
                </a:cubicBezTo>
                <a:cubicBezTo>
                  <a:pt x="1194" y="1884"/>
                  <a:pt x="1193" y="1884"/>
                  <a:pt x="1193" y="1884"/>
                </a:cubicBezTo>
                <a:cubicBezTo>
                  <a:pt x="1192" y="1884"/>
                  <a:pt x="1192" y="1884"/>
                  <a:pt x="1192" y="1884"/>
                </a:cubicBezTo>
                <a:cubicBezTo>
                  <a:pt x="1191" y="1884"/>
                  <a:pt x="1190" y="1884"/>
                  <a:pt x="1189" y="1885"/>
                </a:cubicBezTo>
                <a:cubicBezTo>
                  <a:pt x="1178" y="1886"/>
                  <a:pt x="1164" y="1885"/>
                  <a:pt x="1158" y="1885"/>
                </a:cubicBezTo>
                <a:cubicBezTo>
                  <a:pt x="1137" y="1885"/>
                  <a:pt x="1137" y="1885"/>
                  <a:pt x="1137" y="1885"/>
                </a:cubicBezTo>
                <a:cubicBezTo>
                  <a:pt x="1135" y="1885"/>
                  <a:pt x="1134" y="1885"/>
                  <a:pt x="1132" y="1885"/>
                </a:cubicBezTo>
                <a:cubicBezTo>
                  <a:pt x="1131" y="1884"/>
                  <a:pt x="1130" y="1884"/>
                  <a:pt x="1128" y="1884"/>
                </a:cubicBezTo>
                <a:cubicBezTo>
                  <a:pt x="1128" y="1884"/>
                  <a:pt x="1128" y="1884"/>
                  <a:pt x="1127" y="1884"/>
                </a:cubicBezTo>
                <a:cubicBezTo>
                  <a:pt x="1127" y="1884"/>
                  <a:pt x="1127" y="1884"/>
                  <a:pt x="1127" y="1884"/>
                </a:cubicBezTo>
                <a:cubicBezTo>
                  <a:pt x="1126" y="1883"/>
                  <a:pt x="1125" y="1883"/>
                  <a:pt x="1123" y="1883"/>
                </a:cubicBezTo>
                <a:cubicBezTo>
                  <a:pt x="1123" y="1883"/>
                  <a:pt x="1122" y="1882"/>
                  <a:pt x="1122" y="1882"/>
                </a:cubicBezTo>
                <a:cubicBezTo>
                  <a:pt x="1121" y="1882"/>
                  <a:pt x="1120" y="1881"/>
                  <a:pt x="1119" y="1881"/>
                </a:cubicBezTo>
                <a:cubicBezTo>
                  <a:pt x="1117" y="1880"/>
                  <a:pt x="1116" y="1879"/>
                  <a:pt x="1115" y="1878"/>
                </a:cubicBezTo>
                <a:cubicBezTo>
                  <a:pt x="1115" y="1878"/>
                  <a:pt x="1114" y="1878"/>
                  <a:pt x="1114" y="1878"/>
                </a:cubicBezTo>
                <a:close/>
                <a:moveTo>
                  <a:pt x="1120" y="1961"/>
                </a:moveTo>
                <a:cubicBezTo>
                  <a:pt x="1118" y="1959"/>
                  <a:pt x="1117" y="1957"/>
                  <a:pt x="1117" y="1955"/>
                </a:cubicBezTo>
                <a:cubicBezTo>
                  <a:pt x="1117" y="1952"/>
                  <a:pt x="1117" y="1952"/>
                  <a:pt x="1117" y="1952"/>
                </a:cubicBezTo>
                <a:cubicBezTo>
                  <a:pt x="1117" y="1952"/>
                  <a:pt x="1117" y="1952"/>
                  <a:pt x="1117" y="1952"/>
                </a:cubicBezTo>
                <a:cubicBezTo>
                  <a:pt x="1116" y="1943"/>
                  <a:pt x="1116" y="1935"/>
                  <a:pt x="1115" y="1926"/>
                </a:cubicBezTo>
                <a:cubicBezTo>
                  <a:pt x="1115" y="1926"/>
                  <a:pt x="1115" y="1926"/>
                  <a:pt x="1115" y="1926"/>
                </a:cubicBezTo>
                <a:cubicBezTo>
                  <a:pt x="1115" y="1926"/>
                  <a:pt x="1115" y="1926"/>
                  <a:pt x="1115" y="1926"/>
                </a:cubicBezTo>
                <a:cubicBezTo>
                  <a:pt x="1115" y="1925"/>
                  <a:pt x="1115" y="1925"/>
                  <a:pt x="1115" y="1924"/>
                </a:cubicBezTo>
                <a:cubicBezTo>
                  <a:pt x="1117" y="1906"/>
                  <a:pt x="1155" y="1911"/>
                  <a:pt x="1167" y="1911"/>
                </a:cubicBezTo>
                <a:cubicBezTo>
                  <a:pt x="1181" y="1911"/>
                  <a:pt x="1208" y="1907"/>
                  <a:pt x="1216" y="1921"/>
                </a:cubicBezTo>
                <a:cubicBezTo>
                  <a:pt x="1217" y="1923"/>
                  <a:pt x="1218" y="1924"/>
                  <a:pt x="1218" y="1925"/>
                </a:cubicBezTo>
                <a:cubicBezTo>
                  <a:pt x="1219" y="1927"/>
                  <a:pt x="1219" y="1927"/>
                  <a:pt x="1219" y="1927"/>
                </a:cubicBezTo>
                <a:cubicBezTo>
                  <a:pt x="1219" y="1927"/>
                  <a:pt x="1219" y="1927"/>
                  <a:pt x="1219" y="1927"/>
                </a:cubicBezTo>
                <a:cubicBezTo>
                  <a:pt x="1219" y="1931"/>
                  <a:pt x="1220" y="1936"/>
                  <a:pt x="1221" y="1940"/>
                </a:cubicBezTo>
                <a:cubicBezTo>
                  <a:pt x="1224" y="1955"/>
                  <a:pt x="1224" y="1955"/>
                  <a:pt x="1224" y="1955"/>
                </a:cubicBezTo>
                <a:cubicBezTo>
                  <a:pt x="1225" y="1957"/>
                  <a:pt x="1224" y="1959"/>
                  <a:pt x="1223" y="1961"/>
                </a:cubicBezTo>
                <a:cubicBezTo>
                  <a:pt x="1223" y="1962"/>
                  <a:pt x="1222" y="1963"/>
                  <a:pt x="1220" y="1964"/>
                </a:cubicBezTo>
                <a:cubicBezTo>
                  <a:pt x="1220" y="1965"/>
                  <a:pt x="1219" y="1965"/>
                  <a:pt x="1219" y="1966"/>
                </a:cubicBezTo>
                <a:cubicBezTo>
                  <a:pt x="1219" y="1966"/>
                  <a:pt x="1218" y="1966"/>
                  <a:pt x="1218" y="1966"/>
                </a:cubicBezTo>
                <a:cubicBezTo>
                  <a:pt x="1218" y="1966"/>
                  <a:pt x="1218" y="1966"/>
                  <a:pt x="1218" y="1967"/>
                </a:cubicBezTo>
                <a:cubicBezTo>
                  <a:pt x="1217" y="1967"/>
                  <a:pt x="1216" y="1967"/>
                  <a:pt x="1215" y="1968"/>
                </a:cubicBezTo>
                <a:cubicBezTo>
                  <a:pt x="1215" y="1968"/>
                  <a:pt x="1214" y="1968"/>
                  <a:pt x="1213" y="1969"/>
                </a:cubicBezTo>
                <a:cubicBezTo>
                  <a:pt x="1213" y="1969"/>
                  <a:pt x="1212" y="1969"/>
                  <a:pt x="1212" y="1969"/>
                </a:cubicBezTo>
                <a:cubicBezTo>
                  <a:pt x="1211" y="1969"/>
                  <a:pt x="1211" y="1970"/>
                  <a:pt x="1210" y="1970"/>
                </a:cubicBezTo>
                <a:cubicBezTo>
                  <a:pt x="1209" y="1970"/>
                  <a:pt x="1209" y="1970"/>
                  <a:pt x="1208" y="1970"/>
                </a:cubicBezTo>
                <a:cubicBezTo>
                  <a:pt x="1208" y="1970"/>
                  <a:pt x="1207" y="1970"/>
                  <a:pt x="1207" y="1970"/>
                </a:cubicBezTo>
                <a:cubicBezTo>
                  <a:pt x="1206" y="1971"/>
                  <a:pt x="1205" y="1971"/>
                  <a:pt x="1204" y="1971"/>
                </a:cubicBezTo>
                <a:cubicBezTo>
                  <a:pt x="1202" y="1971"/>
                  <a:pt x="1201" y="1971"/>
                  <a:pt x="1199" y="1971"/>
                </a:cubicBezTo>
                <a:cubicBezTo>
                  <a:pt x="1199" y="1971"/>
                  <a:pt x="1199" y="1971"/>
                  <a:pt x="1199" y="1971"/>
                </a:cubicBezTo>
                <a:cubicBezTo>
                  <a:pt x="1199" y="1971"/>
                  <a:pt x="1199" y="1971"/>
                  <a:pt x="1199" y="1971"/>
                </a:cubicBezTo>
                <a:cubicBezTo>
                  <a:pt x="1181" y="1971"/>
                  <a:pt x="1164" y="1971"/>
                  <a:pt x="1147" y="1971"/>
                </a:cubicBezTo>
                <a:cubicBezTo>
                  <a:pt x="1145" y="1971"/>
                  <a:pt x="1143" y="1971"/>
                  <a:pt x="1141" y="1971"/>
                </a:cubicBezTo>
                <a:cubicBezTo>
                  <a:pt x="1141" y="1971"/>
                  <a:pt x="1140" y="1971"/>
                  <a:pt x="1140" y="1971"/>
                </a:cubicBezTo>
                <a:cubicBezTo>
                  <a:pt x="1139" y="1971"/>
                  <a:pt x="1137" y="1970"/>
                  <a:pt x="1136" y="1970"/>
                </a:cubicBezTo>
                <a:cubicBezTo>
                  <a:pt x="1136" y="1970"/>
                  <a:pt x="1136" y="1970"/>
                  <a:pt x="1136" y="1970"/>
                </a:cubicBezTo>
                <a:cubicBezTo>
                  <a:pt x="1135" y="1970"/>
                  <a:pt x="1135" y="1970"/>
                  <a:pt x="1135" y="1970"/>
                </a:cubicBezTo>
                <a:cubicBezTo>
                  <a:pt x="1134" y="1969"/>
                  <a:pt x="1132" y="1969"/>
                  <a:pt x="1131" y="1969"/>
                </a:cubicBezTo>
                <a:cubicBezTo>
                  <a:pt x="1130" y="1968"/>
                  <a:pt x="1130" y="1968"/>
                  <a:pt x="1129" y="1968"/>
                </a:cubicBezTo>
                <a:cubicBezTo>
                  <a:pt x="1128" y="1967"/>
                  <a:pt x="1128" y="1967"/>
                  <a:pt x="1127" y="1967"/>
                </a:cubicBezTo>
                <a:cubicBezTo>
                  <a:pt x="1127" y="1967"/>
                  <a:pt x="1126" y="1967"/>
                  <a:pt x="1126" y="1966"/>
                </a:cubicBezTo>
                <a:cubicBezTo>
                  <a:pt x="1124" y="1965"/>
                  <a:pt x="1121" y="1963"/>
                  <a:pt x="1120" y="1961"/>
                </a:cubicBezTo>
                <a:close/>
                <a:moveTo>
                  <a:pt x="1244" y="2063"/>
                </a:moveTo>
                <a:cubicBezTo>
                  <a:pt x="1243" y="2066"/>
                  <a:pt x="1241" y="2068"/>
                  <a:pt x="1238" y="2070"/>
                </a:cubicBezTo>
                <a:cubicBezTo>
                  <a:pt x="1236" y="2072"/>
                  <a:pt x="1233" y="2074"/>
                  <a:pt x="1229" y="2075"/>
                </a:cubicBezTo>
                <a:cubicBezTo>
                  <a:pt x="1225" y="2076"/>
                  <a:pt x="1221" y="2076"/>
                  <a:pt x="1217" y="2076"/>
                </a:cubicBezTo>
                <a:cubicBezTo>
                  <a:pt x="1205" y="2076"/>
                  <a:pt x="1205" y="2076"/>
                  <a:pt x="1205" y="2076"/>
                </a:cubicBezTo>
                <a:cubicBezTo>
                  <a:pt x="1205" y="2076"/>
                  <a:pt x="1205" y="2076"/>
                  <a:pt x="1205" y="2076"/>
                </a:cubicBezTo>
                <a:cubicBezTo>
                  <a:pt x="1189" y="2076"/>
                  <a:pt x="1174" y="2076"/>
                  <a:pt x="1158" y="2077"/>
                </a:cubicBezTo>
                <a:cubicBezTo>
                  <a:pt x="1156" y="2077"/>
                  <a:pt x="1154" y="2076"/>
                  <a:pt x="1152" y="2076"/>
                </a:cubicBezTo>
                <a:cubicBezTo>
                  <a:pt x="1152" y="2076"/>
                  <a:pt x="1151" y="2076"/>
                  <a:pt x="1151" y="2076"/>
                </a:cubicBezTo>
                <a:cubicBezTo>
                  <a:pt x="1149" y="2076"/>
                  <a:pt x="1148" y="2075"/>
                  <a:pt x="1146" y="2075"/>
                </a:cubicBezTo>
                <a:cubicBezTo>
                  <a:pt x="1146" y="2075"/>
                  <a:pt x="1146" y="2075"/>
                  <a:pt x="1146" y="2075"/>
                </a:cubicBezTo>
                <a:cubicBezTo>
                  <a:pt x="1145" y="2075"/>
                  <a:pt x="1145" y="2075"/>
                  <a:pt x="1145" y="2075"/>
                </a:cubicBezTo>
                <a:cubicBezTo>
                  <a:pt x="1138" y="2073"/>
                  <a:pt x="1132" y="2069"/>
                  <a:pt x="1128" y="2064"/>
                </a:cubicBezTo>
                <a:cubicBezTo>
                  <a:pt x="1128" y="2064"/>
                  <a:pt x="1128" y="2064"/>
                  <a:pt x="1128" y="2064"/>
                </a:cubicBezTo>
                <a:cubicBezTo>
                  <a:pt x="1128" y="2064"/>
                  <a:pt x="1128" y="2064"/>
                  <a:pt x="1128" y="2064"/>
                </a:cubicBezTo>
                <a:cubicBezTo>
                  <a:pt x="1127" y="2063"/>
                  <a:pt x="1126" y="2062"/>
                  <a:pt x="1126" y="2060"/>
                </a:cubicBezTo>
                <a:cubicBezTo>
                  <a:pt x="1126" y="2060"/>
                  <a:pt x="1126" y="2059"/>
                  <a:pt x="1125" y="2059"/>
                </a:cubicBezTo>
                <a:cubicBezTo>
                  <a:pt x="1125" y="2058"/>
                  <a:pt x="1125" y="2057"/>
                  <a:pt x="1125" y="2057"/>
                </a:cubicBezTo>
                <a:cubicBezTo>
                  <a:pt x="1125" y="2056"/>
                  <a:pt x="1125" y="2056"/>
                  <a:pt x="1125" y="2056"/>
                </a:cubicBezTo>
                <a:cubicBezTo>
                  <a:pt x="1125" y="2055"/>
                  <a:pt x="1125" y="2055"/>
                  <a:pt x="1125" y="2055"/>
                </a:cubicBezTo>
                <a:cubicBezTo>
                  <a:pt x="1125" y="2055"/>
                  <a:pt x="1125" y="2055"/>
                  <a:pt x="1125" y="2055"/>
                </a:cubicBezTo>
                <a:cubicBezTo>
                  <a:pt x="1124" y="2046"/>
                  <a:pt x="1123" y="2037"/>
                  <a:pt x="1123" y="2029"/>
                </a:cubicBezTo>
                <a:cubicBezTo>
                  <a:pt x="1123" y="2027"/>
                  <a:pt x="1122" y="2026"/>
                  <a:pt x="1122" y="2024"/>
                </a:cubicBezTo>
                <a:cubicBezTo>
                  <a:pt x="1122" y="2020"/>
                  <a:pt x="1122" y="2020"/>
                  <a:pt x="1122" y="2020"/>
                </a:cubicBezTo>
                <a:cubicBezTo>
                  <a:pt x="1122" y="2019"/>
                  <a:pt x="1122" y="2019"/>
                  <a:pt x="1122" y="2019"/>
                </a:cubicBezTo>
                <a:cubicBezTo>
                  <a:pt x="1122" y="2018"/>
                  <a:pt x="1122" y="2017"/>
                  <a:pt x="1122" y="2016"/>
                </a:cubicBezTo>
                <a:cubicBezTo>
                  <a:pt x="1122" y="2016"/>
                  <a:pt x="1123" y="2016"/>
                  <a:pt x="1123" y="2015"/>
                </a:cubicBezTo>
                <a:cubicBezTo>
                  <a:pt x="1123" y="2014"/>
                  <a:pt x="1123" y="2014"/>
                  <a:pt x="1123" y="2013"/>
                </a:cubicBezTo>
                <a:cubicBezTo>
                  <a:pt x="1124" y="2013"/>
                  <a:pt x="1124" y="2013"/>
                  <a:pt x="1124" y="2012"/>
                </a:cubicBezTo>
                <a:cubicBezTo>
                  <a:pt x="1124" y="2012"/>
                  <a:pt x="1124" y="2012"/>
                  <a:pt x="1124" y="2012"/>
                </a:cubicBezTo>
                <a:cubicBezTo>
                  <a:pt x="1125" y="2011"/>
                  <a:pt x="1125" y="2010"/>
                  <a:pt x="1126" y="2010"/>
                </a:cubicBezTo>
                <a:cubicBezTo>
                  <a:pt x="1126" y="2009"/>
                  <a:pt x="1127" y="2009"/>
                  <a:pt x="1127" y="2009"/>
                </a:cubicBezTo>
                <a:cubicBezTo>
                  <a:pt x="1128" y="2008"/>
                  <a:pt x="1128" y="2008"/>
                  <a:pt x="1129" y="2007"/>
                </a:cubicBezTo>
                <a:cubicBezTo>
                  <a:pt x="1129" y="2007"/>
                  <a:pt x="1129" y="2007"/>
                  <a:pt x="1130" y="2006"/>
                </a:cubicBezTo>
                <a:cubicBezTo>
                  <a:pt x="1130" y="2006"/>
                  <a:pt x="1130" y="2006"/>
                  <a:pt x="1130" y="2006"/>
                </a:cubicBezTo>
                <a:cubicBezTo>
                  <a:pt x="1131" y="2006"/>
                  <a:pt x="1132" y="2005"/>
                  <a:pt x="1133" y="2004"/>
                </a:cubicBezTo>
                <a:cubicBezTo>
                  <a:pt x="1134" y="2004"/>
                  <a:pt x="1134" y="2004"/>
                  <a:pt x="1134" y="2004"/>
                </a:cubicBezTo>
                <a:cubicBezTo>
                  <a:pt x="1134" y="2004"/>
                  <a:pt x="1135" y="2004"/>
                  <a:pt x="1135" y="2004"/>
                </a:cubicBezTo>
                <a:cubicBezTo>
                  <a:pt x="1135" y="2004"/>
                  <a:pt x="1135" y="2004"/>
                  <a:pt x="1136" y="2004"/>
                </a:cubicBezTo>
                <a:cubicBezTo>
                  <a:pt x="1137" y="2003"/>
                  <a:pt x="1138" y="2003"/>
                  <a:pt x="1139" y="2003"/>
                </a:cubicBezTo>
                <a:cubicBezTo>
                  <a:pt x="1139" y="2002"/>
                  <a:pt x="1140" y="2002"/>
                  <a:pt x="1140" y="2002"/>
                </a:cubicBezTo>
                <a:cubicBezTo>
                  <a:pt x="1141" y="2002"/>
                  <a:pt x="1141" y="2002"/>
                  <a:pt x="1142" y="2002"/>
                </a:cubicBezTo>
                <a:cubicBezTo>
                  <a:pt x="1143" y="2002"/>
                  <a:pt x="1145" y="2001"/>
                  <a:pt x="1147" y="2001"/>
                </a:cubicBezTo>
                <a:cubicBezTo>
                  <a:pt x="1147" y="2001"/>
                  <a:pt x="1148" y="2001"/>
                  <a:pt x="1148" y="2001"/>
                </a:cubicBezTo>
                <a:cubicBezTo>
                  <a:pt x="1149" y="2001"/>
                  <a:pt x="1149" y="2001"/>
                  <a:pt x="1150" y="2001"/>
                </a:cubicBezTo>
                <a:cubicBezTo>
                  <a:pt x="1153" y="2001"/>
                  <a:pt x="1153" y="2001"/>
                  <a:pt x="1153" y="2001"/>
                </a:cubicBezTo>
                <a:cubicBezTo>
                  <a:pt x="1155" y="2001"/>
                  <a:pt x="1158" y="2001"/>
                  <a:pt x="1160" y="2001"/>
                </a:cubicBezTo>
                <a:cubicBezTo>
                  <a:pt x="1163" y="2001"/>
                  <a:pt x="1165" y="2001"/>
                  <a:pt x="1168" y="2001"/>
                </a:cubicBezTo>
                <a:cubicBezTo>
                  <a:pt x="1191" y="2001"/>
                  <a:pt x="1191" y="2001"/>
                  <a:pt x="1191" y="2001"/>
                </a:cubicBezTo>
                <a:cubicBezTo>
                  <a:pt x="1197" y="2001"/>
                  <a:pt x="1203" y="2001"/>
                  <a:pt x="1209" y="2001"/>
                </a:cubicBezTo>
                <a:cubicBezTo>
                  <a:pt x="1210" y="2001"/>
                  <a:pt x="1211" y="2001"/>
                  <a:pt x="1212" y="2002"/>
                </a:cubicBezTo>
                <a:cubicBezTo>
                  <a:pt x="1212" y="2002"/>
                  <a:pt x="1213" y="2002"/>
                  <a:pt x="1214" y="2002"/>
                </a:cubicBezTo>
                <a:cubicBezTo>
                  <a:pt x="1214" y="2002"/>
                  <a:pt x="1214" y="2002"/>
                  <a:pt x="1215" y="2002"/>
                </a:cubicBezTo>
                <a:cubicBezTo>
                  <a:pt x="1215" y="2002"/>
                  <a:pt x="1216" y="2002"/>
                  <a:pt x="1216" y="2002"/>
                </a:cubicBezTo>
                <a:cubicBezTo>
                  <a:pt x="1216" y="2002"/>
                  <a:pt x="1216" y="2003"/>
                  <a:pt x="1217" y="2003"/>
                </a:cubicBezTo>
                <a:cubicBezTo>
                  <a:pt x="1218" y="2003"/>
                  <a:pt x="1219" y="2003"/>
                  <a:pt x="1220" y="2004"/>
                </a:cubicBezTo>
                <a:cubicBezTo>
                  <a:pt x="1221" y="2004"/>
                  <a:pt x="1221" y="2004"/>
                  <a:pt x="1222" y="2004"/>
                </a:cubicBezTo>
                <a:cubicBezTo>
                  <a:pt x="1222" y="2005"/>
                  <a:pt x="1223" y="2005"/>
                  <a:pt x="1223" y="2005"/>
                </a:cubicBezTo>
                <a:cubicBezTo>
                  <a:pt x="1224" y="2005"/>
                  <a:pt x="1225" y="2006"/>
                  <a:pt x="1226" y="2006"/>
                </a:cubicBezTo>
                <a:cubicBezTo>
                  <a:pt x="1229" y="2008"/>
                  <a:pt x="1231" y="2010"/>
                  <a:pt x="1233" y="2012"/>
                </a:cubicBezTo>
                <a:cubicBezTo>
                  <a:pt x="1235" y="2014"/>
                  <a:pt x="1237" y="2017"/>
                  <a:pt x="1237" y="2019"/>
                </a:cubicBezTo>
                <a:cubicBezTo>
                  <a:pt x="1240" y="2034"/>
                  <a:pt x="1240" y="2034"/>
                  <a:pt x="1240" y="2034"/>
                </a:cubicBezTo>
                <a:cubicBezTo>
                  <a:pt x="1241" y="2040"/>
                  <a:pt x="1243" y="2046"/>
                  <a:pt x="1244" y="2052"/>
                </a:cubicBezTo>
                <a:cubicBezTo>
                  <a:pt x="1244" y="2052"/>
                  <a:pt x="1244" y="2052"/>
                  <a:pt x="1244" y="2052"/>
                </a:cubicBezTo>
                <a:cubicBezTo>
                  <a:pt x="1244" y="2055"/>
                  <a:pt x="1244" y="2055"/>
                  <a:pt x="1244" y="2055"/>
                </a:cubicBezTo>
                <a:cubicBezTo>
                  <a:pt x="1245" y="2058"/>
                  <a:pt x="1245" y="2061"/>
                  <a:pt x="1244" y="2063"/>
                </a:cubicBezTo>
                <a:close/>
                <a:moveTo>
                  <a:pt x="1349" y="1880"/>
                </a:moveTo>
                <a:cubicBezTo>
                  <a:pt x="1346" y="1879"/>
                  <a:pt x="1344" y="1878"/>
                  <a:pt x="1342" y="1876"/>
                </a:cubicBezTo>
                <a:cubicBezTo>
                  <a:pt x="1340" y="1875"/>
                  <a:pt x="1338" y="1873"/>
                  <a:pt x="1338" y="1871"/>
                </a:cubicBezTo>
                <a:cubicBezTo>
                  <a:pt x="1337" y="1868"/>
                  <a:pt x="1337" y="1868"/>
                  <a:pt x="1337" y="1868"/>
                </a:cubicBezTo>
                <a:cubicBezTo>
                  <a:pt x="1335" y="1863"/>
                  <a:pt x="1333" y="1859"/>
                  <a:pt x="1332" y="1854"/>
                </a:cubicBezTo>
                <a:cubicBezTo>
                  <a:pt x="1331" y="1852"/>
                  <a:pt x="1329" y="1848"/>
                  <a:pt x="1329" y="1845"/>
                </a:cubicBezTo>
                <a:cubicBezTo>
                  <a:pt x="1329" y="1845"/>
                  <a:pt x="1329" y="1845"/>
                  <a:pt x="1329" y="1844"/>
                </a:cubicBezTo>
                <a:cubicBezTo>
                  <a:pt x="1329" y="1844"/>
                  <a:pt x="1329" y="1844"/>
                  <a:pt x="1329" y="1844"/>
                </a:cubicBezTo>
                <a:cubicBezTo>
                  <a:pt x="1329" y="1844"/>
                  <a:pt x="1329" y="1843"/>
                  <a:pt x="1329" y="1843"/>
                </a:cubicBezTo>
                <a:cubicBezTo>
                  <a:pt x="1329" y="1843"/>
                  <a:pt x="1329" y="1843"/>
                  <a:pt x="1329" y="1842"/>
                </a:cubicBezTo>
                <a:cubicBezTo>
                  <a:pt x="1329" y="1842"/>
                  <a:pt x="1329" y="1842"/>
                  <a:pt x="1329" y="1842"/>
                </a:cubicBezTo>
                <a:cubicBezTo>
                  <a:pt x="1333" y="1834"/>
                  <a:pt x="1348" y="1835"/>
                  <a:pt x="1355" y="1835"/>
                </a:cubicBezTo>
                <a:cubicBezTo>
                  <a:pt x="1392" y="1835"/>
                  <a:pt x="1392" y="1835"/>
                  <a:pt x="1392" y="1835"/>
                </a:cubicBezTo>
                <a:cubicBezTo>
                  <a:pt x="1396" y="1835"/>
                  <a:pt x="1399" y="1835"/>
                  <a:pt x="1402" y="1836"/>
                </a:cubicBezTo>
                <a:cubicBezTo>
                  <a:pt x="1403" y="1836"/>
                  <a:pt x="1404" y="1836"/>
                  <a:pt x="1405" y="1836"/>
                </a:cubicBezTo>
                <a:cubicBezTo>
                  <a:pt x="1405" y="1836"/>
                  <a:pt x="1405" y="1837"/>
                  <a:pt x="1406" y="1837"/>
                </a:cubicBezTo>
                <a:cubicBezTo>
                  <a:pt x="1406" y="1837"/>
                  <a:pt x="1407" y="1837"/>
                  <a:pt x="1408" y="1837"/>
                </a:cubicBezTo>
                <a:cubicBezTo>
                  <a:pt x="1409" y="1837"/>
                  <a:pt x="1410" y="1838"/>
                  <a:pt x="1411" y="1838"/>
                </a:cubicBezTo>
                <a:cubicBezTo>
                  <a:pt x="1411" y="1838"/>
                  <a:pt x="1411" y="1838"/>
                  <a:pt x="1411" y="1838"/>
                </a:cubicBezTo>
                <a:cubicBezTo>
                  <a:pt x="1411" y="1838"/>
                  <a:pt x="1411" y="1838"/>
                  <a:pt x="1411" y="1838"/>
                </a:cubicBezTo>
                <a:cubicBezTo>
                  <a:pt x="1412" y="1839"/>
                  <a:pt x="1413" y="1839"/>
                  <a:pt x="1414" y="1840"/>
                </a:cubicBezTo>
                <a:cubicBezTo>
                  <a:pt x="1415" y="1840"/>
                  <a:pt x="1415" y="1840"/>
                  <a:pt x="1416" y="1841"/>
                </a:cubicBezTo>
                <a:cubicBezTo>
                  <a:pt x="1416" y="1841"/>
                  <a:pt x="1416" y="1841"/>
                  <a:pt x="1417" y="1841"/>
                </a:cubicBezTo>
                <a:cubicBezTo>
                  <a:pt x="1417" y="1841"/>
                  <a:pt x="1417" y="1841"/>
                  <a:pt x="1417" y="1842"/>
                </a:cubicBezTo>
                <a:cubicBezTo>
                  <a:pt x="1418" y="1842"/>
                  <a:pt x="1418" y="1842"/>
                  <a:pt x="1418" y="1842"/>
                </a:cubicBezTo>
                <a:cubicBezTo>
                  <a:pt x="1420" y="1844"/>
                  <a:pt x="1422" y="1845"/>
                  <a:pt x="1423" y="1847"/>
                </a:cubicBezTo>
                <a:cubicBezTo>
                  <a:pt x="1423" y="1847"/>
                  <a:pt x="1423" y="1847"/>
                  <a:pt x="1423" y="1847"/>
                </a:cubicBezTo>
                <a:cubicBezTo>
                  <a:pt x="1426" y="1852"/>
                  <a:pt x="1428" y="1859"/>
                  <a:pt x="1431" y="1864"/>
                </a:cubicBezTo>
                <a:cubicBezTo>
                  <a:pt x="1431" y="1864"/>
                  <a:pt x="1431" y="1864"/>
                  <a:pt x="1431" y="1864"/>
                </a:cubicBezTo>
                <a:cubicBezTo>
                  <a:pt x="1432" y="1867"/>
                  <a:pt x="1434" y="1870"/>
                  <a:pt x="1435" y="1873"/>
                </a:cubicBezTo>
                <a:cubicBezTo>
                  <a:pt x="1435" y="1873"/>
                  <a:pt x="1435" y="1873"/>
                  <a:pt x="1435" y="1873"/>
                </a:cubicBezTo>
                <a:cubicBezTo>
                  <a:pt x="1435" y="1873"/>
                  <a:pt x="1435" y="1873"/>
                  <a:pt x="1435" y="1874"/>
                </a:cubicBezTo>
                <a:cubicBezTo>
                  <a:pt x="1436" y="1879"/>
                  <a:pt x="1431" y="1882"/>
                  <a:pt x="1425" y="1883"/>
                </a:cubicBezTo>
                <a:cubicBezTo>
                  <a:pt x="1425" y="1883"/>
                  <a:pt x="1425" y="1883"/>
                  <a:pt x="1425" y="1883"/>
                </a:cubicBezTo>
                <a:cubicBezTo>
                  <a:pt x="1425" y="1883"/>
                  <a:pt x="1424" y="1883"/>
                  <a:pt x="1424" y="1883"/>
                </a:cubicBezTo>
                <a:cubicBezTo>
                  <a:pt x="1423" y="1884"/>
                  <a:pt x="1422" y="1884"/>
                  <a:pt x="1421" y="1884"/>
                </a:cubicBezTo>
                <a:cubicBezTo>
                  <a:pt x="1421" y="1884"/>
                  <a:pt x="1420" y="1884"/>
                  <a:pt x="1420" y="1884"/>
                </a:cubicBezTo>
                <a:cubicBezTo>
                  <a:pt x="1419" y="1884"/>
                  <a:pt x="1418" y="1884"/>
                  <a:pt x="1417" y="1884"/>
                </a:cubicBezTo>
                <a:cubicBezTo>
                  <a:pt x="1417" y="1884"/>
                  <a:pt x="1416" y="1884"/>
                  <a:pt x="1416" y="1884"/>
                </a:cubicBezTo>
                <a:cubicBezTo>
                  <a:pt x="1416" y="1884"/>
                  <a:pt x="1416" y="1884"/>
                  <a:pt x="1415" y="1884"/>
                </a:cubicBezTo>
                <a:cubicBezTo>
                  <a:pt x="1414" y="1884"/>
                  <a:pt x="1414" y="1884"/>
                  <a:pt x="1414" y="1884"/>
                </a:cubicBezTo>
                <a:cubicBezTo>
                  <a:pt x="1408" y="1884"/>
                  <a:pt x="1403" y="1884"/>
                  <a:pt x="1397" y="1884"/>
                </a:cubicBezTo>
                <a:cubicBezTo>
                  <a:pt x="1387" y="1884"/>
                  <a:pt x="1378" y="1884"/>
                  <a:pt x="1368" y="1884"/>
                </a:cubicBezTo>
                <a:cubicBezTo>
                  <a:pt x="1362" y="1884"/>
                  <a:pt x="1355" y="1883"/>
                  <a:pt x="1349" y="1880"/>
                </a:cubicBezTo>
                <a:cubicBezTo>
                  <a:pt x="1349" y="1880"/>
                  <a:pt x="1349" y="1880"/>
                  <a:pt x="1349" y="1880"/>
                </a:cubicBezTo>
                <a:close/>
                <a:moveTo>
                  <a:pt x="1373" y="1961"/>
                </a:moveTo>
                <a:cubicBezTo>
                  <a:pt x="1371" y="1959"/>
                  <a:pt x="1369" y="1956"/>
                  <a:pt x="1369" y="1954"/>
                </a:cubicBezTo>
                <a:cubicBezTo>
                  <a:pt x="1363" y="1940"/>
                  <a:pt x="1363" y="1940"/>
                  <a:pt x="1363" y="1940"/>
                </a:cubicBezTo>
                <a:cubicBezTo>
                  <a:pt x="1362" y="1935"/>
                  <a:pt x="1360" y="1931"/>
                  <a:pt x="1359" y="1927"/>
                </a:cubicBezTo>
                <a:cubicBezTo>
                  <a:pt x="1359" y="1927"/>
                  <a:pt x="1359" y="1927"/>
                  <a:pt x="1359" y="1927"/>
                </a:cubicBezTo>
                <a:cubicBezTo>
                  <a:pt x="1358" y="1925"/>
                  <a:pt x="1358" y="1925"/>
                  <a:pt x="1358" y="1925"/>
                </a:cubicBezTo>
                <a:cubicBezTo>
                  <a:pt x="1357" y="1923"/>
                  <a:pt x="1357" y="1921"/>
                  <a:pt x="1358" y="1919"/>
                </a:cubicBezTo>
                <a:cubicBezTo>
                  <a:pt x="1358" y="1918"/>
                  <a:pt x="1359" y="1917"/>
                  <a:pt x="1360" y="1916"/>
                </a:cubicBezTo>
                <a:cubicBezTo>
                  <a:pt x="1360" y="1916"/>
                  <a:pt x="1361" y="1916"/>
                  <a:pt x="1361" y="1915"/>
                </a:cubicBezTo>
                <a:cubicBezTo>
                  <a:pt x="1361" y="1915"/>
                  <a:pt x="1361" y="1915"/>
                  <a:pt x="1362" y="1915"/>
                </a:cubicBezTo>
                <a:cubicBezTo>
                  <a:pt x="1364" y="1913"/>
                  <a:pt x="1366" y="1912"/>
                  <a:pt x="1369" y="1911"/>
                </a:cubicBezTo>
                <a:cubicBezTo>
                  <a:pt x="1371" y="1911"/>
                  <a:pt x="1374" y="1910"/>
                  <a:pt x="1376" y="1910"/>
                </a:cubicBezTo>
                <a:cubicBezTo>
                  <a:pt x="1386" y="1909"/>
                  <a:pt x="1397" y="1910"/>
                  <a:pt x="1402" y="1910"/>
                </a:cubicBezTo>
                <a:cubicBezTo>
                  <a:pt x="1420" y="1910"/>
                  <a:pt x="1451" y="1906"/>
                  <a:pt x="1461" y="1925"/>
                </a:cubicBezTo>
                <a:cubicBezTo>
                  <a:pt x="1461" y="1925"/>
                  <a:pt x="1461" y="1925"/>
                  <a:pt x="1461" y="1925"/>
                </a:cubicBezTo>
                <a:cubicBezTo>
                  <a:pt x="1461" y="1925"/>
                  <a:pt x="1461" y="1925"/>
                  <a:pt x="1461" y="1925"/>
                </a:cubicBezTo>
                <a:cubicBezTo>
                  <a:pt x="1461" y="1925"/>
                  <a:pt x="1461" y="1925"/>
                  <a:pt x="1461" y="1925"/>
                </a:cubicBezTo>
                <a:cubicBezTo>
                  <a:pt x="1465" y="1933"/>
                  <a:pt x="1469" y="1940"/>
                  <a:pt x="1473" y="1948"/>
                </a:cubicBezTo>
                <a:cubicBezTo>
                  <a:pt x="1474" y="1951"/>
                  <a:pt x="1476" y="1953"/>
                  <a:pt x="1476" y="1956"/>
                </a:cubicBezTo>
                <a:cubicBezTo>
                  <a:pt x="1476" y="1956"/>
                  <a:pt x="1476" y="1956"/>
                  <a:pt x="1476" y="1957"/>
                </a:cubicBezTo>
                <a:cubicBezTo>
                  <a:pt x="1477" y="1957"/>
                  <a:pt x="1477" y="1958"/>
                  <a:pt x="1477" y="1958"/>
                </a:cubicBezTo>
                <a:cubicBezTo>
                  <a:pt x="1477" y="1959"/>
                  <a:pt x="1477" y="1959"/>
                  <a:pt x="1477" y="1960"/>
                </a:cubicBezTo>
                <a:cubicBezTo>
                  <a:pt x="1477" y="1960"/>
                  <a:pt x="1477" y="1960"/>
                  <a:pt x="1477" y="1960"/>
                </a:cubicBezTo>
                <a:cubicBezTo>
                  <a:pt x="1477" y="1960"/>
                  <a:pt x="1476" y="1961"/>
                  <a:pt x="1476" y="1961"/>
                </a:cubicBezTo>
                <a:cubicBezTo>
                  <a:pt x="1476" y="1962"/>
                  <a:pt x="1476" y="1962"/>
                  <a:pt x="1475" y="1963"/>
                </a:cubicBezTo>
                <a:cubicBezTo>
                  <a:pt x="1475" y="1963"/>
                  <a:pt x="1475" y="1963"/>
                  <a:pt x="1475" y="1963"/>
                </a:cubicBezTo>
                <a:cubicBezTo>
                  <a:pt x="1475" y="1964"/>
                  <a:pt x="1474" y="1965"/>
                  <a:pt x="1474" y="1965"/>
                </a:cubicBezTo>
                <a:cubicBezTo>
                  <a:pt x="1473" y="1965"/>
                  <a:pt x="1473" y="1965"/>
                  <a:pt x="1473" y="1966"/>
                </a:cubicBezTo>
                <a:cubicBezTo>
                  <a:pt x="1473" y="1966"/>
                  <a:pt x="1473" y="1966"/>
                  <a:pt x="1472" y="1966"/>
                </a:cubicBezTo>
                <a:cubicBezTo>
                  <a:pt x="1472" y="1966"/>
                  <a:pt x="1472" y="1967"/>
                  <a:pt x="1471" y="1967"/>
                </a:cubicBezTo>
                <a:cubicBezTo>
                  <a:pt x="1470" y="1968"/>
                  <a:pt x="1468" y="1969"/>
                  <a:pt x="1466" y="1969"/>
                </a:cubicBezTo>
                <a:cubicBezTo>
                  <a:pt x="1465" y="1969"/>
                  <a:pt x="1465" y="1969"/>
                  <a:pt x="1464" y="1970"/>
                </a:cubicBezTo>
                <a:cubicBezTo>
                  <a:pt x="1463" y="1970"/>
                  <a:pt x="1462" y="1970"/>
                  <a:pt x="1462" y="1970"/>
                </a:cubicBezTo>
                <a:cubicBezTo>
                  <a:pt x="1461" y="1970"/>
                  <a:pt x="1461" y="1970"/>
                  <a:pt x="1461" y="1970"/>
                </a:cubicBezTo>
                <a:cubicBezTo>
                  <a:pt x="1460" y="1970"/>
                  <a:pt x="1460" y="1970"/>
                  <a:pt x="1460" y="1970"/>
                </a:cubicBezTo>
                <a:cubicBezTo>
                  <a:pt x="1441" y="1972"/>
                  <a:pt x="1422" y="1971"/>
                  <a:pt x="1403" y="1971"/>
                </a:cubicBezTo>
                <a:cubicBezTo>
                  <a:pt x="1401" y="1971"/>
                  <a:pt x="1399" y="1971"/>
                  <a:pt x="1397" y="1970"/>
                </a:cubicBezTo>
                <a:cubicBezTo>
                  <a:pt x="1397" y="1970"/>
                  <a:pt x="1397" y="1970"/>
                  <a:pt x="1397" y="1970"/>
                </a:cubicBezTo>
                <a:cubicBezTo>
                  <a:pt x="1390" y="1970"/>
                  <a:pt x="1383" y="1967"/>
                  <a:pt x="1377" y="1964"/>
                </a:cubicBezTo>
                <a:cubicBezTo>
                  <a:pt x="1376" y="1963"/>
                  <a:pt x="1374" y="1962"/>
                  <a:pt x="1373" y="1961"/>
                </a:cubicBezTo>
                <a:close/>
                <a:moveTo>
                  <a:pt x="1527" y="2063"/>
                </a:moveTo>
                <a:cubicBezTo>
                  <a:pt x="1527" y="2063"/>
                  <a:pt x="1527" y="2064"/>
                  <a:pt x="1527" y="2064"/>
                </a:cubicBezTo>
                <a:cubicBezTo>
                  <a:pt x="1527" y="2065"/>
                  <a:pt x="1526" y="2065"/>
                  <a:pt x="1526" y="2065"/>
                </a:cubicBezTo>
                <a:cubicBezTo>
                  <a:pt x="1526" y="2066"/>
                  <a:pt x="1526" y="2066"/>
                  <a:pt x="1525" y="2067"/>
                </a:cubicBezTo>
                <a:cubicBezTo>
                  <a:pt x="1525" y="2067"/>
                  <a:pt x="1525" y="2068"/>
                  <a:pt x="1525" y="2068"/>
                </a:cubicBezTo>
                <a:cubicBezTo>
                  <a:pt x="1525" y="2068"/>
                  <a:pt x="1524" y="2068"/>
                  <a:pt x="1524" y="2069"/>
                </a:cubicBezTo>
                <a:cubicBezTo>
                  <a:pt x="1524" y="2069"/>
                  <a:pt x="1524" y="2069"/>
                  <a:pt x="1524" y="2069"/>
                </a:cubicBezTo>
                <a:cubicBezTo>
                  <a:pt x="1524" y="2069"/>
                  <a:pt x="1523" y="2070"/>
                  <a:pt x="1523" y="2070"/>
                </a:cubicBezTo>
                <a:cubicBezTo>
                  <a:pt x="1520" y="2073"/>
                  <a:pt x="1515" y="2074"/>
                  <a:pt x="1511" y="2075"/>
                </a:cubicBezTo>
                <a:cubicBezTo>
                  <a:pt x="1510" y="2075"/>
                  <a:pt x="1510" y="2075"/>
                  <a:pt x="1510" y="2075"/>
                </a:cubicBezTo>
                <a:cubicBezTo>
                  <a:pt x="1508" y="2075"/>
                  <a:pt x="1506" y="2076"/>
                  <a:pt x="1504" y="2076"/>
                </a:cubicBezTo>
                <a:cubicBezTo>
                  <a:pt x="1504" y="2076"/>
                  <a:pt x="1504" y="2076"/>
                  <a:pt x="1504" y="2076"/>
                </a:cubicBezTo>
                <a:cubicBezTo>
                  <a:pt x="1503" y="2076"/>
                  <a:pt x="1503" y="2076"/>
                  <a:pt x="1503" y="2076"/>
                </a:cubicBezTo>
                <a:cubicBezTo>
                  <a:pt x="1501" y="2076"/>
                  <a:pt x="1499" y="2076"/>
                  <a:pt x="1497" y="2076"/>
                </a:cubicBezTo>
                <a:cubicBezTo>
                  <a:pt x="1446" y="2076"/>
                  <a:pt x="1446" y="2076"/>
                  <a:pt x="1446" y="2076"/>
                </a:cubicBezTo>
                <a:cubicBezTo>
                  <a:pt x="1444" y="2076"/>
                  <a:pt x="1441" y="2076"/>
                  <a:pt x="1439" y="2075"/>
                </a:cubicBezTo>
                <a:cubicBezTo>
                  <a:pt x="1439" y="2075"/>
                  <a:pt x="1438" y="2075"/>
                  <a:pt x="1438" y="2075"/>
                </a:cubicBezTo>
                <a:cubicBezTo>
                  <a:pt x="1427" y="2074"/>
                  <a:pt x="1414" y="2069"/>
                  <a:pt x="1408" y="2059"/>
                </a:cubicBezTo>
                <a:cubicBezTo>
                  <a:pt x="1407" y="2058"/>
                  <a:pt x="1407" y="2056"/>
                  <a:pt x="1406" y="2055"/>
                </a:cubicBezTo>
                <a:cubicBezTo>
                  <a:pt x="1406" y="2055"/>
                  <a:pt x="1406" y="2055"/>
                  <a:pt x="1406" y="2055"/>
                </a:cubicBezTo>
                <a:cubicBezTo>
                  <a:pt x="1406" y="2055"/>
                  <a:pt x="1406" y="2055"/>
                  <a:pt x="1406" y="2055"/>
                </a:cubicBezTo>
                <a:cubicBezTo>
                  <a:pt x="1403" y="2047"/>
                  <a:pt x="1400" y="2040"/>
                  <a:pt x="1398" y="2032"/>
                </a:cubicBezTo>
                <a:cubicBezTo>
                  <a:pt x="1396" y="2029"/>
                  <a:pt x="1394" y="2024"/>
                  <a:pt x="1393" y="2019"/>
                </a:cubicBezTo>
                <a:cubicBezTo>
                  <a:pt x="1393" y="2019"/>
                  <a:pt x="1393" y="2019"/>
                  <a:pt x="1393" y="2019"/>
                </a:cubicBezTo>
                <a:cubicBezTo>
                  <a:pt x="1393" y="2019"/>
                  <a:pt x="1393" y="2019"/>
                  <a:pt x="1393" y="2019"/>
                </a:cubicBezTo>
                <a:cubicBezTo>
                  <a:pt x="1392" y="2018"/>
                  <a:pt x="1392" y="2018"/>
                  <a:pt x="1392" y="2017"/>
                </a:cubicBezTo>
                <a:cubicBezTo>
                  <a:pt x="1392" y="2015"/>
                  <a:pt x="1392" y="2013"/>
                  <a:pt x="1392" y="2012"/>
                </a:cubicBezTo>
                <a:cubicBezTo>
                  <a:pt x="1393" y="2011"/>
                  <a:pt x="1393" y="2010"/>
                  <a:pt x="1394" y="2009"/>
                </a:cubicBezTo>
                <a:cubicBezTo>
                  <a:pt x="1394" y="2009"/>
                  <a:pt x="1394" y="2009"/>
                  <a:pt x="1394" y="2009"/>
                </a:cubicBezTo>
                <a:cubicBezTo>
                  <a:pt x="1397" y="2004"/>
                  <a:pt x="1403" y="2002"/>
                  <a:pt x="1409" y="2001"/>
                </a:cubicBezTo>
                <a:cubicBezTo>
                  <a:pt x="1409" y="2001"/>
                  <a:pt x="1409" y="2001"/>
                  <a:pt x="1410" y="2001"/>
                </a:cubicBezTo>
                <a:cubicBezTo>
                  <a:pt x="1411" y="2001"/>
                  <a:pt x="1413" y="2001"/>
                  <a:pt x="1414" y="2000"/>
                </a:cubicBezTo>
                <a:cubicBezTo>
                  <a:pt x="1414" y="2000"/>
                  <a:pt x="1415" y="2000"/>
                  <a:pt x="1415" y="2000"/>
                </a:cubicBezTo>
                <a:cubicBezTo>
                  <a:pt x="1418" y="2000"/>
                  <a:pt x="1418" y="2000"/>
                  <a:pt x="1418" y="2000"/>
                </a:cubicBezTo>
                <a:cubicBezTo>
                  <a:pt x="1419" y="2000"/>
                  <a:pt x="1420" y="2000"/>
                  <a:pt x="1421" y="2000"/>
                </a:cubicBezTo>
                <a:cubicBezTo>
                  <a:pt x="1437" y="2000"/>
                  <a:pt x="1453" y="2000"/>
                  <a:pt x="1469" y="2000"/>
                </a:cubicBezTo>
                <a:cubicBezTo>
                  <a:pt x="1469" y="2000"/>
                  <a:pt x="1469" y="2000"/>
                  <a:pt x="1469" y="2000"/>
                </a:cubicBezTo>
                <a:cubicBezTo>
                  <a:pt x="1469" y="2000"/>
                  <a:pt x="1469" y="2000"/>
                  <a:pt x="1469" y="2000"/>
                </a:cubicBezTo>
                <a:cubicBezTo>
                  <a:pt x="1471" y="2000"/>
                  <a:pt x="1473" y="2000"/>
                  <a:pt x="1475" y="2001"/>
                </a:cubicBezTo>
                <a:cubicBezTo>
                  <a:pt x="1475" y="2001"/>
                  <a:pt x="1476" y="2001"/>
                  <a:pt x="1476" y="2001"/>
                </a:cubicBezTo>
                <a:cubicBezTo>
                  <a:pt x="1487" y="2002"/>
                  <a:pt x="1499" y="2006"/>
                  <a:pt x="1505" y="2015"/>
                </a:cubicBezTo>
                <a:cubicBezTo>
                  <a:pt x="1506" y="2016"/>
                  <a:pt x="1507" y="2017"/>
                  <a:pt x="1508" y="2019"/>
                </a:cubicBezTo>
                <a:cubicBezTo>
                  <a:pt x="1509" y="2022"/>
                  <a:pt x="1509" y="2022"/>
                  <a:pt x="1509" y="2022"/>
                </a:cubicBezTo>
                <a:cubicBezTo>
                  <a:pt x="1512" y="2028"/>
                  <a:pt x="1516" y="2035"/>
                  <a:pt x="1519" y="2041"/>
                </a:cubicBezTo>
                <a:cubicBezTo>
                  <a:pt x="1521" y="2045"/>
                  <a:pt x="1524" y="2051"/>
                  <a:pt x="1526" y="2056"/>
                </a:cubicBezTo>
                <a:cubicBezTo>
                  <a:pt x="1527" y="2058"/>
                  <a:pt x="1527" y="2061"/>
                  <a:pt x="1527" y="2063"/>
                </a:cubicBezTo>
                <a:close/>
                <a:moveTo>
                  <a:pt x="1640" y="2000"/>
                </a:moveTo>
                <a:cubicBezTo>
                  <a:pt x="1642" y="2000"/>
                  <a:pt x="1643" y="2000"/>
                  <a:pt x="1645" y="2000"/>
                </a:cubicBezTo>
                <a:cubicBezTo>
                  <a:pt x="1645" y="2000"/>
                  <a:pt x="1645" y="2000"/>
                  <a:pt x="1646" y="2000"/>
                </a:cubicBezTo>
                <a:cubicBezTo>
                  <a:pt x="1657" y="2002"/>
                  <a:pt x="1669" y="2006"/>
                  <a:pt x="1677" y="2014"/>
                </a:cubicBezTo>
                <a:cubicBezTo>
                  <a:pt x="1678" y="2014"/>
                  <a:pt x="1678" y="2015"/>
                  <a:pt x="1678" y="2015"/>
                </a:cubicBezTo>
                <a:cubicBezTo>
                  <a:pt x="1679" y="2016"/>
                  <a:pt x="1679" y="2016"/>
                  <a:pt x="1680" y="2017"/>
                </a:cubicBezTo>
                <a:cubicBezTo>
                  <a:pt x="1680" y="2017"/>
                  <a:pt x="1680" y="2017"/>
                  <a:pt x="1680" y="2018"/>
                </a:cubicBezTo>
                <a:cubicBezTo>
                  <a:pt x="1681" y="2018"/>
                  <a:pt x="1681" y="2018"/>
                  <a:pt x="1681" y="2018"/>
                </a:cubicBezTo>
                <a:cubicBezTo>
                  <a:pt x="1682" y="2019"/>
                  <a:pt x="1682" y="2019"/>
                  <a:pt x="1682" y="2019"/>
                </a:cubicBezTo>
                <a:cubicBezTo>
                  <a:pt x="1685" y="2024"/>
                  <a:pt x="1688" y="2029"/>
                  <a:pt x="1692" y="2034"/>
                </a:cubicBezTo>
                <a:cubicBezTo>
                  <a:pt x="1692" y="2034"/>
                  <a:pt x="1692" y="2034"/>
                  <a:pt x="1692" y="2034"/>
                </a:cubicBezTo>
                <a:cubicBezTo>
                  <a:pt x="1697" y="2041"/>
                  <a:pt x="1703" y="2049"/>
                  <a:pt x="1707" y="2056"/>
                </a:cubicBezTo>
                <a:cubicBezTo>
                  <a:pt x="1707" y="2057"/>
                  <a:pt x="1707" y="2057"/>
                  <a:pt x="1708" y="2058"/>
                </a:cubicBezTo>
                <a:cubicBezTo>
                  <a:pt x="1708" y="2058"/>
                  <a:pt x="1708" y="2058"/>
                  <a:pt x="1708" y="2058"/>
                </a:cubicBezTo>
                <a:cubicBezTo>
                  <a:pt x="1709" y="2063"/>
                  <a:pt x="1709" y="2066"/>
                  <a:pt x="1707" y="2068"/>
                </a:cubicBezTo>
                <a:cubicBezTo>
                  <a:pt x="1706" y="2069"/>
                  <a:pt x="1706" y="2069"/>
                  <a:pt x="1706" y="2069"/>
                </a:cubicBezTo>
                <a:cubicBezTo>
                  <a:pt x="1705" y="2071"/>
                  <a:pt x="1702" y="2072"/>
                  <a:pt x="1699" y="2073"/>
                </a:cubicBezTo>
                <a:cubicBezTo>
                  <a:pt x="1696" y="2074"/>
                  <a:pt x="1692" y="2075"/>
                  <a:pt x="1688" y="2075"/>
                </a:cubicBezTo>
                <a:cubicBezTo>
                  <a:pt x="1684" y="2075"/>
                  <a:pt x="1684" y="2075"/>
                  <a:pt x="1684" y="2075"/>
                </a:cubicBezTo>
                <a:cubicBezTo>
                  <a:pt x="1684" y="2075"/>
                  <a:pt x="1684" y="2075"/>
                  <a:pt x="1684" y="2075"/>
                </a:cubicBezTo>
                <a:cubicBezTo>
                  <a:pt x="1666" y="2075"/>
                  <a:pt x="1648" y="2075"/>
                  <a:pt x="1629" y="2075"/>
                </a:cubicBezTo>
                <a:cubicBezTo>
                  <a:pt x="1627" y="2075"/>
                  <a:pt x="1625" y="2075"/>
                  <a:pt x="1623" y="2075"/>
                </a:cubicBezTo>
                <a:cubicBezTo>
                  <a:pt x="1623" y="2075"/>
                  <a:pt x="1623" y="2075"/>
                  <a:pt x="1623" y="2075"/>
                </a:cubicBezTo>
                <a:cubicBezTo>
                  <a:pt x="1610" y="2073"/>
                  <a:pt x="1597" y="2068"/>
                  <a:pt x="1589" y="2059"/>
                </a:cubicBezTo>
                <a:cubicBezTo>
                  <a:pt x="1588" y="2057"/>
                  <a:pt x="1587" y="2056"/>
                  <a:pt x="1586" y="2055"/>
                </a:cubicBezTo>
                <a:cubicBezTo>
                  <a:pt x="1586" y="2054"/>
                  <a:pt x="1586" y="2054"/>
                  <a:pt x="1586" y="2054"/>
                </a:cubicBezTo>
                <a:cubicBezTo>
                  <a:pt x="1586" y="2054"/>
                  <a:pt x="1586" y="2054"/>
                  <a:pt x="1586" y="2054"/>
                </a:cubicBezTo>
                <a:cubicBezTo>
                  <a:pt x="1582" y="2047"/>
                  <a:pt x="1578" y="2041"/>
                  <a:pt x="1574" y="2034"/>
                </a:cubicBezTo>
                <a:cubicBezTo>
                  <a:pt x="1571" y="2029"/>
                  <a:pt x="1566" y="2021"/>
                  <a:pt x="1564" y="2015"/>
                </a:cubicBezTo>
                <a:cubicBezTo>
                  <a:pt x="1564" y="2015"/>
                  <a:pt x="1564" y="2015"/>
                  <a:pt x="1564" y="2014"/>
                </a:cubicBezTo>
                <a:cubicBezTo>
                  <a:pt x="1564" y="2014"/>
                  <a:pt x="1564" y="2013"/>
                  <a:pt x="1564" y="2013"/>
                </a:cubicBezTo>
                <a:cubicBezTo>
                  <a:pt x="1564" y="2006"/>
                  <a:pt x="1568" y="2003"/>
                  <a:pt x="1574" y="2002"/>
                </a:cubicBezTo>
                <a:cubicBezTo>
                  <a:pt x="1574" y="2001"/>
                  <a:pt x="1574" y="2001"/>
                  <a:pt x="1574" y="2001"/>
                </a:cubicBezTo>
                <a:cubicBezTo>
                  <a:pt x="1574" y="2001"/>
                  <a:pt x="1575" y="2001"/>
                  <a:pt x="1575" y="2001"/>
                </a:cubicBezTo>
                <a:cubicBezTo>
                  <a:pt x="1575" y="2001"/>
                  <a:pt x="1576" y="2001"/>
                  <a:pt x="1576" y="2001"/>
                </a:cubicBezTo>
                <a:cubicBezTo>
                  <a:pt x="1579" y="2000"/>
                  <a:pt x="1581" y="2000"/>
                  <a:pt x="1585" y="2000"/>
                </a:cubicBezTo>
                <a:cubicBezTo>
                  <a:pt x="1621" y="2000"/>
                  <a:pt x="1621" y="2000"/>
                  <a:pt x="1621" y="2000"/>
                </a:cubicBezTo>
                <a:cubicBezTo>
                  <a:pt x="1627" y="2000"/>
                  <a:pt x="1633" y="2000"/>
                  <a:pt x="1639" y="2000"/>
                </a:cubicBezTo>
                <a:cubicBezTo>
                  <a:pt x="1639" y="2000"/>
                  <a:pt x="1639" y="2000"/>
                  <a:pt x="1639" y="2000"/>
                </a:cubicBezTo>
                <a:cubicBezTo>
                  <a:pt x="1639" y="2000"/>
                  <a:pt x="1640" y="2000"/>
                  <a:pt x="1640" y="2000"/>
                </a:cubicBezTo>
                <a:close/>
                <a:moveTo>
                  <a:pt x="1617" y="1924"/>
                </a:moveTo>
                <a:cubicBezTo>
                  <a:pt x="1621" y="1930"/>
                  <a:pt x="1625" y="1937"/>
                  <a:pt x="1629" y="1943"/>
                </a:cubicBezTo>
                <a:cubicBezTo>
                  <a:pt x="1631" y="1946"/>
                  <a:pt x="1635" y="1950"/>
                  <a:pt x="1637" y="1955"/>
                </a:cubicBezTo>
                <a:cubicBezTo>
                  <a:pt x="1638" y="1956"/>
                  <a:pt x="1639" y="1958"/>
                  <a:pt x="1639" y="1960"/>
                </a:cubicBezTo>
                <a:cubicBezTo>
                  <a:pt x="1639" y="1961"/>
                  <a:pt x="1638" y="1962"/>
                  <a:pt x="1638" y="1963"/>
                </a:cubicBezTo>
                <a:cubicBezTo>
                  <a:pt x="1637" y="1964"/>
                  <a:pt x="1637" y="1964"/>
                  <a:pt x="1636" y="1965"/>
                </a:cubicBezTo>
                <a:cubicBezTo>
                  <a:pt x="1636" y="1965"/>
                  <a:pt x="1636" y="1965"/>
                  <a:pt x="1636" y="1965"/>
                </a:cubicBezTo>
                <a:cubicBezTo>
                  <a:pt x="1636" y="1965"/>
                  <a:pt x="1636" y="1965"/>
                  <a:pt x="1636" y="1965"/>
                </a:cubicBezTo>
                <a:cubicBezTo>
                  <a:pt x="1636" y="1966"/>
                  <a:pt x="1635" y="1966"/>
                  <a:pt x="1635" y="1966"/>
                </a:cubicBezTo>
                <a:cubicBezTo>
                  <a:pt x="1635" y="1966"/>
                  <a:pt x="1634" y="1967"/>
                  <a:pt x="1634" y="1967"/>
                </a:cubicBezTo>
                <a:cubicBezTo>
                  <a:pt x="1634" y="1967"/>
                  <a:pt x="1633" y="1967"/>
                  <a:pt x="1632" y="1968"/>
                </a:cubicBezTo>
                <a:cubicBezTo>
                  <a:pt x="1632" y="1968"/>
                  <a:pt x="1631" y="1968"/>
                  <a:pt x="1630" y="1969"/>
                </a:cubicBezTo>
                <a:cubicBezTo>
                  <a:pt x="1630" y="1969"/>
                  <a:pt x="1630" y="1969"/>
                  <a:pt x="1630" y="1969"/>
                </a:cubicBezTo>
                <a:cubicBezTo>
                  <a:pt x="1630" y="1969"/>
                  <a:pt x="1630" y="1969"/>
                  <a:pt x="1629" y="1969"/>
                </a:cubicBezTo>
                <a:cubicBezTo>
                  <a:pt x="1620" y="1972"/>
                  <a:pt x="1607" y="1970"/>
                  <a:pt x="1598" y="1970"/>
                </a:cubicBezTo>
                <a:cubicBezTo>
                  <a:pt x="1588" y="1970"/>
                  <a:pt x="1578" y="1970"/>
                  <a:pt x="1567" y="1970"/>
                </a:cubicBezTo>
                <a:cubicBezTo>
                  <a:pt x="1558" y="1970"/>
                  <a:pt x="1547" y="1968"/>
                  <a:pt x="1539" y="1962"/>
                </a:cubicBezTo>
                <a:cubicBezTo>
                  <a:pt x="1538" y="1962"/>
                  <a:pt x="1536" y="1961"/>
                  <a:pt x="1535" y="1960"/>
                </a:cubicBezTo>
                <a:cubicBezTo>
                  <a:pt x="1533" y="1958"/>
                  <a:pt x="1531" y="1956"/>
                  <a:pt x="1530" y="1954"/>
                </a:cubicBezTo>
                <a:cubicBezTo>
                  <a:pt x="1529" y="1952"/>
                  <a:pt x="1529" y="1952"/>
                  <a:pt x="1529" y="1952"/>
                </a:cubicBezTo>
                <a:cubicBezTo>
                  <a:pt x="1529" y="1952"/>
                  <a:pt x="1529" y="1952"/>
                  <a:pt x="1529" y="1952"/>
                </a:cubicBezTo>
                <a:cubicBezTo>
                  <a:pt x="1524" y="1944"/>
                  <a:pt x="1520" y="1936"/>
                  <a:pt x="1515" y="1928"/>
                </a:cubicBezTo>
                <a:cubicBezTo>
                  <a:pt x="1513" y="1925"/>
                  <a:pt x="1513" y="1925"/>
                  <a:pt x="1513" y="1925"/>
                </a:cubicBezTo>
                <a:cubicBezTo>
                  <a:pt x="1512" y="1923"/>
                  <a:pt x="1512" y="1921"/>
                  <a:pt x="1512" y="1919"/>
                </a:cubicBezTo>
                <a:cubicBezTo>
                  <a:pt x="1512" y="1917"/>
                  <a:pt x="1513" y="1915"/>
                  <a:pt x="1515" y="1914"/>
                </a:cubicBezTo>
                <a:cubicBezTo>
                  <a:pt x="1517" y="1913"/>
                  <a:pt x="1519" y="1912"/>
                  <a:pt x="1522" y="1911"/>
                </a:cubicBezTo>
                <a:cubicBezTo>
                  <a:pt x="1524" y="1910"/>
                  <a:pt x="1528" y="1910"/>
                  <a:pt x="1531" y="1910"/>
                </a:cubicBezTo>
                <a:cubicBezTo>
                  <a:pt x="1532" y="1910"/>
                  <a:pt x="1532" y="1910"/>
                  <a:pt x="1532" y="1910"/>
                </a:cubicBezTo>
                <a:cubicBezTo>
                  <a:pt x="1540" y="1909"/>
                  <a:pt x="1548" y="1910"/>
                  <a:pt x="1553" y="1910"/>
                </a:cubicBezTo>
                <a:cubicBezTo>
                  <a:pt x="1573" y="1910"/>
                  <a:pt x="1604" y="1906"/>
                  <a:pt x="1617" y="1924"/>
                </a:cubicBezTo>
                <a:close/>
                <a:moveTo>
                  <a:pt x="366" y="1441"/>
                </a:moveTo>
                <a:cubicBezTo>
                  <a:pt x="372" y="1443"/>
                  <a:pt x="377" y="1446"/>
                  <a:pt x="382" y="1448"/>
                </a:cubicBezTo>
                <a:cubicBezTo>
                  <a:pt x="392" y="1453"/>
                  <a:pt x="403" y="1458"/>
                  <a:pt x="413" y="1462"/>
                </a:cubicBezTo>
                <a:cubicBezTo>
                  <a:pt x="418" y="1464"/>
                  <a:pt x="422" y="1466"/>
                  <a:pt x="426" y="1468"/>
                </a:cubicBezTo>
                <a:cubicBezTo>
                  <a:pt x="430" y="1469"/>
                  <a:pt x="433" y="1470"/>
                  <a:pt x="437" y="1472"/>
                </a:cubicBezTo>
                <a:cubicBezTo>
                  <a:pt x="458" y="1479"/>
                  <a:pt x="479" y="1486"/>
                  <a:pt x="502" y="1492"/>
                </a:cubicBezTo>
                <a:cubicBezTo>
                  <a:pt x="527" y="1499"/>
                  <a:pt x="552" y="1505"/>
                  <a:pt x="578" y="1510"/>
                </a:cubicBezTo>
                <a:cubicBezTo>
                  <a:pt x="683" y="1532"/>
                  <a:pt x="786" y="1541"/>
                  <a:pt x="819" y="1542"/>
                </a:cubicBezTo>
                <a:cubicBezTo>
                  <a:pt x="819" y="1610"/>
                  <a:pt x="819" y="1610"/>
                  <a:pt x="819" y="1610"/>
                </a:cubicBezTo>
                <a:cubicBezTo>
                  <a:pt x="857" y="1570"/>
                  <a:pt x="857" y="1570"/>
                  <a:pt x="857" y="1570"/>
                </a:cubicBezTo>
                <a:cubicBezTo>
                  <a:pt x="906" y="1518"/>
                  <a:pt x="906" y="1518"/>
                  <a:pt x="906" y="1518"/>
                </a:cubicBezTo>
                <a:cubicBezTo>
                  <a:pt x="1019" y="1399"/>
                  <a:pt x="1019" y="1399"/>
                  <a:pt x="1019" y="1399"/>
                </a:cubicBezTo>
                <a:cubicBezTo>
                  <a:pt x="933" y="1308"/>
                  <a:pt x="933" y="1308"/>
                  <a:pt x="933" y="1308"/>
                </a:cubicBezTo>
                <a:cubicBezTo>
                  <a:pt x="819" y="1188"/>
                  <a:pt x="819" y="1188"/>
                  <a:pt x="819" y="1188"/>
                </a:cubicBezTo>
                <a:cubicBezTo>
                  <a:pt x="819" y="1271"/>
                  <a:pt x="819" y="1271"/>
                  <a:pt x="819" y="1271"/>
                </a:cubicBezTo>
                <a:cubicBezTo>
                  <a:pt x="740" y="1279"/>
                  <a:pt x="653" y="1266"/>
                  <a:pt x="578" y="1249"/>
                </a:cubicBezTo>
                <a:cubicBezTo>
                  <a:pt x="550" y="1242"/>
                  <a:pt x="525" y="1235"/>
                  <a:pt x="502" y="1229"/>
                </a:cubicBezTo>
                <a:cubicBezTo>
                  <a:pt x="471" y="1219"/>
                  <a:pt x="445" y="1211"/>
                  <a:pt x="426" y="1204"/>
                </a:cubicBezTo>
                <a:cubicBezTo>
                  <a:pt x="422" y="1202"/>
                  <a:pt x="418" y="1201"/>
                  <a:pt x="415" y="1199"/>
                </a:cubicBezTo>
                <a:cubicBezTo>
                  <a:pt x="414" y="1199"/>
                  <a:pt x="414" y="1199"/>
                  <a:pt x="413" y="1199"/>
                </a:cubicBezTo>
                <a:cubicBezTo>
                  <a:pt x="413" y="1199"/>
                  <a:pt x="413" y="1199"/>
                  <a:pt x="413" y="1199"/>
                </a:cubicBezTo>
                <a:cubicBezTo>
                  <a:pt x="354" y="1175"/>
                  <a:pt x="300" y="1147"/>
                  <a:pt x="253" y="1115"/>
                </a:cubicBezTo>
                <a:cubicBezTo>
                  <a:pt x="189" y="1073"/>
                  <a:pt x="142" y="1028"/>
                  <a:pt x="110" y="981"/>
                </a:cubicBezTo>
                <a:cubicBezTo>
                  <a:pt x="94" y="963"/>
                  <a:pt x="80" y="944"/>
                  <a:pt x="68" y="925"/>
                </a:cubicBezTo>
                <a:cubicBezTo>
                  <a:pt x="33" y="870"/>
                  <a:pt x="13" y="811"/>
                  <a:pt x="11" y="751"/>
                </a:cubicBezTo>
                <a:cubicBezTo>
                  <a:pt x="7" y="768"/>
                  <a:pt x="4" y="785"/>
                  <a:pt x="3" y="802"/>
                </a:cubicBezTo>
                <a:cubicBezTo>
                  <a:pt x="0" y="834"/>
                  <a:pt x="4" y="864"/>
                  <a:pt x="7" y="893"/>
                </a:cubicBezTo>
                <a:cubicBezTo>
                  <a:pt x="8" y="898"/>
                  <a:pt x="9" y="904"/>
                  <a:pt x="9" y="909"/>
                </a:cubicBezTo>
                <a:cubicBezTo>
                  <a:pt x="22" y="1021"/>
                  <a:pt x="22" y="1021"/>
                  <a:pt x="22" y="1021"/>
                </a:cubicBezTo>
                <a:cubicBezTo>
                  <a:pt x="23" y="1025"/>
                  <a:pt x="23" y="1029"/>
                  <a:pt x="24" y="1033"/>
                </a:cubicBezTo>
                <a:cubicBezTo>
                  <a:pt x="25" y="1048"/>
                  <a:pt x="27" y="1064"/>
                  <a:pt x="30" y="1080"/>
                </a:cubicBezTo>
                <a:cubicBezTo>
                  <a:pt x="34" y="1101"/>
                  <a:pt x="40" y="1121"/>
                  <a:pt x="47" y="1140"/>
                </a:cubicBezTo>
                <a:cubicBezTo>
                  <a:pt x="61" y="1175"/>
                  <a:pt x="80" y="1208"/>
                  <a:pt x="103" y="1239"/>
                </a:cubicBezTo>
                <a:cubicBezTo>
                  <a:pt x="146" y="1295"/>
                  <a:pt x="202" y="1344"/>
                  <a:pt x="275" y="1390"/>
                </a:cubicBezTo>
                <a:cubicBezTo>
                  <a:pt x="304" y="1409"/>
                  <a:pt x="335" y="1426"/>
                  <a:pt x="366" y="1441"/>
                </a:cubicBezTo>
                <a:close/>
                <a:moveTo>
                  <a:pt x="64" y="773"/>
                </a:moveTo>
                <a:cubicBezTo>
                  <a:pt x="67" y="798"/>
                  <a:pt x="74" y="823"/>
                  <a:pt x="84" y="848"/>
                </a:cubicBezTo>
                <a:cubicBezTo>
                  <a:pt x="107" y="785"/>
                  <a:pt x="165" y="713"/>
                  <a:pt x="209" y="677"/>
                </a:cubicBezTo>
                <a:cubicBezTo>
                  <a:pt x="272" y="628"/>
                  <a:pt x="353" y="583"/>
                  <a:pt x="451" y="545"/>
                </a:cubicBezTo>
                <a:cubicBezTo>
                  <a:pt x="515" y="521"/>
                  <a:pt x="582" y="501"/>
                  <a:pt x="652" y="486"/>
                </a:cubicBezTo>
                <a:cubicBezTo>
                  <a:pt x="652" y="314"/>
                  <a:pt x="652" y="314"/>
                  <a:pt x="652" y="314"/>
                </a:cubicBezTo>
                <a:cubicBezTo>
                  <a:pt x="640" y="317"/>
                  <a:pt x="627" y="320"/>
                  <a:pt x="615" y="323"/>
                </a:cubicBezTo>
                <a:cubicBezTo>
                  <a:pt x="544" y="340"/>
                  <a:pt x="476" y="361"/>
                  <a:pt x="413" y="386"/>
                </a:cubicBezTo>
                <a:cubicBezTo>
                  <a:pt x="345" y="413"/>
                  <a:pt x="288" y="442"/>
                  <a:pt x="238" y="474"/>
                </a:cubicBezTo>
                <a:cubicBezTo>
                  <a:pt x="204" y="496"/>
                  <a:pt x="178" y="516"/>
                  <a:pt x="153" y="537"/>
                </a:cubicBezTo>
                <a:cubicBezTo>
                  <a:pt x="142" y="547"/>
                  <a:pt x="131" y="556"/>
                  <a:pt x="122" y="566"/>
                </a:cubicBezTo>
                <a:cubicBezTo>
                  <a:pt x="81" y="622"/>
                  <a:pt x="60" y="684"/>
                  <a:pt x="62" y="747"/>
                </a:cubicBezTo>
                <a:cubicBezTo>
                  <a:pt x="62" y="756"/>
                  <a:pt x="63" y="764"/>
                  <a:pt x="64" y="773"/>
                </a:cubicBezTo>
                <a:close/>
                <a:moveTo>
                  <a:pt x="1928" y="693"/>
                </a:moveTo>
                <a:cubicBezTo>
                  <a:pt x="1966" y="727"/>
                  <a:pt x="2007" y="795"/>
                  <a:pt x="2021" y="856"/>
                </a:cubicBezTo>
                <a:cubicBezTo>
                  <a:pt x="2034" y="828"/>
                  <a:pt x="2042" y="798"/>
                  <a:pt x="2045" y="768"/>
                </a:cubicBezTo>
                <a:cubicBezTo>
                  <a:pt x="2046" y="761"/>
                  <a:pt x="2047" y="754"/>
                  <a:pt x="2047" y="747"/>
                </a:cubicBezTo>
                <a:cubicBezTo>
                  <a:pt x="2049" y="670"/>
                  <a:pt x="2018" y="595"/>
                  <a:pt x="1958" y="530"/>
                </a:cubicBezTo>
                <a:cubicBezTo>
                  <a:pt x="1924" y="501"/>
                  <a:pt x="1884" y="473"/>
                  <a:pt x="1839" y="447"/>
                </a:cubicBezTo>
                <a:cubicBezTo>
                  <a:pt x="1782" y="415"/>
                  <a:pt x="1718" y="387"/>
                  <a:pt x="1639" y="359"/>
                </a:cubicBezTo>
                <a:cubicBezTo>
                  <a:pt x="1584" y="340"/>
                  <a:pt x="1524" y="324"/>
                  <a:pt x="1457" y="310"/>
                </a:cubicBezTo>
                <a:cubicBezTo>
                  <a:pt x="1457" y="482"/>
                  <a:pt x="1457" y="482"/>
                  <a:pt x="1457" y="482"/>
                </a:cubicBezTo>
                <a:cubicBezTo>
                  <a:pt x="1542" y="500"/>
                  <a:pt x="1625" y="525"/>
                  <a:pt x="1700" y="556"/>
                </a:cubicBezTo>
                <a:cubicBezTo>
                  <a:pt x="1795" y="595"/>
                  <a:pt x="1871" y="642"/>
                  <a:pt x="1928" y="693"/>
                </a:cubicBezTo>
                <a:close/>
                <a:moveTo>
                  <a:pt x="1054" y="814"/>
                </a:moveTo>
                <a:cubicBezTo>
                  <a:pt x="1186" y="814"/>
                  <a:pt x="1408" y="789"/>
                  <a:pt x="1408" y="696"/>
                </a:cubicBezTo>
                <a:cubicBezTo>
                  <a:pt x="1408" y="118"/>
                  <a:pt x="1408" y="118"/>
                  <a:pt x="1408" y="118"/>
                </a:cubicBezTo>
                <a:cubicBezTo>
                  <a:pt x="1408" y="25"/>
                  <a:pt x="1186" y="0"/>
                  <a:pt x="1054" y="0"/>
                </a:cubicBezTo>
                <a:cubicBezTo>
                  <a:pt x="923" y="0"/>
                  <a:pt x="701" y="25"/>
                  <a:pt x="701" y="118"/>
                </a:cubicBezTo>
                <a:cubicBezTo>
                  <a:pt x="701" y="696"/>
                  <a:pt x="701" y="696"/>
                  <a:pt x="701" y="696"/>
                </a:cubicBezTo>
                <a:cubicBezTo>
                  <a:pt x="701" y="789"/>
                  <a:pt x="923" y="814"/>
                  <a:pt x="1054" y="814"/>
                </a:cubicBezTo>
                <a:close/>
                <a:moveTo>
                  <a:pt x="1054" y="35"/>
                </a:moveTo>
                <a:cubicBezTo>
                  <a:pt x="1219" y="35"/>
                  <a:pt x="1352" y="71"/>
                  <a:pt x="1352" y="116"/>
                </a:cubicBezTo>
                <a:cubicBezTo>
                  <a:pt x="1352" y="161"/>
                  <a:pt x="1219" y="197"/>
                  <a:pt x="1054" y="197"/>
                </a:cubicBezTo>
                <a:cubicBezTo>
                  <a:pt x="890" y="197"/>
                  <a:pt x="757" y="161"/>
                  <a:pt x="757" y="116"/>
                </a:cubicBezTo>
                <a:cubicBezTo>
                  <a:pt x="757" y="71"/>
                  <a:pt x="890" y="35"/>
                  <a:pt x="1054" y="35"/>
                </a:cubicBez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endParaRPr lang="en-US" sz="1600" dirty="0"/>
          </a:p>
        </p:txBody>
      </p:sp>
    </p:spTree>
    <p:extLst>
      <p:ext uri="{BB962C8B-B14F-4D97-AF65-F5344CB8AC3E}">
        <p14:creationId xmlns:p14="http://schemas.microsoft.com/office/powerpoint/2010/main" val="27515703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Connectivity</a:t>
            </a:r>
            <a:endParaRPr lang="en-US" dirty="0">
              <a:solidFill>
                <a:srgbClr val="92D050"/>
              </a:solidFill>
            </a:endParaRPr>
          </a:p>
        </p:txBody>
      </p:sp>
      <p:sp>
        <p:nvSpPr>
          <p:cNvPr id="8" name="Content Placeholder 2"/>
          <p:cNvSpPr txBox="1">
            <a:spLocks/>
          </p:cNvSpPr>
          <p:nvPr/>
        </p:nvSpPr>
        <p:spPr>
          <a:xfrm>
            <a:off x="522289" y="1434269"/>
            <a:ext cx="5573712" cy="5055230"/>
          </a:xfrm>
          <a:prstGeom prst="rect">
            <a:avLst/>
          </a:prstGeom>
        </p:spPr>
        <p:txBody>
          <a:bodyPr lIns="0" tIns="0" rIns="0" bIns="0"/>
          <a:lst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defTabSz="914325">
              <a:spcBef>
                <a:spcPts val="0"/>
              </a:spcBef>
              <a:spcAft>
                <a:spcPts val="300"/>
              </a:spcAft>
              <a:buNone/>
            </a:pPr>
            <a:r>
              <a:rPr lang="en-US" sz="2800" spc="-100" dirty="0">
                <a:solidFill>
                  <a:schemeClr val="accent2">
                    <a:alpha val="99000"/>
                  </a:schemeClr>
                </a:solidFill>
                <a:latin typeface="Segoe UI Light" pitchFamily="34" charset="0"/>
              </a:rPr>
              <a:t>Connecting To SQL Database</a:t>
            </a:r>
          </a:p>
          <a:p>
            <a:pPr marL="234950" lvl="1" indent="-231775" defTabSz="914325">
              <a:spcBef>
                <a:spcPts val="900"/>
              </a:spcBef>
              <a:buClr>
                <a:schemeClr val="accent6"/>
              </a:buClr>
              <a:buFont typeface="+mj-lt"/>
              <a:buAutoNum type="arabicPeriod"/>
            </a:pPr>
            <a:r>
              <a:rPr lang="en-US" sz="1600" spc="-51" dirty="0"/>
              <a:t>TDS (Tabular Data Stream) protocol over TCP/IP supported</a:t>
            </a:r>
          </a:p>
          <a:p>
            <a:pPr marL="234950" lvl="1" indent="-231775" defTabSz="914325">
              <a:spcBef>
                <a:spcPts val="900"/>
              </a:spcBef>
              <a:buClr>
                <a:schemeClr val="accent6"/>
              </a:buClr>
              <a:buFont typeface="+mj-lt"/>
              <a:buAutoNum type="arabicPeriod"/>
            </a:pPr>
            <a:r>
              <a:rPr lang="en-US" sz="1600" spc="-51" dirty="0"/>
              <a:t>SSL required</a:t>
            </a:r>
          </a:p>
          <a:p>
            <a:pPr marL="234950" lvl="1" indent="-231775" defTabSz="914325">
              <a:spcBef>
                <a:spcPts val="900"/>
              </a:spcBef>
              <a:buClr>
                <a:schemeClr val="accent6"/>
              </a:buClr>
              <a:buFont typeface="+mj-lt"/>
              <a:buAutoNum type="arabicPeriod"/>
            </a:pPr>
            <a:r>
              <a:rPr lang="en-US" sz="1600" spc="-51" dirty="0"/>
              <a:t>Use firewall rules to connect from outside Microsoft data center</a:t>
            </a:r>
          </a:p>
          <a:p>
            <a:pPr marL="3175" lvl="1" indent="0" defTabSz="914325">
              <a:spcBef>
                <a:spcPts val="900"/>
              </a:spcBef>
              <a:buNone/>
            </a:pPr>
            <a:r>
              <a:rPr lang="en-US" sz="1600" b="1" spc="-51" dirty="0"/>
              <a:t>ASP.NET EXAMPLE:</a:t>
            </a:r>
          </a:p>
        </p:txBody>
      </p:sp>
      <p:sp>
        <p:nvSpPr>
          <p:cNvPr id="10" name="TextBox 9"/>
          <p:cNvSpPr txBox="1"/>
          <p:nvPr/>
        </p:nvSpPr>
        <p:spPr>
          <a:xfrm>
            <a:off x="520703" y="3269155"/>
            <a:ext cx="5153553" cy="3000821"/>
          </a:xfrm>
          <a:prstGeom prst="rect">
            <a:avLst/>
          </a:prstGeom>
          <a:noFill/>
          <a:ln>
            <a:solidFill>
              <a:schemeClr val="accent2"/>
            </a:solidFill>
          </a:ln>
        </p:spPr>
        <p:txBody>
          <a:bodyPr wrap="square" lIns="91440" tIns="0" rIns="0" bIns="0" rtlCol="0">
            <a:spAutoFit/>
          </a:bodyPr>
          <a:lstStyle/>
          <a:p>
            <a:r>
              <a:rPr lang="en-US" sz="1600" dirty="0">
                <a:solidFill>
                  <a:srgbClr val="0000FF"/>
                </a:solidFill>
                <a:latin typeface="Consolas"/>
              </a:rPr>
              <a:t>&lt;</a:t>
            </a:r>
            <a:r>
              <a:rPr lang="en-US" sz="1600" dirty="0">
                <a:solidFill>
                  <a:srgbClr val="A31515"/>
                </a:solidFill>
                <a:latin typeface="Consolas"/>
              </a:rPr>
              <a:t>connectionStrings</a:t>
            </a:r>
            <a:r>
              <a:rPr lang="en-US" sz="1600" dirty="0">
                <a:solidFill>
                  <a:srgbClr val="0000FF"/>
                </a:solidFill>
                <a:latin typeface="Consolas"/>
              </a:rPr>
              <a:t>&gt;</a:t>
            </a:r>
            <a:endParaRPr lang="en-US" sz="800" dirty="0">
              <a:latin typeface="Segoe UI" pitchFamily="34" charset="0"/>
              <a:ea typeface="Segoe UI" pitchFamily="34" charset="0"/>
            </a:endParaRPr>
          </a:p>
          <a:p>
            <a:r>
              <a:rPr lang="en-US" sz="1600" dirty="0">
                <a:solidFill>
                  <a:srgbClr val="0000FF"/>
                </a:solidFill>
                <a:latin typeface="Consolas"/>
              </a:rPr>
              <a:t>&lt;</a:t>
            </a:r>
            <a:r>
              <a:rPr lang="en-US" sz="1600" dirty="0">
                <a:solidFill>
                  <a:srgbClr val="A31515"/>
                </a:solidFill>
                <a:latin typeface="Consolas"/>
              </a:rPr>
              <a:t>add</a:t>
            </a:r>
            <a:r>
              <a:rPr lang="en-US" sz="1600" dirty="0">
                <a:solidFill>
                  <a:srgbClr val="FF0000"/>
                </a:solidFill>
                <a:latin typeface="Consolas"/>
              </a:rPr>
              <a:t>name</a:t>
            </a:r>
            <a:r>
              <a:rPr lang="en-US" sz="1600" dirty="0">
                <a:solidFill>
                  <a:srgbClr val="0000FF"/>
                </a:solidFill>
                <a:latin typeface="Consolas"/>
              </a:rPr>
              <a:t>=</a:t>
            </a:r>
            <a:r>
              <a:rPr lang="en-US" sz="1600" dirty="0">
                <a:solidFill>
                  <a:srgbClr val="000000"/>
                </a:solidFill>
                <a:latin typeface="Consolas"/>
              </a:rPr>
              <a:t>"</a:t>
            </a:r>
            <a:r>
              <a:rPr lang="en-US" sz="1600" dirty="0">
                <a:solidFill>
                  <a:srgbClr val="0000FF"/>
                </a:solidFill>
                <a:latin typeface="Consolas"/>
              </a:rPr>
              <a:t>AdventureWorks</a:t>
            </a:r>
            <a:r>
              <a:rPr lang="en-US" sz="1600" dirty="0">
                <a:solidFill>
                  <a:srgbClr val="000000"/>
                </a:solidFill>
                <a:latin typeface="Consolas"/>
              </a:rPr>
              <a:t>"</a:t>
            </a:r>
            <a:r>
              <a:rPr lang="en-US" sz="1600" dirty="0">
                <a:solidFill>
                  <a:srgbClr val="FF0000"/>
                </a:solidFill>
                <a:latin typeface="Consolas"/>
              </a:rPr>
              <a:t>connectionString</a:t>
            </a:r>
            <a:r>
              <a:rPr lang="en-US" sz="1600" dirty="0">
                <a:solidFill>
                  <a:srgbClr val="0000FF"/>
                </a:solidFill>
                <a:latin typeface="Consolas"/>
              </a:rPr>
              <a:t>=</a:t>
            </a:r>
            <a:endParaRPr lang="en-US" sz="800" dirty="0">
              <a:latin typeface="Segoe UI" pitchFamily="34" charset="0"/>
              <a:ea typeface="Segoe UI" pitchFamily="34" charset="0"/>
            </a:endParaRPr>
          </a:p>
          <a:p>
            <a:pPr marL="457120"/>
            <a:r>
              <a:rPr lang="en-US" sz="1600" dirty="0">
                <a:solidFill>
                  <a:srgbClr val="000000"/>
                </a:solidFill>
                <a:latin typeface="Consolas"/>
              </a:rPr>
              <a:t>"</a:t>
            </a:r>
            <a:r>
              <a:rPr lang="en-US" sz="1600" dirty="0">
                <a:solidFill>
                  <a:srgbClr val="0000FF"/>
                </a:solidFill>
                <a:latin typeface="Consolas"/>
              </a:rPr>
              <a:t>Data Source=</a:t>
            </a:r>
            <a:r>
              <a:rPr lang="en-US" sz="1600" dirty="0">
                <a:solidFill>
                  <a:srgbClr val="0000FF"/>
                </a:solidFill>
                <a:highlight>
                  <a:srgbClr val="FFFF00"/>
                </a:highlight>
                <a:latin typeface="Consolas"/>
              </a:rPr>
              <a:t>[server].database.windows.net</a:t>
            </a:r>
            <a:r>
              <a:rPr lang="en-US" sz="1600" dirty="0">
                <a:solidFill>
                  <a:srgbClr val="0000FF"/>
                </a:solidFill>
                <a:latin typeface="Consolas"/>
              </a:rPr>
              <a:t>;</a:t>
            </a:r>
            <a:endParaRPr lang="en-US" sz="800" dirty="0">
              <a:latin typeface="Segoe UI" pitchFamily="34" charset="0"/>
              <a:ea typeface="Segoe UI" pitchFamily="34" charset="0"/>
            </a:endParaRPr>
          </a:p>
          <a:p>
            <a:pPr marL="457120"/>
            <a:r>
              <a:rPr lang="en-US" sz="1600" dirty="0">
                <a:solidFill>
                  <a:srgbClr val="0000FF"/>
                </a:solidFill>
                <a:latin typeface="Consolas"/>
              </a:rPr>
              <a:t>Integrated Security=False;</a:t>
            </a:r>
            <a:endParaRPr lang="en-US" sz="800" dirty="0">
              <a:latin typeface="Segoe UI" pitchFamily="34" charset="0"/>
              <a:ea typeface="Segoe UI" pitchFamily="34" charset="0"/>
            </a:endParaRPr>
          </a:p>
          <a:p>
            <a:pPr marL="457120"/>
            <a:r>
              <a:rPr lang="en-US" sz="1600" dirty="0">
                <a:solidFill>
                  <a:srgbClr val="0000FF"/>
                </a:solidFill>
                <a:latin typeface="Consolas"/>
              </a:rPr>
              <a:t>Initial Catalog=ProductsDb;</a:t>
            </a:r>
            <a:endParaRPr lang="en-US" sz="800" dirty="0">
              <a:latin typeface="Segoe UI" pitchFamily="34" charset="0"/>
              <a:ea typeface="Segoe UI" pitchFamily="34" charset="0"/>
            </a:endParaRPr>
          </a:p>
          <a:p>
            <a:pPr marL="457120"/>
            <a:r>
              <a:rPr lang="en-US" sz="1600" dirty="0">
                <a:solidFill>
                  <a:srgbClr val="0000FF"/>
                </a:solidFill>
                <a:latin typeface="Consolas"/>
              </a:rPr>
              <a:t>User Id=[login</a:t>
            </a:r>
            <a:r>
              <a:rPr lang="en-US" sz="1600" dirty="0" smtClean="0">
                <a:solidFill>
                  <a:srgbClr val="0000FF"/>
                </a:solidFill>
                <a:latin typeface="Consolas"/>
              </a:rPr>
              <a:t>]@[server];</a:t>
            </a:r>
            <a:endParaRPr lang="en-US" sz="800" dirty="0">
              <a:latin typeface="Segoe UI" pitchFamily="34" charset="0"/>
              <a:ea typeface="Segoe UI" pitchFamily="34" charset="0"/>
            </a:endParaRPr>
          </a:p>
          <a:p>
            <a:pPr marL="457120"/>
            <a:r>
              <a:rPr lang="en-US" sz="1600" dirty="0">
                <a:solidFill>
                  <a:srgbClr val="0000FF"/>
                </a:solidFill>
                <a:latin typeface="Consolas"/>
              </a:rPr>
              <a:t>Password=[password];</a:t>
            </a:r>
          </a:p>
          <a:p>
            <a:pPr marL="457120"/>
            <a:r>
              <a:rPr lang="en-US" sz="1600" dirty="0" err="1">
                <a:solidFill>
                  <a:srgbClr val="0000FF"/>
                </a:solidFill>
                <a:latin typeface="Consolas"/>
                <a:ea typeface="Segoe UI" pitchFamily="34" charset="0"/>
              </a:rPr>
              <a:t>Trusted_Connection</a:t>
            </a:r>
            <a:r>
              <a:rPr lang="en-US" sz="1600" dirty="0">
                <a:solidFill>
                  <a:srgbClr val="0000FF"/>
                </a:solidFill>
                <a:latin typeface="Consolas"/>
                <a:ea typeface="Segoe UI" pitchFamily="34" charset="0"/>
              </a:rPr>
              <a:t>=False;</a:t>
            </a:r>
            <a:endParaRPr lang="en-US" sz="800" dirty="0">
              <a:latin typeface="Segoe UI" pitchFamily="34" charset="0"/>
              <a:ea typeface="Segoe UI" pitchFamily="34" charset="0"/>
            </a:endParaRPr>
          </a:p>
          <a:p>
            <a:pPr marL="457120"/>
            <a:r>
              <a:rPr lang="en-US" sz="1600" dirty="0">
                <a:solidFill>
                  <a:srgbClr val="0000FF"/>
                </a:solidFill>
                <a:highlight>
                  <a:srgbClr val="FFFF00"/>
                </a:highlight>
                <a:latin typeface="Consolas"/>
              </a:rPr>
              <a:t>Encrypt=true</a:t>
            </a:r>
            <a:r>
              <a:rPr lang="en-US" sz="1600" dirty="0">
                <a:solidFill>
                  <a:srgbClr val="0000FF"/>
                </a:solidFill>
                <a:latin typeface="Consolas"/>
              </a:rPr>
              <a:t>;</a:t>
            </a:r>
            <a:r>
              <a:rPr lang="en-US" sz="1600" dirty="0">
                <a:solidFill>
                  <a:srgbClr val="000000"/>
                </a:solidFill>
                <a:latin typeface="Consolas"/>
              </a:rPr>
              <a:t>"</a:t>
            </a:r>
            <a:endParaRPr lang="en-US" sz="800" dirty="0">
              <a:latin typeface="Segoe UI" pitchFamily="34" charset="0"/>
              <a:ea typeface="Segoe UI" pitchFamily="34" charset="0"/>
            </a:endParaRPr>
          </a:p>
          <a:p>
            <a:r>
              <a:rPr lang="en-US" sz="1600" dirty="0">
                <a:solidFill>
                  <a:srgbClr val="FF0000"/>
                </a:solidFill>
                <a:latin typeface="Consolas"/>
              </a:rPr>
              <a:t>providerName</a:t>
            </a:r>
            <a:r>
              <a:rPr lang="en-US" sz="1600" dirty="0">
                <a:solidFill>
                  <a:srgbClr val="0000FF"/>
                </a:solidFill>
                <a:latin typeface="Consolas"/>
              </a:rPr>
              <a:t>=</a:t>
            </a:r>
            <a:r>
              <a:rPr lang="en-US" sz="1600" dirty="0">
                <a:solidFill>
                  <a:srgbClr val="000000"/>
                </a:solidFill>
                <a:latin typeface="Consolas"/>
              </a:rPr>
              <a:t>"</a:t>
            </a:r>
            <a:r>
              <a:rPr lang="en-US" sz="1600" dirty="0">
                <a:solidFill>
                  <a:srgbClr val="0000FF"/>
                </a:solidFill>
                <a:latin typeface="Consolas"/>
              </a:rPr>
              <a:t>System.Data.SqlClient</a:t>
            </a:r>
            <a:r>
              <a:rPr lang="en-US" sz="1600" dirty="0">
                <a:solidFill>
                  <a:srgbClr val="000000"/>
                </a:solidFill>
                <a:latin typeface="Consolas"/>
              </a:rPr>
              <a:t>"</a:t>
            </a:r>
            <a:r>
              <a:rPr lang="en-US" sz="1600" dirty="0">
                <a:solidFill>
                  <a:srgbClr val="0000FF"/>
                </a:solidFill>
                <a:latin typeface="Consolas"/>
              </a:rPr>
              <a:t>/&gt;</a:t>
            </a:r>
            <a:endParaRPr lang="en-US" sz="800" dirty="0">
              <a:latin typeface="Segoe UI" pitchFamily="34" charset="0"/>
              <a:ea typeface="Segoe UI" pitchFamily="34" charset="0"/>
            </a:endParaRPr>
          </a:p>
          <a:p>
            <a:r>
              <a:rPr lang="en-US" sz="1600" dirty="0">
                <a:solidFill>
                  <a:srgbClr val="0000FF"/>
                </a:solidFill>
                <a:latin typeface="Consolas"/>
              </a:rPr>
              <a:t>&lt;/</a:t>
            </a:r>
            <a:r>
              <a:rPr lang="en-US" sz="1600" dirty="0">
                <a:solidFill>
                  <a:srgbClr val="A31515"/>
                </a:solidFill>
                <a:latin typeface="Consolas"/>
              </a:rPr>
              <a:t>connectionStrings</a:t>
            </a:r>
            <a:r>
              <a:rPr lang="en-US" sz="1600" dirty="0">
                <a:solidFill>
                  <a:srgbClr val="0000FF"/>
                </a:solidFill>
                <a:latin typeface="Consolas"/>
              </a:rPr>
              <a:t>&gt;</a:t>
            </a:r>
            <a:endParaRPr lang="en-US" sz="1600" dirty="0">
              <a:solidFill>
                <a:prstClr val="black"/>
              </a:solidFill>
              <a:latin typeface="Consolas"/>
            </a:endParaRPr>
          </a:p>
        </p:txBody>
      </p:sp>
      <p:sp>
        <p:nvSpPr>
          <p:cNvPr id="3" name="Rounded Rectangle 2"/>
          <p:cNvSpPr/>
          <p:nvPr/>
        </p:nvSpPr>
        <p:spPr bwMode="auto">
          <a:xfrm>
            <a:off x="7094483" y="2601310"/>
            <a:ext cx="4177862" cy="2017986"/>
          </a:xfrm>
          <a:prstGeom prst="round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NZ" sz="2200" dirty="0" smtClean="0">
                <a:gradFill>
                  <a:gsLst>
                    <a:gs pos="0">
                      <a:srgbClr val="FFFFFF"/>
                    </a:gs>
                    <a:gs pos="100000">
                      <a:srgbClr val="FFFFFF"/>
                    </a:gs>
                  </a:gsLst>
                  <a:lin ang="5400000" scaled="0"/>
                </a:gradFill>
              </a:rPr>
              <a:t>Mini Demo: Connection Strings in Portal</a:t>
            </a:r>
          </a:p>
          <a:p>
            <a:pPr algn="ctr" defTabSz="914099" fontAlgn="base">
              <a:spcBef>
                <a:spcPct val="0"/>
              </a:spcBef>
              <a:spcAft>
                <a:spcPct val="0"/>
              </a:spcAft>
            </a:pPr>
            <a:endParaRPr lang="en-NZ" sz="2200" dirty="0">
              <a:gradFill>
                <a:gsLst>
                  <a:gs pos="0">
                    <a:srgbClr val="FFFFFF"/>
                  </a:gs>
                  <a:gs pos="100000">
                    <a:srgbClr val="FFFFFF"/>
                  </a:gs>
                </a:gsLst>
                <a:lin ang="5400000" scaled="0"/>
              </a:gradFill>
            </a:endParaRPr>
          </a:p>
          <a:p>
            <a:pPr algn="ctr" defTabSz="914099" fontAlgn="base">
              <a:spcBef>
                <a:spcPct val="0"/>
              </a:spcBef>
              <a:spcAft>
                <a:spcPct val="0"/>
              </a:spcAft>
            </a:pPr>
            <a:r>
              <a:rPr lang="en-NZ" sz="2200" dirty="0" smtClean="0">
                <a:gradFill>
                  <a:gsLst>
                    <a:gs pos="0">
                      <a:srgbClr val="FFFFFF"/>
                    </a:gs>
                    <a:gs pos="100000">
                      <a:srgbClr val="FFFFFF"/>
                    </a:gs>
                  </a:gsLst>
                  <a:lin ang="5400000" scaled="0"/>
                </a:gradFill>
              </a:rPr>
              <a:t>Deep dive on developer topics in later modules.</a:t>
            </a:r>
          </a:p>
        </p:txBody>
      </p:sp>
    </p:spTree>
    <p:extLst>
      <p:ext uri="{BB962C8B-B14F-4D97-AF65-F5344CB8AC3E}">
        <p14:creationId xmlns:p14="http://schemas.microsoft.com/office/powerpoint/2010/main" val="20279287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Creating Logins and Database Users [Chris]</a:t>
            </a:r>
            <a:endParaRPr lang="en-US" dirty="0"/>
          </a:p>
        </p:txBody>
      </p:sp>
    </p:spTree>
    <p:extLst>
      <p:ext uri="{BB962C8B-B14F-4D97-AF65-F5344CB8AC3E}">
        <p14:creationId xmlns:p14="http://schemas.microsoft.com/office/powerpoint/2010/main" val="30795243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4:</a:t>
            </a:r>
          </a:p>
          <a:p>
            <a:endParaRPr lang="en-NZ" sz="4400" dirty="0">
              <a:solidFill>
                <a:prstClr val="black"/>
              </a:solidFill>
            </a:endParaRPr>
          </a:p>
          <a:p>
            <a:r>
              <a:rPr lang="en-GB" sz="4400" dirty="0" smtClean="0">
                <a:solidFill>
                  <a:prstClr val="black"/>
                </a:solidFill>
              </a:rPr>
              <a:t>Monitoring</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2789334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Database Monitoring</a:t>
            </a:r>
            <a:endParaRPr lang="en-US" dirty="0"/>
          </a:p>
        </p:txBody>
      </p:sp>
      <p:sp>
        <p:nvSpPr>
          <p:cNvPr id="7" name="Content Placeholder 2"/>
          <p:cNvSpPr txBox="1">
            <a:spLocks/>
          </p:cNvSpPr>
          <p:nvPr/>
        </p:nvSpPr>
        <p:spPr>
          <a:xfrm>
            <a:off x="522289" y="1566077"/>
            <a:ext cx="5345112" cy="2746906"/>
          </a:xfrm>
          <a:prstGeom prst="rect">
            <a:avLst/>
          </a:prstGeom>
        </p:spPr>
        <p:txBody>
          <a:bodyPr wrap="square" lIns="0" tIns="0" rIns="0" bIns="0">
            <a:spAutoFit/>
          </a:bodyPr>
          <a:lst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defTabSz="914325">
              <a:spcBef>
                <a:spcPts val="0"/>
              </a:spcBef>
              <a:buNone/>
            </a:pPr>
            <a:r>
              <a:rPr lang="en-US" sz="2800" spc="-100" dirty="0" smtClean="0">
                <a:solidFill>
                  <a:schemeClr val="accent2">
                    <a:alpha val="99000"/>
                  </a:schemeClr>
                </a:solidFill>
                <a:latin typeface="Segoe UI Light" pitchFamily="34" charset="0"/>
              </a:rPr>
              <a:t>Large Range of Monitoring Options</a:t>
            </a:r>
            <a:endParaRPr lang="en-US" sz="2800" spc="-100" dirty="0">
              <a:solidFill>
                <a:schemeClr val="accent2">
                  <a:alpha val="99000"/>
                </a:schemeClr>
              </a:solidFill>
              <a:latin typeface="Segoe UI Light" pitchFamily="34" charset="0"/>
            </a:endParaRPr>
          </a:p>
          <a:p>
            <a:pPr marL="3175" lvl="1" indent="0" defTabSz="914325">
              <a:spcBef>
                <a:spcPts val="900"/>
              </a:spcBef>
              <a:buNone/>
            </a:pPr>
            <a:r>
              <a:rPr lang="en-US" sz="1600" spc="-51" dirty="0" smtClean="0"/>
              <a:t>Query Plans</a:t>
            </a:r>
            <a:endParaRPr lang="en-US" sz="1600" spc="-51" dirty="0"/>
          </a:p>
          <a:p>
            <a:pPr marL="3175" lvl="1" indent="0" defTabSz="914325">
              <a:spcBef>
                <a:spcPts val="900"/>
              </a:spcBef>
              <a:buNone/>
            </a:pPr>
            <a:r>
              <a:rPr lang="en-US" sz="1600" spc="-51" dirty="0" smtClean="0"/>
              <a:t>Extended Events</a:t>
            </a:r>
            <a:endParaRPr lang="en-US" sz="1600" spc="-51" dirty="0"/>
          </a:p>
          <a:p>
            <a:pPr marL="3175" lvl="1" indent="0" defTabSz="914325">
              <a:spcBef>
                <a:spcPts val="900"/>
              </a:spcBef>
              <a:buNone/>
            </a:pPr>
            <a:r>
              <a:rPr lang="en-US" sz="1600" spc="-51" dirty="0" smtClean="0"/>
              <a:t>DMVs</a:t>
            </a:r>
          </a:p>
          <a:p>
            <a:pPr marL="3175" lvl="1" indent="0" defTabSz="914325">
              <a:spcBef>
                <a:spcPts val="900"/>
              </a:spcBef>
              <a:buNone/>
            </a:pPr>
            <a:r>
              <a:rPr lang="en-US" sz="1600" spc="-51" dirty="0" smtClean="0"/>
              <a:t>Event Table</a:t>
            </a:r>
            <a:endParaRPr lang="en-US" sz="1600" spc="-51" dirty="0"/>
          </a:p>
          <a:p>
            <a:pPr marL="3175" lvl="1" indent="0" defTabSz="914325">
              <a:spcBef>
                <a:spcPts val="900"/>
              </a:spcBef>
              <a:buNone/>
            </a:pPr>
            <a:endParaRPr lang="en-US" sz="1600" spc="-51" dirty="0"/>
          </a:p>
          <a:p>
            <a:pPr marL="3175" lvl="1" indent="0" defTabSz="914325">
              <a:spcBef>
                <a:spcPts val="900"/>
              </a:spcBef>
              <a:buNone/>
            </a:pPr>
            <a:r>
              <a:rPr lang="en-US" sz="1600" spc="-51" dirty="0" smtClean="0"/>
              <a:t>There is no SQL Profiler – Use DMVs</a:t>
            </a:r>
          </a:p>
          <a:p>
            <a:pPr marL="3175" lvl="1" indent="0" defTabSz="914325">
              <a:spcBef>
                <a:spcPts val="900"/>
              </a:spcBef>
              <a:buNone/>
            </a:pPr>
            <a:endParaRPr lang="en-US" sz="1600" spc="-51" dirty="0"/>
          </a:p>
        </p:txBody>
      </p:sp>
      <p:sp>
        <p:nvSpPr>
          <p:cNvPr id="34" name="Freeform 58"/>
          <p:cNvSpPr>
            <a:spLocks noEditPoints="1"/>
          </p:cNvSpPr>
          <p:nvPr/>
        </p:nvSpPr>
        <p:spPr bwMode="black">
          <a:xfrm>
            <a:off x="6631332" y="1683802"/>
            <a:ext cx="3551570" cy="3806640"/>
          </a:xfrm>
          <a:custGeom>
            <a:avLst/>
            <a:gdLst>
              <a:gd name="T0" fmla="*/ 181 w 182"/>
              <a:gd name="T1" fmla="*/ 65 h 195"/>
              <a:gd name="T2" fmla="*/ 88 w 182"/>
              <a:gd name="T3" fmla="*/ 0 h 195"/>
              <a:gd name="T4" fmla="*/ 88 w 182"/>
              <a:gd name="T5" fmla="*/ 40 h 195"/>
              <a:gd name="T6" fmla="*/ 1 w 182"/>
              <a:gd name="T7" fmla="*/ 40 h 195"/>
              <a:gd name="T8" fmla="*/ 1 w 182"/>
              <a:gd name="T9" fmla="*/ 89 h 195"/>
              <a:gd name="T10" fmla="*/ 57 w 182"/>
              <a:gd name="T11" fmla="*/ 89 h 195"/>
              <a:gd name="T12" fmla="*/ 88 w 182"/>
              <a:gd name="T13" fmla="*/ 68 h 195"/>
              <a:gd name="T14" fmla="*/ 88 w 182"/>
              <a:gd name="T15" fmla="*/ 130 h 195"/>
              <a:gd name="T16" fmla="*/ 181 w 182"/>
              <a:gd name="T17" fmla="*/ 65 h 195"/>
              <a:gd name="T18" fmla="*/ 19 w 182"/>
              <a:gd name="T19" fmla="*/ 127 h 195"/>
              <a:gd name="T20" fmla="*/ 88 w 182"/>
              <a:gd name="T21" fmla="*/ 172 h 195"/>
              <a:gd name="T22" fmla="*/ 88 w 182"/>
              <a:gd name="T23" fmla="*/ 142 h 195"/>
              <a:gd name="T24" fmla="*/ 178 w 182"/>
              <a:gd name="T25" fmla="*/ 142 h 195"/>
              <a:gd name="T26" fmla="*/ 178 w 182"/>
              <a:gd name="T27" fmla="*/ 153 h 195"/>
              <a:gd name="T28" fmla="*/ 100 w 182"/>
              <a:gd name="T29" fmla="*/ 153 h 195"/>
              <a:gd name="T30" fmla="*/ 100 w 182"/>
              <a:gd name="T31" fmla="*/ 195 h 195"/>
              <a:gd name="T32" fmla="*/ 0 w 182"/>
              <a:gd name="T33" fmla="*/ 127 h 195"/>
              <a:gd name="T34" fmla="*/ 19 w 182"/>
              <a:gd name="T35" fmla="*/ 12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2" h="195">
                <a:moveTo>
                  <a:pt x="181" y="65"/>
                </a:moveTo>
                <a:cubicBezTo>
                  <a:pt x="88" y="0"/>
                  <a:pt x="88" y="0"/>
                  <a:pt x="88" y="0"/>
                </a:cubicBezTo>
                <a:cubicBezTo>
                  <a:pt x="88" y="40"/>
                  <a:pt x="88" y="40"/>
                  <a:pt x="88" y="40"/>
                </a:cubicBezTo>
                <a:cubicBezTo>
                  <a:pt x="1" y="40"/>
                  <a:pt x="1" y="40"/>
                  <a:pt x="1" y="40"/>
                </a:cubicBezTo>
                <a:cubicBezTo>
                  <a:pt x="1" y="89"/>
                  <a:pt x="1" y="89"/>
                  <a:pt x="1" y="89"/>
                </a:cubicBezTo>
                <a:cubicBezTo>
                  <a:pt x="57" y="89"/>
                  <a:pt x="57" y="89"/>
                  <a:pt x="57" y="89"/>
                </a:cubicBezTo>
                <a:cubicBezTo>
                  <a:pt x="88" y="68"/>
                  <a:pt x="88" y="68"/>
                  <a:pt x="88" y="68"/>
                </a:cubicBezTo>
                <a:cubicBezTo>
                  <a:pt x="88" y="130"/>
                  <a:pt x="88" y="130"/>
                  <a:pt x="88" y="130"/>
                </a:cubicBezTo>
                <a:cubicBezTo>
                  <a:pt x="181" y="65"/>
                  <a:pt x="181" y="65"/>
                  <a:pt x="181" y="65"/>
                </a:cubicBezTo>
                <a:close/>
                <a:moveTo>
                  <a:pt x="19" y="127"/>
                </a:moveTo>
                <a:cubicBezTo>
                  <a:pt x="88" y="172"/>
                  <a:pt x="88" y="172"/>
                  <a:pt x="88" y="172"/>
                </a:cubicBezTo>
                <a:cubicBezTo>
                  <a:pt x="88" y="142"/>
                  <a:pt x="88" y="142"/>
                  <a:pt x="88" y="142"/>
                </a:cubicBezTo>
                <a:cubicBezTo>
                  <a:pt x="178" y="142"/>
                  <a:pt x="178" y="142"/>
                  <a:pt x="178" y="142"/>
                </a:cubicBezTo>
                <a:cubicBezTo>
                  <a:pt x="182" y="142"/>
                  <a:pt x="182" y="153"/>
                  <a:pt x="178" y="153"/>
                </a:cubicBezTo>
                <a:cubicBezTo>
                  <a:pt x="100" y="153"/>
                  <a:pt x="100" y="153"/>
                  <a:pt x="100" y="153"/>
                </a:cubicBezTo>
                <a:cubicBezTo>
                  <a:pt x="100" y="195"/>
                  <a:pt x="100" y="195"/>
                  <a:pt x="100" y="195"/>
                </a:cubicBezTo>
                <a:cubicBezTo>
                  <a:pt x="0" y="127"/>
                  <a:pt x="0" y="127"/>
                  <a:pt x="0" y="127"/>
                </a:cubicBezTo>
                <a:cubicBezTo>
                  <a:pt x="19" y="127"/>
                  <a:pt x="19" y="127"/>
                  <a:pt x="19" y="127"/>
                </a:cubicBez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2538393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Using DMVs [Chris]</a:t>
            </a:r>
            <a:endParaRPr lang="en-US" dirty="0"/>
          </a:p>
        </p:txBody>
      </p:sp>
    </p:spTree>
    <p:extLst>
      <p:ext uri="{BB962C8B-B14F-4D97-AF65-F5344CB8AC3E}">
        <p14:creationId xmlns:p14="http://schemas.microsoft.com/office/powerpoint/2010/main" val="11814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5:</a:t>
            </a:r>
          </a:p>
          <a:p>
            <a:endParaRPr lang="en-NZ" sz="4400" dirty="0">
              <a:solidFill>
                <a:prstClr val="black"/>
              </a:solidFill>
            </a:endParaRPr>
          </a:p>
          <a:p>
            <a:r>
              <a:rPr lang="en-GB" sz="4400" dirty="0" smtClean="0">
                <a:solidFill>
                  <a:prstClr val="black"/>
                </a:solidFill>
              </a:rPr>
              <a:t>Backup</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4288576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Backup</a:t>
            </a:r>
            <a:endParaRPr lang="en-US" dirty="0"/>
          </a:p>
        </p:txBody>
      </p:sp>
      <p:sp>
        <p:nvSpPr>
          <p:cNvPr id="7" name="Content Placeholder 2"/>
          <p:cNvSpPr txBox="1">
            <a:spLocks/>
          </p:cNvSpPr>
          <p:nvPr/>
        </p:nvSpPr>
        <p:spPr>
          <a:xfrm>
            <a:off x="522289" y="1566077"/>
            <a:ext cx="5345112" cy="5101397"/>
          </a:xfrm>
          <a:prstGeom prst="rect">
            <a:avLst/>
          </a:prstGeom>
        </p:spPr>
        <p:txBody>
          <a:bodyPr wrap="square" lIns="0" tIns="0" rIns="0" bIns="0">
            <a:spAutoFit/>
          </a:bodyPr>
          <a:lst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defTabSz="914325">
              <a:spcBef>
                <a:spcPts val="0"/>
              </a:spcBef>
              <a:buNone/>
            </a:pPr>
            <a:r>
              <a:rPr lang="en-US" sz="2800" spc="-100" dirty="0" smtClean="0">
                <a:solidFill>
                  <a:schemeClr val="accent2">
                    <a:alpha val="99000"/>
                  </a:schemeClr>
                </a:solidFill>
                <a:latin typeface="Segoe UI Light" pitchFamily="34" charset="0"/>
              </a:rPr>
              <a:t>Why We Backup</a:t>
            </a:r>
          </a:p>
          <a:p>
            <a:pPr marL="3175" lvl="1" indent="0" defTabSz="914325">
              <a:spcBef>
                <a:spcPts val="900"/>
              </a:spcBef>
              <a:buNone/>
            </a:pPr>
            <a:r>
              <a:rPr lang="en-US" sz="1600" spc="-51" dirty="0" smtClean="0"/>
              <a:t>Loss of the datacenter/drives/hardware</a:t>
            </a:r>
            <a:endParaRPr lang="en-US" sz="1600" spc="-51" dirty="0"/>
          </a:p>
          <a:p>
            <a:pPr marL="3175" lvl="1" indent="0" defTabSz="914325">
              <a:spcBef>
                <a:spcPts val="900"/>
              </a:spcBef>
              <a:buNone/>
            </a:pPr>
            <a:r>
              <a:rPr lang="en-US" sz="1600" spc="-51" dirty="0" smtClean="0"/>
              <a:t>Application errors</a:t>
            </a:r>
            <a:endParaRPr lang="en-US" sz="1600" spc="-51" dirty="0"/>
          </a:p>
          <a:p>
            <a:pPr marL="3175" lvl="1" indent="0" defTabSz="914325">
              <a:spcBef>
                <a:spcPts val="900"/>
              </a:spcBef>
              <a:buNone/>
            </a:pPr>
            <a:r>
              <a:rPr lang="en-US" sz="1600" spc="-51" dirty="0" smtClean="0"/>
              <a:t>Stupid mistakes while logged in as SA</a:t>
            </a:r>
          </a:p>
          <a:p>
            <a:pPr marL="3175" lvl="1" indent="0" defTabSz="914325">
              <a:spcBef>
                <a:spcPts val="900"/>
              </a:spcBef>
              <a:buNone/>
            </a:pPr>
            <a:endParaRPr lang="en-US" sz="1600" spc="-51" dirty="0"/>
          </a:p>
          <a:p>
            <a:pPr marL="3175" lvl="1" indent="0" defTabSz="914325">
              <a:spcBef>
                <a:spcPts val="900"/>
              </a:spcBef>
              <a:buNone/>
            </a:pPr>
            <a:r>
              <a:rPr lang="en-US" spc="-100" dirty="0" smtClean="0">
                <a:solidFill>
                  <a:schemeClr val="accent2">
                    <a:alpha val="99000"/>
                  </a:schemeClr>
                </a:solidFill>
                <a:latin typeface="Segoe UI Light" pitchFamily="34" charset="0"/>
              </a:rPr>
              <a:t>Backup Options</a:t>
            </a:r>
          </a:p>
          <a:p>
            <a:pPr marL="3175" lvl="1" indent="0" defTabSz="914325">
              <a:spcBef>
                <a:spcPts val="900"/>
              </a:spcBef>
              <a:buNone/>
            </a:pPr>
            <a:r>
              <a:rPr lang="en-US" sz="1600" spc="-51" dirty="0" smtClean="0"/>
              <a:t>Currently no standard point-in-time backup</a:t>
            </a:r>
          </a:p>
          <a:p>
            <a:pPr marL="3175" lvl="1" indent="0" defTabSz="914325">
              <a:spcBef>
                <a:spcPts val="900"/>
              </a:spcBef>
              <a:buNone/>
            </a:pPr>
            <a:endParaRPr lang="en-US" sz="1600" spc="-51" dirty="0"/>
          </a:p>
          <a:p>
            <a:pPr marL="3175" lvl="1" indent="0" defTabSz="914325">
              <a:spcBef>
                <a:spcPts val="900"/>
              </a:spcBef>
              <a:buNone/>
            </a:pPr>
            <a:r>
              <a:rPr lang="en-US" sz="1600" spc="-51" dirty="0" smtClean="0"/>
              <a:t>Use CREATE DATABASE … AS COPY OF</a:t>
            </a:r>
          </a:p>
          <a:p>
            <a:pPr marL="3175" lvl="1" indent="0" defTabSz="914325">
              <a:spcBef>
                <a:spcPts val="900"/>
              </a:spcBef>
              <a:buNone/>
            </a:pPr>
            <a:r>
              <a:rPr lang="en-US" sz="1600" spc="-51" dirty="0" smtClean="0"/>
              <a:t>Export copy as BACPAC to Azure Blob Storage</a:t>
            </a:r>
            <a:endParaRPr lang="en-US" sz="1600" spc="-51" dirty="0"/>
          </a:p>
          <a:p>
            <a:pPr marL="3175" lvl="1" indent="0" defTabSz="914325">
              <a:spcBef>
                <a:spcPts val="900"/>
              </a:spcBef>
              <a:buNone/>
            </a:pPr>
            <a:endParaRPr lang="en-US" spc="-100" dirty="0">
              <a:solidFill>
                <a:schemeClr val="accent2">
                  <a:alpha val="99000"/>
                </a:schemeClr>
              </a:solidFill>
              <a:latin typeface="Segoe UI Light" pitchFamily="34" charset="0"/>
            </a:endParaRPr>
          </a:p>
          <a:p>
            <a:pPr marL="3175" lvl="1" indent="0" defTabSz="914325">
              <a:spcBef>
                <a:spcPts val="900"/>
              </a:spcBef>
              <a:buNone/>
            </a:pPr>
            <a:endParaRPr lang="en-US" sz="1600" spc="-51" dirty="0" smtClean="0"/>
          </a:p>
          <a:p>
            <a:pPr marL="3175" lvl="1" indent="0" defTabSz="914325">
              <a:spcBef>
                <a:spcPts val="900"/>
              </a:spcBef>
              <a:buNone/>
            </a:pPr>
            <a:endParaRPr lang="en-US" sz="1600" spc="-51" dirty="0"/>
          </a:p>
          <a:p>
            <a:pPr marL="3175" lvl="1" indent="0" defTabSz="914325">
              <a:spcBef>
                <a:spcPts val="900"/>
              </a:spcBef>
              <a:buNone/>
            </a:pPr>
            <a:endParaRPr lang="en-US" sz="1600" spc="-51" dirty="0"/>
          </a:p>
        </p:txBody>
      </p:sp>
      <p:sp>
        <p:nvSpPr>
          <p:cNvPr id="6" name="Freeform 83"/>
          <p:cNvSpPr>
            <a:spLocks noEditPoints="1"/>
          </p:cNvSpPr>
          <p:nvPr/>
        </p:nvSpPr>
        <p:spPr bwMode="black">
          <a:xfrm>
            <a:off x="7217176" y="1566077"/>
            <a:ext cx="3638120" cy="3840506"/>
          </a:xfrm>
          <a:custGeom>
            <a:avLst/>
            <a:gdLst>
              <a:gd name="T0" fmla="*/ 502 w 2107"/>
              <a:gd name="T1" fmla="*/ 1162 h 2221"/>
              <a:gd name="T2" fmla="*/ 239 w 2107"/>
              <a:gd name="T3" fmla="*/ 2072 h 2221"/>
              <a:gd name="T4" fmla="*/ 1587 w 2107"/>
              <a:gd name="T5" fmla="*/ 1800 h 2221"/>
              <a:gd name="T6" fmla="*/ 1487 w 2107"/>
              <a:gd name="T7" fmla="*/ 1835 h 2221"/>
              <a:gd name="T8" fmla="*/ 1579 w 2107"/>
              <a:gd name="T9" fmla="*/ 1870 h 2221"/>
              <a:gd name="T10" fmla="*/ 1470 w 2107"/>
              <a:gd name="T11" fmla="*/ 1847 h 2221"/>
              <a:gd name="T12" fmla="*/ 983 w 2107"/>
              <a:gd name="T13" fmla="*/ 1837 h 2221"/>
              <a:gd name="T14" fmla="*/ 1062 w 2107"/>
              <a:gd name="T15" fmla="*/ 1872 h 2221"/>
              <a:gd name="T16" fmla="*/ 956 w 2107"/>
              <a:gd name="T17" fmla="*/ 1951 h 2221"/>
              <a:gd name="T18" fmla="*/ 1046 w 2107"/>
              <a:gd name="T19" fmla="*/ 1970 h 2221"/>
              <a:gd name="T20" fmla="*/ 820 w 2107"/>
              <a:gd name="T21" fmla="*/ 1872 h 2221"/>
              <a:gd name="T22" fmla="*/ 899 w 2107"/>
              <a:gd name="T23" fmla="*/ 1836 h 2221"/>
              <a:gd name="T24" fmla="*/ 841 w 2107"/>
              <a:gd name="T25" fmla="*/ 1886 h 2221"/>
              <a:gd name="T26" fmla="*/ 905 w 2107"/>
              <a:gd name="T27" fmla="*/ 1920 h 2221"/>
              <a:gd name="T28" fmla="*/ 882 w 2107"/>
              <a:gd name="T29" fmla="*/ 1971 h 2221"/>
              <a:gd name="T30" fmla="*/ 687 w 2107"/>
              <a:gd name="T31" fmla="*/ 1847 h 2221"/>
              <a:gd name="T32" fmla="*/ 780 w 2107"/>
              <a:gd name="T33" fmla="*/ 1844 h 2221"/>
              <a:gd name="T34" fmla="*/ 760 w 2107"/>
              <a:gd name="T35" fmla="*/ 1882 h 2221"/>
              <a:gd name="T36" fmla="*/ 703 w 2107"/>
              <a:gd name="T37" fmla="*/ 1912 h 2221"/>
              <a:gd name="T38" fmla="*/ 682 w 2107"/>
              <a:gd name="T39" fmla="*/ 1972 h 2221"/>
              <a:gd name="T40" fmla="*/ 647 w 2107"/>
              <a:gd name="T41" fmla="*/ 1928 h 2221"/>
              <a:gd name="T42" fmla="*/ 631 w 2107"/>
              <a:gd name="T43" fmla="*/ 1862 h 2221"/>
              <a:gd name="T44" fmla="*/ 545 w 2107"/>
              <a:gd name="T45" fmla="*/ 2017 h 2221"/>
              <a:gd name="T46" fmla="*/ 416 w 2107"/>
              <a:gd name="T47" fmla="*/ 2078 h 2221"/>
              <a:gd name="T48" fmla="*/ 435 w 2107"/>
              <a:gd name="T49" fmla="*/ 2014 h 2221"/>
              <a:gd name="T50" fmla="*/ 538 w 2107"/>
              <a:gd name="T51" fmla="*/ 2006 h 2221"/>
              <a:gd name="T52" fmla="*/ 520 w 2107"/>
              <a:gd name="T53" fmla="*/ 1973 h 2221"/>
              <a:gd name="T54" fmla="*/ 490 w 2107"/>
              <a:gd name="T55" fmla="*/ 1930 h 2221"/>
              <a:gd name="T56" fmla="*/ 587 w 2107"/>
              <a:gd name="T57" fmla="*/ 1913 h 2221"/>
              <a:gd name="T58" fmla="*/ 1055 w 2107"/>
              <a:gd name="T59" fmla="*/ 2071 h 2221"/>
              <a:gd name="T60" fmla="*/ 605 w 2107"/>
              <a:gd name="T61" fmla="*/ 2078 h 2221"/>
              <a:gd name="T62" fmla="*/ 613 w 2107"/>
              <a:gd name="T63" fmla="*/ 2010 h 2221"/>
              <a:gd name="T64" fmla="*/ 1046 w 2107"/>
              <a:gd name="T65" fmla="*/ 2003 h 2221"/>
              <a:gd name="T66" fmla="*/ 1113 w 2107"/>
              <a:gd name="T67" fmla="*/ 1877 h 2221"/>
              <a:gd name="T68" fmla="*/ 1176 w 2107"/>
              <a:gd name="T69" fmla="*/ 1835 h 2221"/>
              <a:gd name="T70" fmla="*/ 1137 w 2107"/>
              <a:gd name="T71" fmla="*/ 1885 h 2221"/>
              <a:gd name="T72" fmla="*/ 1115 w 2107"/>
              <a:gd name="T73" fmla="*/ 1926 h 2221"/>
              <a:gd name="T74" fmla="*/ 1215 w 2107"/>
              <a:gd name="T75" fmla="*/ 1968 h 2221"/>
              <a:gd name="T76" fmla="*/ 1135 w 2107"/>
              <a:gd name="T77" fmla="*/ 1970 h 2221"/>
              <a:gd name="T78" fmla="*/ 1146 w 2107"/>
              <a:gd name="T79" fmla="*/ 2075 h 2221"/>
              <a:gd name="T80" fmla="*/ 1122 w 2107"/>
              <a:gd name="T81" fmla="*/ 2019 h 2221"/>
              <a:gd name="T82" fmla="*/ 1139 w 2107"/>
              <a:gd name="T83" fmla="*/ 2003 h 2221"/>
              <a:gd name="T84" fmla="*/ 1217 w 2107"/>
              <a:gd name="T85" fmla="*/ 2003 h 2221"/>
              <a:gd name="T86" fmla="*/ 1337 w 2107"/>
              <a:gd name="T87" fmla="*/ 1868 h 2221"/>
              <a:gd name="T88" fmla="*/ 1411 w 2107"/>
              <a:gd name="T89" fmla="*/ 1838 h 2221"/>
              <a:gd name="T90" fmla="*/ 1425 w 2107"/>
              <a:gd name="T91" fmla="*/ 1883 h 2221"/>
              <a:gd name="T92" fmla="*/ 1359 w 2107"/>
              <a:gd name="T93" fmla="*/ 1927 h 2221"/>
              <a:gd name="T94" fmla="*/ 1476 w 2107"/>
              <a:gd name="T95" fmla="*/ 1956 h 2221"/>
              <a:gd name="T96" fmla="*/ 1461 w 2107"/>
              <a:gd name="T97" fmla="*/ 1970 h 2221"/>
              <a:gd name="T98" fmla="*/ 1511 w 2107"/>
              <a:gd name="T99" fmla="*/ 2075 h 2221"/>
              <a:gd name="T100" fmla="*/ 1393 w 2107"/>
              <a:gd name="T101" fmla="*/ 2019 h 2221"/>
              <a:gd name="T102" fmla="*/ 1475 w 2107"/>
              <a:gd name="T103" fmla="*/ 2001 h 2221"/>
              <a:gd name="T104" fmla="*/ 1681 w 2107"/>
              <a:gd name="T105" fmla="*/ 2018 h 2221"/>
              <a:gd name="T106" fmla="*/ 1623 w 2107"/>
              <a:gd name="T107" fmla="*/ 2075 h 2221"/>
              <a:gd name="T108" fmla="*/ 1639 w 2107"/>
              <a:gd name="T109" fmla="*/ 2000 h 2221"/>
              <a:gd name="T110" fmla="*/ 1630 w 2107"/>
              <a:gd name="T111" fmla="*/ 1969 h 2221"/>
              <a:gd name="T112" fmla="*/ 1532 w 2107"/>
              <a:gd name="T113" fmla="*/ 1910 h 2221"/>
              <a:gd name="T114" fmla="*/ 933 w 2107"/>
              <a:gd name="T115" fmla="*/ 1308 h 2221"/>
              <a:gd name="T116" fmla="*/ 9 w 2107"/>
              <a:gd name="T117" fmla="*/ 909 h 2221"/>
              <a:gd name="T118" fmla="*/ 413 w 2107"/>
              <a:gd name="T119" fmla="*/ 386 h 2221"/>
              <a:gd name="T120" fmla="*/ 1700 w 2107"/>
              <a:gd name="T121" fmla="*/ 556 h 2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07" h="2221">
                <a:moveTo>
                  <a:pt x="2107" y="809"/>
                </a:moveTo>
                <a:cubicBezTo>
                  <a:pt x="2106" y="786"/>
                  <a:pt x="2103" y="764"/>
                  <a:pt x="2098" y="742"/>
                </a:cubicBezTo>
                <a:cubicBezTo>
                  <a:pt x="2098" y="745"/>
                  <a:pt x="2098" y="747"/>
                  <a:pt x="2098" y="749"/>
                </a:cubicBezTo>
                <a:cubicBezTo>
                  <a:pt x="2096" y="810"/>
                  <a:pt x="2076" y="869"/>
                  <a:pt x="2040" y="926"/>
                </a:cubicBezTo>
                <a:cubicBezTo>
                  <a:pt x="2018" y="961"/>
                  <a:pt x="1988" y="995"/>
                  <a:pt x="1953" y="1027"/>
                </a:cubicBezTo>
                <a:cubicBezTo>
                  <a:pt x="1918" y="1064"/>
                  <a:pt x="1873" y="1098"/>
                  <a:pt x="1819" y="1131"/>
                </a:cubicBezTo>
                <a:cubicBezTo>
                  <a:pt x="1777" y="1156"/>
                  <a:pt x="1731" y="1178"/>
                  <a:pt x="1682" y="1198"/>
                </a:cubicBezTo>
                <a:cubicBezTo>
                  <a:pt x="1682" y="1061"/>
                  <a:pt x="1682" y="1061"/>
                  <a:pt x="1682" y="1061"/>
                </a:cubicBezTo>
                <a:cubicBezTo>
                  <a:pt x="1682" y="1059"/>
                  <a:pt x="1682" y="1058"/>
                  <a:pt x="1682" y="1056"/>
                </a:cubicBezTo>
                <a:cubicBezTo>
                  <a:pt x="1680" y="988"/>
                  <a:pt x="1624" y="933"/>
                  <a:pt x="1554" y="933"/>
                </a:cubicBezTo>
                <a:cubicBezTo>
                  <a:pt x="555" y="933"/>
                  <a:pt x="555" y="933"/>
                  <a:pt x="555" y="933"/>
                </a:cubicBezTo>
                <a:cubicBezTo>
                  <a:pt x="484" y="933"/>
                  <a:pt x="426" y="990"/>
                  <a:pt x="426" y="1061"/>
                </a:cubicBezTo>
                <a:cubicBezTo>
                  <a:pt x="426" y="1141"/>
                  <a:pt x="426" y="1141"/>
                  <a:pt x="426" y="1141"/>
                </a:cubicBezTo>
                <a:cubicBezTo>
                  <a:pt x="430" y="1142"/>
                  <a:pt x="430" y="1142"/>
                  <a:pt x="430" y="1142"/>
                </a:cubicBezTo>
                <a:cubicBezTo>
                  <a:pt x="430" y="1143"/>
                  <a:pt x="459" y="1152"/>
                  <a:pt x="502" y="1162"/>
                </a:cubicBezTo>
                <a:cubicBezTo>
                  <a:pt x="502" y="1069"/>
                  <a:pt x="502" y="1069"/>
                  <a:pt x="502" y="1069"/>
                </a:cubicBezTo>
                <a:cubicBezTo>
                  <a:pt x="502" y="1032"/>
                  <a:pt x="531" y="1003"/>
                  <a:pt x="568" y="1003"/>
                </a:cubicBezTo>
                <a:cubicBezTo>
                  <a:pt x="1541" y="1003"/>
                  <a:pt x="1541" y="1003"/>
                  <a:pt x="1541" y="1003"/>
                </a:cubicBezTo>
                <a:cubicBezTo>
                  <a:pt x="1577" y="1003"/>
                  <a:pt x="1607" y="1032"/>
                  <a:pt x="1607" y="1069"/>
                </a:cubicBezTo>
                <a:cubicBezTo>
                  <a:pt x="1607" y="1668"/>
                  <a:pt x="1607" y="1668"/>
                  <a:pt x="1607" y="1668"/>
                </a:cubicBezTo>
                <a:cubicBezTo>
                  <a:pt x="1607" y="1704"/>
                  <a:pt x="1577" y="1734"/>
                  <a:pt x="1541" y="1734"/>
                </a:cubicBezTo>
                <a:cubicBezTo>
                  <a:pt x="568" y="1734"/>
                  <a:pt x="568" y="1734"/>
                  <a:pt x="568" y="1734"/>
                </a:cubicBezTo>
                <a:cubicBezTo>
                  <a:pt x="531" y="1734"/>
                  <a:pt x="502" y="1704"/>
                  <a:pt x="502" y="1668"/>
                </a:cubicBezTo>
                <a:cubicBezTo>
                  <a:pt x="502" y="1541"/>
                  <a:pt x="502" y="1541"/>
                  <a:pt x="502" y="1541"/>
                </a:cubicBezTo>
                <a:cubicBezTo>
                  <a:pt x="476" y="1535"/>
                  <a:pt x="451" y="1528"/>
                  <a:pt x="426" y="1520"/>
                </a:cubicBezTo>
                <a:cubicBezTo>
                  <a:pt x="426" y="1676"/>
                  <a:pt x="426" y="1676"/>
                  <a:pt x="426" y="1676"/>
                </a:cubicBezTo>
                <a:cubicBezTo>
                  <a:pt x="426" y="1736"/>
                  <a:pt x="467" y="1786"/>
                  <a:pt x="523" y="1800"/>
                </a:cubicBezTo>
                <a:cubicBezTo>
                  <a:pt x="491" y="1802"/>
                  <a:pt x="456" y="1813"/>
                  <a:pt x="435" y="1837"/>
                </a:cubicBezTo>
                <a:cubicBezTo>
                  <a:pt x="419" y="1857"/>
                  <a:pt x="403" y="1876"/>
                  <a:pt x="387" y="1895"/>
                </a:cubicBezTo>
                <a:cubicBezTo>
                  <a:pt x="337" y="1954"/>
                  <a:pt x="288" y="2013"/>
                  <a:pt x="239" y="2072"/>
                </a:cubicBezTo>
                <a:cubicBezTo>
                  <a:pt x="227" y="2086"/>
                  <a:pt x="203" y="2107"/>
                  <a:pt x="203" y="2127"/>
                </a:cubicBezTo>
                <a:cubicBezTo>
                  <a:pt x="203" y="2183"/>
                  <a:pt x="203" y="2183"/>
                  <a:pt x="203" y="2183"/>
                </a:cubicBezTo>
                <a:cubicBezTo>
                  <a:pt x="204" y="2190"/>
                  <a:pt x="206" y="2197"/>
                  <a:pt x="209" y="2202"/>
                </a:cubicBezTo>
                <a:cubicBezTo>
                  <a:pt x="222" y="2220"/>
                  <a:pt x="247" y="2221"/>
                  <a:pt x="267" y="2221"/>
                </a:cubicBezTo>
                <a:cubicBezTo>
                  <a:pt x="295" y="2221"/>
                  <a:pt x="1759" y="2221"/>
                  <a:pt x="1804" y="2221"/>
                </a:cubicBezTo>
                <a:cubicBezTo>
                  <a:pt x="1826" y="2221"/>
                  <a:pt x="1850" y="2219"/>
                  <a:pt x="1871" y="2214"/>
                </a:cubicBezTo>
                <a:cubicBezTo>
                  <a:pt x="1886" y="2211"/>
                  <a:pt x="1903" y="2203"/>
                  <a:pt x="1905" y="2186"/>
                </a:cubicBezTo>
                <a:cubicBezTo>
                  <a:pt x="1905" y="2126"/>
                  <a:pt x="1905" y="2126"/>
                  <a:pt x="1905" y="2126"/>
                </a:cubicBezTo>
                <a:cubicBezTo>
                  <a:pt x="1907" y="2113"/>
                  <a:pt x="1899" y="2100"/>
                  <a:pt x="1891" y="2091"/>
                </a:cubicBezTo>
                <a:cubicBezTo>
                  <a:pt x="1887" y="2086"/>
                  <a:pt x="1883" y="2081"/>
                  <a:pt x="1879" y="2077"/>
                </a:cubicBezTo>
                <a:cubicBezTo>
                  <a:pt x="1858" y="2052"/>
                  <a:pt x="1837" y="2027"/>
                  <a:pt x="1816" y="2003"/>
                </a:cubicBezTo>
                <a:cubicBezTo>
                  <a:pt x="1770" y="1948"/>
                  <a:pt x="1724" y="1894"/>
                  <a:pt x="1678" y="1840"/>
                </a:cubicBezTo>
                <a:cubicBezTo>
                  <a:pt x="1676" y="1837"/>
                  <a:pt x="1674" y="1834"/>
                  <a:pt x="1671" y="1832"/>
                </a:cubicBezTo>
                <a:cubicBezTo>
                  <a:pt x="1662" y="1820"/>
                  <a:pt x="1647" y="1813"/>
                  <a:pt x="1633" y="1809"/>
                </a:cubicBezTo>
                <a:cubicBezTo>
                  <a:pt x="1618" y="1804"/>
                  <a:pt x="1603" y="1801"/>
                  <a:pt x="1587" y="1800"/>
                </a:cubicBezTo>
                <a:cubicBezTo>
                  <a:pt x="1642" y="1785"/>
                  <a:pt x="1682" y="1735"/>
                  <a:pt x="1682" y="1676"/>
                </a:cubicBezTo>
                <a:cubicBezTo>
                  <a:pt x="1682" y="1462"/>
                  <a:pt x="1682" y="1462"/>
                  <a:pt x="1682" y="1462"/>
                </a:cubicBezTo>
                <a:cubicBezTo>
                  <a:pt x="1698" y="1455"/>
                  <a:pt x="1714" y="1448"/>
                  <a:pt x="1730" y="1441"/>
                </a:cubicBezTo>
                <a:cubicBezTo>
                  <a:pt x="1801" y="1408"/>
                  <a:pt x="1863" y="1368"/>
                  <a:pt x="1916" y="1325"/>
                </a:cubicBezTo>
                <a:cubicBezTo>
                  <a:pt x="1946" y="1300"/>
                  <a:pt x="1972" y="1273"/>
                  <a:pt x="1995" y="1246"/>
                </a:cubicBezTo>
                <a:cubicBezTo>
                  <a:pt x="2018" y="1218"/>
                  <a:pt x="2037" y="1187"/>
                  <a:pt x="2054" y="1154"/>
                </a:cubicBezTo>
                <a:cubicBezTo>
                  <a:pt x="2068" y="1124"/>
                  <a:pt x="2079" y="1090"/>
                  <a:pt x="2084" y="1054"/>
                </a:cubicBezTo>
                <a:cubicBezTo>
                  <a:pt x="2086" y="1040"/>
                  <a:pt x="2087" y="1026"/>
                  <a:pt x="2089" y="1013"/>
                </a:cubicBezTo>
                <a:cubicBezTo>
                  <a:pt x="2089" y="1008"/>
                  <a:pt x="2090" y="1003"/>
                  <a:pt x="2090" y="998"/>
                </a:cubicBezTo>
                <a:cubicBezTo>
                  <a:pt x="2102" y="877"/>
                  <a:pt x="2102" y="877"/>
                  <a:pt x="2102" y="877"/>
                </a:cubicBezTo>
                <a:cubicBezTo>
                  <a:pt x="2103" y="874"/>
                  <a:pt x="2103" y="870"/>
                  <a:pt x="2103" y="867"/>
                </a:cubicBezTo>
                <a:cubicBezTo>
                  <a:pt x="2105" y="848"/>
                  <a:pt x="2107" y="829"/>
                  <a:pt x="2107" y="809"/>
                </a:cubicBezTo>
                <a:close/>
                <a:moveTo>
                  <a:pt x="1474" y="1837"/>
                </a:moveTo>
                <a:cubicBezTo>
                  <a:pt x="1475" y="1836"/>
                  <a:pt x="1476" y="1836"/>
                  <a:pt x="1478" y="1836"/>
                </a:cubicBezTo>
                <a:cubicBezTo>
                  <a:pt x="1481" y="1835"/>
                  <a:pt x="1483" y="1835"/>
                  <a:pt x="1487" y="1835"/>
                </a:cubicBezTo>
                <a:cubicBezTo>
                  <a:pt x="1492" y="1835"/>
                  <a:pt x="1492" y="1835"/>
                  <a:pt x="1492" y="1835"/>
                </a:cubicBezTo>
                <a:cubicBezTo>
                  <a:pt x="1492" y="1835"/>
                  <a:pt x="1492" y="1835"/>
                  <a:pt x="1492" y="1835"/>
                </a:cubicBezTo>
                <a:cubicBezTo>
                  <a:pt x="1502" y="1835"/>
                  <a:pt x="1511" y="1835"/>
                  <a:pt x="1521" y="1835"/>
                </a:cubicBezTo>
                <a:cubicBezTo>
                  <a:pt x="1521" y="1835"/>
                  <a:pt x="1521" y="1835"/>
                  <a:pt x="1521" y="1835"/>
                </a:cubicBezTo>
                <a:cubicBezTo>
                  <a:pt x="1531" y="1835"/>
                  <a:pt x="1531" y="1835"/>
                  <a:pt x="1531" y="1835"/>
                </a:cubicBezTo>
                <a:cubicBezTo>
                  <a:pt x="1534" y="1834"/>
                  <a:pt x="1538" y="1835"/>
                  <a:pt x="1541" y="1835"/>
                </a:cubicBezTo>
                <a:cubicBezTo>
                  <a:pt x="1543" y="1836"/>
                  <a:pt x="1546" y="1836"/>
                  <a:pt x="1548" y="1837"/>
                </a:cubicBezTo>
                <a:cubicBezTo>
                  <a:pt x="1548" y="1837"/>
                  <a:pt x="1548" y="1837"/>
                  <a:pt x="1548" y="1837"/>
                </a:cubicBezTo>
                <a:cubicBezTo>
                  <a:pt x="1549" y="1837"/>
                  <a:pt x="1549" y="1838"/>
                  <a:pt x="1549" y="1838"/>
                </a:cubicBezTo>
                <a:cubicBezTo>
                  <a:pt x="1550" y="1838"/>
                  <a:pt x="1550" y="1838"/>
                  <a:pt x="1550" y="1838"/>
                </a:cubicBezTo>
                <a:cubicBezTo>
                  <a:pt x="1553" y="1839"/>
                  <a:pt x="1556" y="1840"/>
                  <a:pt x="1558" y="1842"/>
                </a:cubicBezTo>
                <a:cubicBezTo>
                  <a:pt x="1560" y="1843"/>
                  <a:pt x="1562" y="1845"/>
                  <a:pt x="1563" y="1847"/>
                </a:cubicBezTo>
                <a:cubicBezTo>
                  <a:pt x="1571" y="1858"/>
                  <a:pt x="1571" y="1858"/>
                  <a:pt x="1571" y="1858"/>
                </a:cubicBezTo>
                <a:cubicBezTo>
                  <a:pt x="1573" y="1861"/>
                  <a:pt x="1577" y="1865"/>
                  <a:pt x="1579" y="1870"/>
                </a:cubicBezTo>
                <a:cubicBezTo>
                  <a:pt x="1579" y="1870"/>
                  <a:pt x="1579" y="1870"/>
                  <a:pt x="1579" y="1870"/>
                </a:cubicBezTo>
                <a:cubicBezTo>
                  <a:pt x="1581" y="1872"/>
                  <a:pt x="1581" y="1874"/>
                  <a:pt x="1581" y="1876"/>
                </a:cubicBezTo>
                <a:cubicBezTo>
                  <a:pt x="1581" y="1877"/>
                  <a:pt x="1580" y="1878"/>
                  <a:pt x="1579" y="1879"/>
                </a:cubicBezTo>
                <a:cubicBezTo>
                  <a:pt x="1579" y="1879"/>
                  <a:pt x="1579" y="1880"/>
                  <a:pt x="1579" y="1880"/>
                </a:cubicBezTo>
                <a:cubicBezTo>
                  <a:pt x="1579" y="1880"/>
                  <a:pt x="1579" y="1880"/>
                  <a:pt x="1579" y="1880"/>
                </a:cubicBezTo>
                <a:cubicBezTo>
                  <a:pt x="1578" y="1880"/>
                  <a:pt x="1578" y="1880"/>
                  <a:pt x="1578" y="1880"/>
                </a:cubicBezTo>
                <a:cubicBezTo>
                  <a:pt x="1578" y="1880"/>
                  <a:pt x="1578" y="1881"/>
                  <a:pt x="1577" y="1881"/>
                </a:cubicBezTo>
                <a:cubicBezTo>
                  <a:pt x="1577" y="1881"/>
                  <a:pt x="1577" y="1881"/>
                  <a:pt x="1576" y="1881"/>
                </a:cubicBezTo>
                <a:cubicBezTo>
                  <a:pt x="1576" y="1881"/>
                  <a:pt x="1576" y="1882"/>
                  <a:pt x="1575" y="1882"/>
                </a:cubicBezTo>
                <a:cubicBezTo>
                  <a:pt x="1569" y="1885"/>
                  <a:pt x="1560" y="1884"/>
                  <a:pt x="1553" y="1884"/>
                </a:cubicBezTo>
                <a:cubicBezTo>
                  <a:pt x="1516" y="1884"/>
                  <a:pt x="1516" y="1884"/>
                  <a:pt x="1516" y="1884"/>
                </a:cubicBezTo>
                <a:cubicBezTo>
                  <a:pt x="1509" y="1884"/>
                  <a:pt x="1501" y="1883"/>
                  <a:pt x="1494" y="1879"/>
                </a:cubicBezTo>
                <a:cubicBezTo>
                  <a:pt x="1492" y="1878"/>
                  <a:pt x="1490" y="1877"/>
                  <a:pt x="1488" y="1876"/>
                </a:cubicBezTo>
                <a:cubicBezTo>
                  <a:pt x="1486" y="1874"/>
                  <a:pt x="1484" y="1872"/>
                  <a:pt x="1483" y="1871"/>
                </a:cubicBezTo>
                <a:cubicBezTo>
                  <a:pt x="1481" y="1868"/>
                  <a:pt x="1481" y="1868"/>
                  <a:pt x="1481" y="1868"/>
                </a:cubicBezTo>
                <a:cubicBezTo>
                  <a:pt x="1478" y="1861"/>
                  <a:pt x="1473" y="1854"/>
                  <a:pt x="1470" y="1847"/>
                </a:cubicBezTo>
                <a:cubicBezTo>
                  <a:pt x="1467" y="1842"/>
                  <a:pt x="1469" y="1839"/>
                  <a:pt x="1474" y="1837"/>
                </a:cubicBezTo>
                <a:close/>
                <a:moveTo>
                  <a:pt x="965" y="1871"/>
                </a:moveTo>
                <a:cubicBezTo>
                  <a:pt x="966" y="1869"/>
                  <a:pt x="966" y="1868"/>
                  <a:pt x="966" y="1866"/>
                </a:cubicBezTo>
                <a:cubicBezTo>
                  <a:pt x="966" y="1866"/>
                  <a:pt x="966" y="1866"/>
                  <a:pt x="966" y="1866"/>
                </a:cubicBezTo>
                <a:cubicBezTo>
                  <a:pt x="967" y="1861"/>
                  <a:pt x="966" y="1855"/>
                  <a:pt x="968" y="1850"/>
                </a:cubicBezTo>
                <a:cubicBezTo>
                  <a:pt x="968" y="1848"/>
                  <a:pt x="968" y="1848"/>
                  <a:pt x="968" y="1848"/>
                </a:cubicBezTo>
                <a:cubicBezTo>
                  <a:pt x="968" y="1846"/>
                  <a:pt x="969" y="1845"/>
                  <a:pt x="970" y="1843"/>
                </a:cubicBezTo>
                <a:cubicBezTo>
                  <a:pt x="971" y="1842"/>
                  <a:pt x="973" y="1841"/>
                  <a:pt x="974" y="1841"/>
                </a:cubicBezTo>
                <a:cubicBezTo>
                  <a:pt x="974" y="1840"/>
                  <a:pt x="974" y="1840"/>
                  <a:pt x="974" y="1840"/>
                </a:cubicBezTo>
                <a:cubicBezTo>
                  <a:pt x="975" y="1840"/>
                  <a:pt x="975" y="1840"/>
                  <a:pt x="975" y="1840"/>
                </a:cubicBezTo>
                <a:cubicBezTo>
                  <a:pt x="976" y="1840"/>
                  <a:pt x="976" y="1839"/>
                  <a:pt x="976" y="1839"/>
                </a:cubicBezTo>
                <a:cubicBezTo>
                  <a:pt x="976" y="1839"/>
                  <a:pt x="977" y="1839"/>
                  <a:pt x="977" y="1839"/>
                </a:cubicBezTo>
                <a:cubicBezTo>
                  <a:pt x="978" y="1839"/>
                  <a:pt x="978" y="1838"/>
                  <a:pt x="979" y="1838"/>
                </a:cubicBezTo>
                <a:cubicBezTo>
                  <a:pt x="980" y="1838"/>
                  <a:pt x="980" y="1838"/>
                  <a:pt x="980" y="1838"/>
                </a:cubicBezTo>
                <a:cubicBezTo>
                  <a:pt x="981" y="1837"/>
                  <a:pt x="982" y="1837"/>
                  <a:pt x="983" y="1837"/>
                </a:cubicBezTo>
                <a:cubicBezTo>
                  <a:pt x="983" y="1837"/>
                  <a:pt x="984" y="1837"/>
                  <a:pt x="984" y="1837"/>
                </a:cubicBezTo>
                <a:cubicBezTo>
                  <a:pt x="984" y="1837"/>
                  <a:pt x="984" y="1837"/>
                  <a:pt x="985" y="1837"/>
                </a:cubicBezTo>
                <a:cubicBezTo>
                  <a:pt x="985" y="1837"/>
                  <a:pt x="985" y="1837"/>
                  <a:pt x="986" y="1836"/>
                </a:cubicBezTo>
                <a:cubicBezTo>
                  <a:pt x="988" y="1836"/>
                  <a:pt x="991" y="1836"/>
                  <a:pt x="993" y="1836"/>
                </a:cubicBezTo>
                <a:cubicBezTo>
                  <a:pt x="995" y="1836"/>
                  <a:pt x="995" y="1836"/>
                  <a:pt x="995" y="1836"/>
                </a:cubicBezTo>
                <a:cubicBezTo>
                  <a:pt x="998" y="1836"/>
                  <a:pt x="1000" y="1836"/>
                  <a:pt x="1003" y="1836"/>
                </a:cubicBezTo>
                <a:cubicBezTo>
                  <a:pt x="1038" y="1836"/>
                  <a:pt x="1038" y="1836"/>
                  <a:pt x="1038" y="1836"/>
                </a:cubicBezTo>
                <a:cubicBezTo>
                  <a:pt x="1038" y="1836"/>
                  <a:pt x="1039" y="1836"/>
                  <a:pt x="1040" y="1836"/>
                </a:cubicBezTo>
                <a:cubicBezTo>
                  <a:pt x="1040" y="1836"/>
                  <a:pt x="1040" y="1836"/>
                  <a:pt x="1041" y="1836"/>
                </a:cubicBezTo>
                <a:cubicBezTo>
                  <a:pt x="1042" y="1836"/>
                  <a:pt x="1042" y="1836"/>
                  <a:pt x="1043" y="1836"/>
                </a:cubicBezTo>
                <a:cubicBezTo>
                  <a:pt x="1050" y="1837"/>
                  <a:pt x="1058" y="1839"/>
                  <a:pt x="1061" y="1844"/>
                </a:cubicBezTo>
                <a:cubicBezTo>
                  <a:pt x="1061" y="1845"/>
                  <a:pt x="1061" y="1845"/>
                  <a:pt x="1061" y="1846"/>
                </a:cubicBezTo>
                <a:cubicBezTo>
                  <a:pt x="1061" y="1846"/>
                  <a:pt x="1061" y="1846"/>
                  <a:pt x="1061" y="1846"/>
                </a:cubicBezTo>
                <a:cubicBezTo>
                  <a:pt x="1063" y="1853"/>
                  <a:pt x="1062" y="1863"/>
                  <a:pt x="1062" y="1870"/>
                </a:cubicBezTo>
                <a:cubicBezTo>
                  <a:pt x="1062" y="1872"/>
                  <a:pt x="1062" y="1872"/>
                  <a:pt x="1062" y="1872"/>
                </a:cubicBezTo>
                <a:cubicBezTo>
                  <a:pt x="1062" y="1873"/>
                  <a:pt x="1062" y="1874"/>
                  <a:pt x="1061" y="1876"/>
                </a:cubicBezTo>
                <a:cubicBezTo>
                  <a:pt x="1054" y="1889"/>
                  <a:pt x="1022" y="1885"/>
                  <a:pt x="1010" y="1885"/>
                </a:cubicBezTo>
                <a:cubicBezTo>
                  <a:pt x="1003" y="1885"/>
                  <a:pt x="996" y="1885"/>
                  <a:pt x="989" y="1885"/>
                </a:cubicBezTo>
                <a:cubicBezTo>
                  <a:pt x="983" y="1885"/>
                  <a:pt x="974" y="1884"/>
                  <a:pt x="969" y="1879"/>
                </a:cubicBezTo>
                <a:cubicBezTo>
                  <a:pt x="969" y="1879"/>
                  <a:pt x="969" y="1879"/>
                  <a:pt x="968" y="1879"/>
                </a:cubicBezTo>
                <a:cubicBezTo>
                  <a:pt x="968" y="1879"/>
                  <a:pt x="968" y="1878"/>
                  <a:pt x="968" y="1878"/>
                </a:cubicBezTo>
                <a:cubicBezTo>
                  <a:pt x="967" y="1878"/>
                  <a:pt x="967" y="1878"/>
                  <a:pt x="967" y="1877"/>
                </a:cubicBezTo>
                <a:cubicBezTo>
                  <a:pt x="967" y="1877"/>
                  <a:pt x="967" y="1877"/>
                  <a:pt x="967" y="1877"/>
                </a:cubicBezTo>
                <a:cubicBezTo>
                  <a:pt x="967" y="1877"/>
                  <a:pt x="967" y="1877"/>
                  <a:pt x="967" y="1877"/>
                </a:cubicBezTo>
                <a:cubicBezTo>
                  <a:pt x="966" y="1876"/>
                  <a:pt x="966" y="1876"/>
                  <a:pt x="966" y="1875"/>
                </a:cubicBezTo>
                <a:cubicBezTo>
                  <a:pt x="965" y="1874"/>
                  <a:pt x="965" y="1873"/>
                  <a:pt x="965" y="1872"/>
                </a:cubicBezTo>
                <a:lnTo>
                  <a:pt x="965" y="1871"/>
                </a:lnTo>
                <a:close/>
                <a:moveTo>
                  <a:pt x="956" y="1955"/>
                </a:moveTo>
                <a:cubicBezTo>
                  <a:pt x="956" y="1952"/>
                  <a:pt x="956" y="1952"/>
                  <a:pt x="956" y="1952"/>
                </a:cubicBezTo>
                <a:cubicBezTo>
                  <a:pt x="956" y="1952"/>
                  <a:pt x="956" y="1951"/>
                  <a:pt x="956" y="1951"/>
                </a:cubicBezTo>
                <a:cubicBezTo>
                  <a:pt x="957" y="1943"/>
                  <a:pt x="958" y="1935"/>
                  <a:pt x="959" y="1926"/>
                </a:cubicBezTo>
                <a:cubicBezTo>
                  <a:pt x="959" y="1926"/>
                  <a:pt x="959" y="1926"/>
                  <a:pt x="959" y="1926"/>
                </a:cubicBezTo>
                <a:cubicBezTo>
                  <a:pt x="959" y="1926"/>
                  <a:pt x="959" y="1926"/>
                  <a:pt x="959" y="1925"/>
                </a:cubicBezTo>
                <a:cubicBezTo>
                  <a:pt x="963" y="1907"/>
                  <a:pt x="999" y="1911"/>
                  <a:pt x="1013" y="1911"/>
                </a:cubicBezTo>
                <a:cubicBezTo>
                  <a:pt x="1025" y="1911"/>
                  <a:pt x="1055" y="1908"/>
                  <a:pt x="1061" y="1921"/>
                </a:cubicBezTo>
                <a:cubicBezTo>
                  <a:pt x="1062" y="1923"/>
                  <a:pt x="1063" y="1924"/>
                  <a:pt x="1063" y="1926"/>
                </a:cubicBezTo>
                <a:cubicBezTo>
                  <a:pt x="1063" y="1940"/>
                  <a:pt x="1063" y="1940"/>
                  <a:pt x="1063" y="1940"/>
                </a:cubicBezTo>
                <a:cubicBezTo>
                  <a:pt x="1063" y="1945"/>
                  <a:pt x="1063" y="1949"/>
                  <a:pt x="1063" y="1953"/>
                </a:cubicBezTo>
                <a:cubicBezTo>
                  <a:pt x="1063" y="1953"/>
                  <a:pt x="1063" y="1953"/>
                  <a:pt x="1063" y="1953"/>
                </a:cubicBezTo>
                <a:cubicBezTo>
                  <a:pt x="1063" y="1955"/>
                  <a:pt x="1063" y="1955"/>
                  <a:pt x="1063" y="1955"/>
                </a:cubicBezTo>
                <a:cubicBezTo>
                  <a:pt x="1063" y="1957"/>
                  <a:pt x="1062" y="1959"/>
                  <a:pt x="1061" y="1961"/>
                </a:cubicBezTo>
                <a:cubicBezTo>
                  <a:pt x="1061" y="1962"/>
                  <a:pt x="1060" y="1962"/>
                  <a:pt x="1060" y="1962"/>
                </a:cubicBezTo>
                <a:cubicBezTo>
                  <a:pt x="1060" y="1963"/>
                  <a:pt x="1059" y="1963"/>
                  <a:pt x="1059" y="1964"/>
                </a:cubicBezTo>
                <a:cubicBezTo>
                  <a:pt x="1058" y="1964"/>
                  <a:pt x="1058" y="1964"/>
                  <a:pt x="1058" y="1964"/>
                </a:cubicBezTo>
                <a:cubicBezTo>
                  <a:pt x="1055" y="1967"/>
                  <a:pt x="1051" y="1969"/>
                  <a:pt x="1046" y="1970"/>
                </a:cubicBezTo>
                <a:cubicBezTo>
                  <a:pt x="1046" y="1970"/>
                  <a:pt x="1046" y="1970"/>
                  <a:pt x="1046" y="1970"/>
                </a:cubicBezTo>
                <a:cubicBezTo>
                  <a:pt x="1046" y="1970"/>
                  <a:pt x="1046" y="1970"/>
                  <a:pt x="1046" y="1970"/>
                </a:cubicBezTo>
                <a:cubicBezTo>
                  <a:pt x="1044" y="1971"/>
                  <a:pt x="1043" y="1971"/>
                  <a:pt x="1041" y="1971"/>
                </a:cubicBezTo>
                <a:cubicBezTo>
                  <a:pt x="1041" y="1971"/>
                  <a:pt x="1040" y="1971"/>
                  <a:pt x="1040" y="1971"/>
                </a:cubicBezTo>
                <a:cubicBezTo>
                  <a:pt x="1038" y="1971"/>
                  <a:pt x="1037" y="1972"/>
                  <a:pt x="1035" y="1972"/>
                </a:cubicBezTo>
                <a:cubicBezTo>
                  <a:pt x="1035" y="1972"/>
                  <a:pt x="1035" y="1972"/>
                  <a:pt x="1035" y="1972"/>
                </a:cubicBezTo>
                <a:cubicBezTo>
                  <a:pt x="982" y="1972"/>
                  <a:pt x="982" y="1972"/>
                  <a:pt x="982" y="1972"/>
                </a:cubicBezTo>
                <a:cubicBezTo>
                  <a:pt x="976" y="1972"/>
                  <a:pt x="969" y="1971"/>
                  <a:pt x="963" y="1967"/>
                </a:cubicBezTo>
                <a:cubicBezTo>
                  <a:pt x="963" y="1967"/>
                  <a:pt x="963" y="1967"/>
                  <a:pt x="963" y="1967"/>
                </a:cubicBezTo>
                <a:cubicBezTo>
                  <a:pt x="963" y="1967"/>
                  <a:pt x="963" y="1967"/>
                  <a:pt x="963" y="1967"/>
                </a:cubicBezTo>
                <a:cubicBezTo>
                  <a:pt x="962" y="1966"/>
                  <a:pt x="961" y="1965"/>
                  <a:pt x="960" y="1964"/>
                </a:cubicBezTo>
                <a:cubicBezTo>
                  <a:pt x="959" y="1964"/>
                  <a:pt x="958" y="1963"/>
                  <a:pt x="958" y="1962"/>
                </a:cubicBezTo>
                <a:cubicBezTo>
                  <a:pt x="958" y="1962"/>
                  <a:pt x="958" y="1962"/>
                  <a:pt x="957" y="1962"/>
                </a:cubicBezTo>
                <a:cubicBezTo>
                  <a:pt x="956" y="1960"/>
                  <a:pt x="956" y="1957"/>
                  <a:pt x="956" y="1955"/>
                </a:cubicBezTo>
                <a:close/>
                <a:moveTo>
                  <a:pt x="820" y="1872"/>
                </a:moveTo>
                <a:cubicBezTo>
                  <a:pt x="820" y="1872"/>
                  <a:pt x="820" y="1872"/>
                  <a:pt x="820" y="1872"/>
                </a:cubicBezTo>
                <a:cubicBezTo>
                  <a:pt x="820" y="1872"/>
                  <a:pt x="820" y="1872"/>
                  <a:pt x="820" y="1872"/>
                </a:cubicBezTo>
                <a:cubicBezTo>
                  <a:pt x="820" y="1870"/>
                  <a:pt x="821" y="1868"/>
                  <a:pt x="822" y="1866"/>
                </a:cubicBezTo>
                <a:cubicBezTo>
                  <a:pt x="823" y="1861"/>
                  <a:pt x="824" y="1854"/>
                  <a:pt x="827" y="1849"/>
                </a:cubicBezTo>
                <a:cubicBezTo>
                  <a:pt x="827" y="1848"/>
                  <a:pt x="827" y="1848"/>
                  <a:pt x="827" y="1848"/>
                </a:cubicBezTo>
                <a:cubicBezTo>
                  <a:pt x="827" y="1847"/>
                  <a:pt x="829" y="1845"/>
                  <a:pt x="830" y="1844"/>
                </a:cubicBezTo>
                <a:cubicBezTo>
                  <a:pt x="831" y="1843"/>
                  <a:pt x="832" y="1842"/>
                  <a:pt x="833" y="1841"/>
                </a:cubicBezTo>
                <a:cubicBezTo>
                  <a:pt x="837" y="1839"/>
                  <a:pt x="840" y="1838"/>
                  <a:pt x="844" y="1837"/>
                </a:cubicBezTo>
                <a:cubicBezTo>
                  <a:pt x="845" y="1837"/>
                  <a:pt x="845" y="1837"/>
                  <a:pt x="845" y="1837"/>
                </a:cubicBezTo>
                <a:cubicBezTo>
                  <a:pt x="848" y="1836"/>
                  <a:pt x="851" y="1836"/>
                  <a:pt x="855" y="1836"/>
                </a:cubicBezTo>
                <a:cubicBezTo>
                  <a:pt x="859" y="1836"/>
                  <a:pt x="859" y="1836"/>
                  <a:pt x="859" y="1836"/>
                </a:cubicBezTo>
                <a:cubicBezTo>
                  <a:pt x="861" y="1836"/>
                  <a:pt x="862" y="1836"/>
                  <a:pt x="864" y="1836"/>
                </a:cubicBezTo>
                <a:cubicBezTo>
                  <a:pt x="873" y="1836"/>
                  <a:pt x="883" y="1836"/>
                  <a:pt x="893" y="1836"/>
                </a:cubicBezTo>
                <a:cubicBezTo>
                  <a:pt x="894" y="1836"/>
                  <a:pt x="896" y="1836"/>
                  <a:pt x="897" y="1836"/>
                </a:cubicBezTo>
                <a:cubicBezTo>
                  <a:pt x="899" y="1836"/>
                  <a:pt x="899" y="1836"/>
                  <a:pt x="899" y="1836"/>
                </a:cubicBezTo>
                <a:cubicBezTo>
                  <a:pt x="899" y="1836"/>
                  <a:pt x="899" y="1836"/>
                  <a:pt x="900" y="1836"/>
                </a:cubicBezTo>
                <a:cubicBezTo>
                  <a:pt x="901" y="1836"/>
                  <a:pt x="902" y="1836"/>
                  <a:pt x="904" y="1836"/>
                </a:cubicBezTo>
                <a:cubicBezTo>
                  <a:pt x="904" y="1836"/>
                  <a:pt x="904" y="1836"/>
                  <a:pt x="904" y="1836"/>
                </a:cubicBezTo>
                <a:cubicBezTo>
                  <a:pt x="911" y="1837"/>
                  <a:pt x="919" y="1839"/>
                  <a:pt x="921" y="1846"/>
                </a:cubicBezTo>
                <a:cubicBezTo>
                  <a:pt x="921" y="1846"/>
                  <a:pt x="921" y="1846"/>
                  <a:pt x="921" y="1846"/>
                </a:cubicBezTo>
                <a:cubicBezTo>
                  <a:pt x="921" y="1846"/>
                  <a:pt x="921" y="1846"/>
                  <a:pt x="921" y="1846"/>
                </a:cubicBezTo>
                <a:cubicBezTo>
                  <a:pt x="921" y="1854"/>
                  <a:pt x="918" y="1863"/>
                  <a:pt x="917" y="1870"/>
                </a:cubicBezTo>
                <a:cubicBezTo>
                  <a:pt x="917" y="1870"/>
                  <a:pt x="917" y="1870"/>
                  <a:pt x="917" y="1870"/>
                </a:cubicBezTo>
                <a:cubicBezTo>
                  <a:pt x="917" y="1872"/>
                  <a:pt x="917" y="1872"/>
                  <a:pt x="917" y="1872"/>
                </a:cubicBezTo>
                <a:cubicBezTo>
                  <a:pt x="916" y="1873"/>
                  <a:pt x="916" y="1875"/>
                  <a:pt x="914" y="1876"/>
                </a:cubicBezTo>
                <a:cubicBezTo>
                  <a:pt x="914" y="1876"/>
                  <a:pt x="914" y="1877"/>
                  <a:pt x="914" y="1877"/>
                </a:cubicBezTo>
                <a:cubicBezTo>
                  <a:pt x="914" y="1877"/>
                  <a:pt x="914" y="1877"/>
                  <a:pt x="914" y="1877"/>
                </a:cubicBezTo>
                <a:cubicBezTo>
                  <a:pt x="914" y="1877"/>
                  <a:pt x="914" y="1877"/>
                  <a:pt x="914" y="1877"/>
                </a:cubicBezTo>
                <a:cubicBezTo>
                  <a:pt x="904" y="1889"/>
                  <a:pt x="878" y="1886"/>
                  <a:pt x="865" y="1886"/>
                </a:cubicBezTo>
                <a:cubicBezTo>
                  <a:pt x="857" y="1886"/>
                  <a:pt x="849" y="1886"/>
                  <a:pt x="841" y="1886"/>
                </a:cubicBezTo>
                <a:cubicBezTo>
                  <a:pt x="834" y="1886"/>
                  <a:pt x="824" y="1884"/>
                  <a:pt x="820" y="1877"/>
                </a:cubicBezTo>
                <a:cubicBezTo>
                  <a:pt x="820" y="1877"/>
                  <a:pt x="820" y="1876"/>
                  <a:pt x="820" y="1875"/>
                </a:cubicBezTo>
                <a:cubicBezTo>
                  <a:pt x="820" y="1875"/>
                  <a:pt x="820" y="1875"/>
                  <a:pt x="820" y="1874"/>
                </a:cubicBezTo>
                <a:cubicBezTo>
                  <a:pt x="820" y="1873"/>
                  <a:pt x="820" y="1873"/>
                  <a:pt x="820" y="1872"/>
                </a:cubicBezTo>
                <a:close/>
                <a:moveTo>
                  <a:pt x="795" y="1956"/>
                </a:moveTo>
                <a:cubicBezTo>
                  <a:pt x="796" y="1952"/>
                  <a:pt x="796" y="1952"/>
                  <a:pt x="796" y="1952"/>
                </a:cubicBezTo>
                <a:cubicBezTo>
                  <a:pt x="796" y="1952"/>
                  <a:pt x="796" y="1952"/>
                  <a:pt x="796" y="1952"/>
                </a:cubicBezTo>
                <a:cubicBezTo>
                  <a:pt x="796" y="1951"/>
                  <a:pt x="796" y="1951"/>
                  <a:pt x="796" y="1950"/>
                </a:cubicBezTo>
                <a:cubicBezTo>
                  <a:pt x="803" y="1926"/>
                  <a:pt x="803" y="1926"/>
                  <a:pt x="803" y="1926"/>
                </a:cubicBezTo>
                <a:cubicBezTo>
                  <a:pt x="804" y="1926"/>
                  <a:pt x="804" y="1926"/>
                  <a:pt x="804" y="1925"/>
                </a:cubicBezTo>
                <a:cubicBezTo>
                  <a:pt x="811" y="1908"/>
                  <a:pt x="843" y="1911"/>
                  <a:pt x="859" y="1911"/>
                </a:cubicBezTo>
                <a:cubicBezTo>
                  <a:pt x="865" y="1911"/>
                  <a:pt x="877" y="1910"/>
                  <a:pt x="888" y="1912"/>
                </a:cubicBezTo>
                <a:cubicBezTo>
                  <a:pt x="890" y="1912"/>
                  <a:pt x="891" y="1912"/>
                  <a:pt x="893" y="1913"/>
                </a:cubicBezTo>
                <a:cubicBezTo>
                  <a:pt x="894" y="1913"/>
                  <a:pt x="894" y="1913"/>
                  <a:pt x="894" y="1913"/>
                </a:cubicBezTo>
                <a:cubicBezTo>
                  <a:pt x="899" y="1914"/>
                  <a:pt x="903" y="1916"/>
                  <a:pt x="905" y="1920"/>
                </a:cubicBezTo>
                <a:cubicBezTo>
                  <a:pt x="906" y="1920"/>
                  <a:pt x="906" y="1920"/>
                  <a:pt x="906" y="1920"/>
                </a:cubicBezTo>
                <a:cubicBezTo>
                  <a:pt x="906" y="1921"/>
                  <a:pt x="906" y="1921"/>
                  <a:pt x="906" y="1921"/>
                </a:cubicBezTo>
                <a:cubicBezTo>
                  <a:pt x="906" y="1921"/>
                  <a:pt x="906" y="1921"/>
                  <a:pt x="906" y="1921"/>
                </a:cubicBezTo>
                <a:cubicBezTo>
                  <a:pt x="907" y="1923"/>
                  <a:pt x="907" y="1924"/>
                  <a:pt x="907" y="1926"/>
                </a:cubicBezTo>
                <a:cubicBezTo>
                  <a:pt x="907" y="1928"/>
                  <a:pt x="907" y="1928"/>
                  <a:pt x="907" y="1928"/>
                </a:cubicBezTo>
                <a:cubicBezTo>
                  <a:pt x="907" y="1928"/>
                  <a:pt x="907" y="1928"/>
                  <a:pt x="907" y="1928"/>
                </a:cubicBezTo>
                <a:cubicBezTo>
                  <a:pt x="906" y="1932"/>
                  <a:pt x="905" y="1936"/>
                  <a:pt x="904" y="1941"/>
                </a:cubicBezTo>
                <a:cubicBezTo>
                  <a:pt x="902" y="1955"/>
                  <a:pt x="902" y="1955"/>
                  <a:pt x="902" y="1955"/>
                </a:cubicBezTo>
                <a:cubicBezTo>
                  <a:pt x="901" y="1958"/>
                  <a:pt x="900" y="1960"/>
                  <a:pt x="899" y="1962"/>
                </a:cubicBezTo>
                <a:cubicBezTo>
                  <a:pt x="898" y="1962"/>
                  <a:pt x="898" y="1962"/>
                  <a:pt x="898" y="1962"/>
                </a:cubicBezTo>
                <a:cubicBezTo>
                  <a:pt x="898" y="1963"/>
                  <a:pt x="897" y="1963"/>
                  <a:pt x="897" y="1963"/>
                </a:cubicBezTo>
                <a:cubicBezTo>
                  <a:pt x="897" y="1964"/>
                  <a:pt x="896" y="1964"/>
                  <a:pt x="895" y="1965"/>
                </a:cubicBezTo>
                <a:cubicBezTo>
                  <a:pt x="891" y="1968"/>
                  <a:pt x="887" y="1969"/>
                  <a:pt x="882" y="1971"/>
                </a:cubicBezTo>
                <a:cubicBezTo>
                  <a:pt x="882" y="1971"/>
                  <a:pt x="882" y="1971"/>
                  <a:pt x="882" y="1971"/>
                </a:cubicBezTo>
                <a:cubicBezTo>
                  <a:pt x="882" y="1971"/>
                  <a:pt x="882" y="1971"/>
                  <a:pt x="882" y="1971"/>
                </a:cubicBezTo>
                <a:cubicBezTo>
                  <a:pt x="880" y="1971"/>
                  <a:pt x="879" y="1971"/>
                  <a:pt x="877" y="1971"/>
                </a:cubicBezTo>
                <a:cubicBezTo>
                  <a:pt x="877" y="1972"/>
                  <a:pt x="876" y="1972"/>
                  <a:pt x="876" y="1972"/>
                </a:cubicBezTo>
                <a:cubicBezTo>
                  <a:pt x="874" y="1972"/>
                  <a:pt x="872" y="1972"/>
                  <a:pt x="871" y="1972"/>
                </a:cubicBezTo>
                <a:cubicBezTo>
                  <a:pt x="871" y="1972"/>
                  <a:pt x="871" y="1972"/>
                  <a:pt x="871" y="1972"/>
                </a:cubicBezTo>
                <a:cubicBezTo>
                  <a:pt x="818" y="1972"/>
                  <a:pt x="818" y="1972"/>
                  <a:pt x="818" y="1972"/>
                </a:cubicBezTo>
                <a:cubicBezTo>
                  <a:pt x="812" y="1972"/>
                  <a:pt x="805" y="1971"/>
                  <a:pt x="799" y="1967"/>
                </a:cubicBezTo>
                <a:cubicBezTo>
                  <a:pt x="799" y="1967"/>
                  <a:pt x="799" y="1967"/>
                  <a:pt x="799" y="1967"/>
                </a:cubicBezTo>
                <a:cubicBezTo>
                  <a:pt x="799" y="1967"/>
                  <a:pt x="799" y="1967"/>
                  <a:pt x="799" y="1967"/>
                </a:cubicBezTo>
                <a:cubicBezTo>
                  <a:pt x="798" y="1967"/>
                  <a:pt x="797" y="1966"/>
                  <a:pt x="797" y="1965"/>
                </a:cubicBezTo>
                <a:cubicBezTo>
                  <a:pt x="796" y="1964"/>
                  <a:pt x="796" y="1963"/>
                  <a:pt x="795" y="1963"/>
                </a:cubicBezTo>
                <a:cubicBezTo>
                  <a:pt x="795" y="1962"/>
                  <a:pt x="795" y="1962"/>
                  <a:pt x="795" y="1962"/>
                </a:cubicBezTo>
                <a:cubicBezTo>
                  <a:pt x="794" y="1960"/>
                  <a:pt x="794" y="1958"/>
                  <a:pt x="795" y="1956"/>
                </a:cubicBezTo>
                <a:close/>
                <a:moveTo>
                  <a:pt x="674" y="1875"/>
                </a:moveTo>
                <a:cubicBezTo>
                  <a:pt x="674" y="1872"/>
                  <a:pt x="676" y="1869"/>
                  <a:pt x="677" y="1867"/>
                </a:cubicBezTo>
                <a:cubicBezTo>
                  <a:pt x="680" y="1861"/>
                  <a:pt x="683" y="1852"/>
                  <a:pt x="687" y="1847"/>
                </a:cubicBezTo>
                <a:cubicBezTo>
                  <a:pt x="688" y="1846"/>
                  <a:pt x="688" y="1846"/>
                  <a:pt x="688" y="1846"/>
                </a:cubicBezTo>
                <a:cubicBezTo>
                  <a:pt x="688" y="1846"/>
                  <a:pt x="689" y="1845"/>
                  <a:pt x="689" y="1845"/>
                </a:cubicBezTo>
                <a:cubicBezTo>
                  <a:pt x="689" y="1845"/>
                  <a:pt x="689" y="1845"/>
                  <a:pt x="690" y="1844"/>
                </a:cubicBezTo>
                <a:cubicBezTo>
                  <a:pt x="690" y="1844"/>
                  <a:pt x="690" y="1844"/>
                  <a:pt x="690" y="1844"/>
                </a:cubicBezTo>
                <a:cubicBezTo>
                  <a:pt x="690" y="1844"/>
                  <a:pt x="691" y="1844"/>
                  <a:pt x="691" y="1843"/>
                </a:cubicBezTo>
                <a:cubicBezTo>
                  <a:pt x="695" y="1840"/>
                  <a:pt x="700" y="1838"/>
                  <a:pt x="706" y="1838"/>
                </a:cubicBezTo>
                <a:cubicBezTo>
                  <a:pt x="706" y="1837"/>
                  <a:pt x="706" y="1837"/>
                  <a:pt x="706" y="1837"/>
                </a:cubicBezTo>
                <a:cubicBezTo>
                  <a:pt x="709" y="1837"/>
                  <a:pt x="713" y="1836"/>
                  <a:pt x="716" y="1836"/>
                </a:cubicBezTo>
                <a:cubicBezTo>
                  <a:pt x="734" y="1836"/>
                  <a:pt x="734" y="1836"/>
                  <a:pt x="734" y="1836"/>
                </a:cubicBezTo>
                <a:cubicBezTo>
                  <a:pt x="740" y="1836"/>
                  <a:pt x="746" y="1836"/>
                  <a:pt x="751" y="1836"/>
                </a:cubicBezTo>
                <a:cubicBezTo>
                  <a:pt x="759" y="1836"/>
                  <a:pt x="771" y="1835"/>
                  <a:pt x="777" y="1841"/>
                </a:cubicBezTo>
                <a:cubicBezTo>
                  <a:pt x="778" y="1841"/>
                  <a:pt x="778" y="1842"/>
                  <a:pt x="778" y="1842"/>
                </a:cubicBezTo>
                <a:cubicBezTo>
                  <a:pt x="778" y="1842"/>
                  <a:pt x="779" y="1842"/>
                  <a:pt x="779" y="1842"/>
                </a:cubicBezTo>
                <a:cubicBezTo>
                  <a:pt x="779" y="1842"/>
                  <a:pt x="779" y="1843"/>
                  <a:pt x="779" y="1843"/>
                </a:cubicBezTo>
                <a:cubicBezTo>
                  <a:pt x="779" y="1843"/>
                  <a:pt x="779" y="1843"/>
                  <a:pt x="780" y="1844"/>
                </a:cubicBezTo>
                <a:cubicBezTo>
                  <a:pt x="780" y="1845"/>
                  <a:pt x="780" y="1846"/>
                  <a:pt x="780" y="1847"/>
                </a:cubicBezTo>
                <a:cubicBezTo>
                  <a:pt x="779" y="1854"/>
                  <a:pt x="774" y="1863"/>
                  <a:pt x="773" y="1867"/>
                </a:cubicBezTo>
                <a:cubicBezTo>
                  <a:pt x="773" y="1867"/>
                  <a:pt x="773" y="1867"/>
                  <a:pt x="773" y="1867"/>
                </a:cubicBezTo>
                <a:cubicBezTo>
                  <a:pt x="772" y="1869"/>
                  <a:pt x="772" y="1870"/>
                  <a:pt x="771" y="1871"/>
                </a:cubicBezTo>
                <a:cubicBezTo>
                  <a:pt x="771" y="1872"/>
                  <a:pt x="771" y="1872"/>
                  <a:pt x="771" y="1872"/>
                </a:cubicBezTo>
                <a:cubicBezTo>
                  <a:pt x="771" y="1873"/>
                  <a:pt x="771" y="1873"/>
                  <a:pt x="770" y="1873"/>
                </a:cubicBezTo>
                <a:cubicBezTo>
                  <a:pt x="770" y="1874"/>
                  <a:pt x="770" y="1874"/>
                  <a:pt x="770" y="1874"/>
                </a:cubicBezTo>
                <a:cubicBezTo>
                  <a:pt x="770" y="1875"/>
                  <a:pt x="769" y="1875"/>
                  <a:pt x="769" y="1876"/>
                </a:cubicBezTo>
                <a:cubicBezTo>
                  <a:pt x="769" y="1876"/>
                  <a:pt x="769" y="1876"/>
                  <a:pt x="768" y="1876"/>
                </a:cubicBezTo>
                <a:cubicBezTo>
                  <a:pt x="768" y="1876"/>
                  <a:pt x="768" y="1877"/>
                  <a:pt x="768" y="1877"/>
                </a:cubicBezTo>
                <a:cubicBezTo>
                  <a:pt x="768" y="1877"/>
                  <a:pt x="767" y="1877"/>
                  <a:pt x="767" y="1877"/>
                </a:cubicBezTo>
                <a:cubicBezTo>
                  <a:pt x="766" y="1878"/>
                  <a:pt x="765" y="1879"/>
                  <a:pt x="764" y="1880"/>
                </a:cubicBezTo>
                <a:cubicBezTo>
                  <a:pt x="763" y="1880"/>
                  <a:pt x="762" y="1881"/>
                  <a:pt x="761" y="1881"/>
                </a:cubicBezTo>
                <a:cubicBezTo>
                  <a:pt x="760" y="1882"/>
                  <a:pt x="760" y="1882"/>
                  <a:pt x="760" y="1882"/>
                </a:cubicBezTo>
                <a:cubicBezTo>
                  <a:pt x="760" y="1882"/>
                  <a:pt x="760" y="1882"/>
                  <a:pt x="760" y="1882"/>
                </a:cubicBezTo>
                <a:cubicBezTo>
                  <a:pt x="756" y="1883"/>
                  <a:pt x="752" y="1885"/>
                  <a:pt x="749" y="1885"/>
                </a:cubicBezTo>
                <a:cubicBezTo>
                  <a:pt x="748" y="1885"/>
                  <a:pt x="746" y="1885"/>
                  <a:pt x="745" y="1886"/>
                </a:cubicBezTo>
                <a:cubicBezTo>
                  <a:pt x="745" y="1886"/>
                  <a:pt x="745" y="1886"/>
                  <a:pt x="745" y="1886"/>
                </a:cubicBezTo>
                <a:cubicBezTo>
                  <a:pt x="738" y="1886"/>
                  <a:pt x="730" y="1886"/>
                  <a:pt x="723" y="1886"/>
                </a:cubicBezTo>
                <a:cubicBezTo>
                  <a:pt x="693" y="1886"/>
                  <a:pt x="693" y="1886"/>
                  <a:pt x="693" y="1886"/>
                </a:cubicBezTo>
                <a:cubicBezTo>
                  <a:pt x="687" y="1886"/>
                  <a:pt x="676" y="1885"/>
                  <a:pt x="674" y="1878"/>
                </a:cubicBezTo>
                <a:cubicBezTo>
                  <a:pt x="673" y="1877"/>
                  <a:pt x="673" y="1876"/>
                  <a:pt x="673" y="1876"/>
                </a:cubicBezTo>
                <a:cubicBezTo>
                  <a:pt x="673" y="1875"/>
                  <a:pt x="674" y="1875"/>
                  <a:pt x="674" y="1875"/>
                </a:cubicBezTo>
                <a:close/>
                <a:moveTo>
                  <a:pt x="647" y="1928"/>
                </a:moveTo>
                <a:cubicBezTo>
                  <a:pt x="648" y="1927"/>
                  <a:pt x="648" y="1927"/>
                  <a:pt x="648" y="1927"/>
                </a:cubicBezTo>
                <a:cubicBezTo>
                  <a:pt x="648" y="1926"/>
                  <a:pt x="648" y="1926"/>
                  <a:pt x="648" y="1926"/>
                </a:cubicBezTo>
                <a:cubicBezTo>
                  <a:pt x="649" y="1925"/>
                  <a:pt x="649" y="1924"/>
                  <a:pt x="650" y="1924"/>
                </a:cubicBezTo>
                <a:cubicBezTo>
                  <a:pt x="650" y="1924"/>
                  <a:pt x="650" y="1924"/>
                  <a:pt x="650" y="1924"/>
                </a:cubicBezTo>
                <a:cubicBezTo>
                  <a:pt x="661" y="1909"/>
                  <a:pt x="687" y="1912"/>
                  <a:pt x="703" y="1912"/>
                </a:cubicBezTo>
                <a:cubicBezTo>
                  <a:pt x="703" y="1912"/>
                  <a:pt x="703" y="1912"/>
                  <a:pt x="703" y="1912"/>
                </a:cubicBezTo>
                <a:cubicBezTo>
                  <a:pt x="708" y="1912"/>
                  <a:pt x="720" y="1911"/>
                  <a:pt x="730" y="1912"/>
                </a:cubicBezTo>
                <a:cubicBezTo>
                  <a:pt x="734" y="1912"/>
                  <a:pt x="737" y="1912"/>
                  <a:pt x="740" y="1913"/>
                </a:cubicBezTo>
                <a:cubicBezTo>
                  <a:pt x="742" y="1913"/>
                  <a:pt x="744" y="1914"/>
                  <a:pt x="745" y="1915"/>
                </a:cubicBezTo>
                <a:cubicBezTo>
                  <a:pt x="749" y="1917"/>
                  <a:pt x="752" y="1919"/>
                  <a:pt x="752" y="1923"/>
                </a:cubicBezTo>
                <a:cubicBezTo>
                  <a:pt x="752" y="1923"/>
                  <a:pt x="752" y="1924"/>
                  <a:pt x="752" y="1924"/>
                </a:cubicBezTo>
                <a:cubicBezTo>
                  <a:pt x="752" y="1924"/>
                  <a:pt x="752" y="1924"/>
                  <a:pt x="752" y="1924"/>
                </a:cubicBezTo>
                <a:cubicBezTo>
                  <a:pt x="752" y="1925"/>
                  <a:pt x="751" y="1926"/>
                  <a:pt x="751" y="1927"/>
                </a:cubicBezTo>
                <a:cubicBezTo>
                  <a:pt x="741" y="1956"/>
                  <a:pt x="741" y="1956"/>
                  <a:pt x="741" y="1956"/>
                </a:cubicBezTo>
                <a:cubicBezTo>
                  <a:pt x="740" y="1958"/>
                  <a:pt x="738" y="1960"/>
                  <a:pt x="736" y="1962"/>
                </a:cubicBezTo>
                <a:cubicBezTo>
                  <a:pt x="734" y="1964"/>
                  <a:pt x="731" y="1966"/>
                  <a:pt x="728" y="1967"/>
                </a:cubicBezTo>
                <a:cubicBezTo>
                  <a:pt x="728" y="1968"/>
                  <a:pt x="727" y="1968"/>
                  <a:pt x="727" y="1968"/>
                </a:cubicBezTo>
                <a:cubicBezTo>
                  <a:pt x="723" y="1970"/>
                  <a:pt x="718" y="1971"/>
                  <a:pt x="713" y="1972"/>
                </a:cubicBezTo>
                <a:cubicBezTo>
                  <a:pt x="713" y="1972"/>
                  <a:pt x="713" y="1972"/>
                  <a:pt x="713" y="1972"/>
                </a:cubicBezTo>
                <a:cubicBezTo>
                  <a:pt x="712" y="1972"/>
                  <a:pt x="711" y="1972"/>
                  <a:pt x="710" y="1972"/>
                </a:cubicBezTo>
                <a:cubicBezTo>
                  <a:pt x="701" y="1973"/>
                  <a:pt x="692" y="1972"/>
                  <a:pt x="682" y="1972"/>
                </a:cubicBezTo>
                <a:cubicBezTo>
                  <a:pt x="673" y="1973"/>
                  <a:pt x="663" y="1973"/>
                  <a:pt x="654" y="1973"/>
                </a:cubicBezTo>
                <a:cubicBezTo>
                  <a:pt x="647" y="1973"/>
                  <a:pt x="638" y="1971"/>
                  <a:pt x="634" y="1966"/>
                </a:cubicBezTo>
                <a:cubicBezTo>
                  <a:pt x="634" y="1965"/>
                  <a:pt x="634" y="1965"/>
                  <a:pt x="633" y="1965"/>
                </a:cubicBezTo>
                <a:cubicBezTo>
                  <a:pt x="633" y="1964"/>
                  <a:pt x="633" y="1964"/>
                  <a:pt x="633" y="1964"/>
                </a:cubicBezTo>
                <a:cubicBezTo>
                  <a:pt x="633" y="1963"/>
                  <a:pt x="633" y="1963"/>
                  <a:pt x="632" y="1963"/>
                </a:cubicBezTo>
                <a:cubicBezTo>
                  <a:pt x="632" y="1963"/>
                  <a:pt x="632" y="1962"/>
                  <a:pt x="632" y="1962"/>
                </a:cubicBezTo>
                <a:cubicBezTo>
                  <a:pt x="632" y="1962"/>
                  <a:pt x="632" y="1962"/>
                  <a:pt x="632" y="1962"/>
                </a:cubicBezTo>
                <a:cubicBezTo>
                  <a:pt x="632" y="1962"/>
                  <a:pt x="632" y="1961"/>
                  <a:pt x="632" y="1960"/>
                </a:cubicBezTo>
                <a:cubicBezTo>
                  <a:pt x="632" y="1959"/>
                  <a:pt x="632" y="1959"/>
                  <a:pt x="633" y="1959"/>
                </a:cubicBezTo>
                <a:cubicBezTo>
                  <a:pt x="633" y="1958"/>
                  <a:pt x="633" y="1957"/>
                  <a:pt x="633" y="1956"/>
                </a:cubicBezTo>
                <a:cubicBezTo>
                  <a:pt x="633" y="1956"/>
                  <a:pt x="633" y="1956"/>
                  <a:pt x="633" y="1956"/>
                </a:cubicBezTo>
                <a:cubicBezTo>
                  <a:pt x="634" y="1955"/>
                  <a:pt x="634" y="1955"/>
                  <a:pt x="634" y="1955"/>
                </a:cubicBezTo>
                <a:cubicBezTo>
                  <a:pt x="634" y="1954"/>
                  <a:pt x="635" y="1953"/>
                  <a:pt x="635" y="1952"/>
                </a:cubicBezTo>
                <a:cubicBezTo>
                  <a:pt x="639" y="1944"/>
                  <a:pt x="643" y="1936"/>
                  <a:pt x="647" y="1928"/>
                </a:cubicBezTo>
                <a:cubicBezTo>
                  <a:pt x="647" y="1928"/>
                  <a:pt x="647" y="1928"/>
                  <a:pt x="647" y="1928"/>
                </a:cubicBezTo>
                <a:close/>
                <a:moveTo>
                  <a:pt x="527" y="1875"/>
                </a:moveTo>
                <a:cubicBezTo>
                  <a:pt x="528" y="1873"/>
                  <a:pt x="531" y="1870"/>
                  <a:pt x="532" y="1868"/>
                </a:cubicBezTo>
                <a:cubicBezTo>
                  <a:pt x="536" y="1861"/>
                  <a:pt x="541" y="1854"/>
                  <a:pt x="546" y="1848"/>
                </a:cubicBezTo>
                <a:cubicBezTo>
                  <a:pt x="546" y="1847"/>
                  <a:pt x="546" y="1847"/>
                  <a:pt x="547" y="1847"/>
                </a:cubicBezTo>
                <a:cubicBezTo>
                  <a:pt x="547" y="1847"/>
                  <a:pt x="547" y="1847"/>
                  <a:pt x="547" y="1846"/>
                </a:cubicBezTo>
                <a:cubicBezTo>
                  <a:pt x="561" y="1833"/>
                  <a:pt x="590" y="1837"/>
                  <a:pt x="608" y="1837"/>
                </a:cubicBezTo>
                <a:cubicBezTo>
                  <a:pt x="616" y="1837"/>
                  <a:pt x="626" y="1835"/>
                  <a:pt x="634" y="1839"/>
                </a:cubicBezTo>
                <a:cubicBezTo>
                  <a:pt x="634" y="1839"/>
                  <a:pt x="634" y="1839"/>
                  <a:pt x="634" y="1839"/>
                </a:cubicBezTo>
                <a:cubicBezTo>
                  <a:pt x="634" y="1839"/>
                  <a:pt x="635" y="1839"/>
                  <a:pt x="636" y="1840"/>
                </a:cubicBezTo>
                <a:cubicBezTo>
                  <a:pt x="636" y="1840"/>
                  <a:pt x="636" y="1840"/>
                  <a:pt x="636" y="1840"/>
                </a:cubicBezTo>
                <a:cubicBezTo>
                  <a:pt x="638" y="1841"/>
                  <a:pt x="639" y="1843"/>
                  <a:pt x="639" y="1844"/>
                </a:cubicBezTo>
                <a:cubicBezTo>
                  <a:pt x="640" y="1845"/>
                  <a:pt x="640" y="1847"/>
                  <a:pt x="639" y="1849"/>
                </a:cubicBezTo>
                <a:cubicBezTo>
                  <a:pt x="638" y="1850"/>
                  <a:pt x="638" y="1850"/>
                  <a:pt x="638" y="1850"/>
                </a:cubicBezTo>
                <a:cubicBezTo>
                  <a:pt x="637" y="1854"/>
                  <a:pt x="633" y="1858"/>
                  <a:pt x="631" y="1862"/>
                </a:cubicBezTo>
                <a:cubicBezTo>
                  <a:pt x="631" y="1862"/>
                  <a:pt x="631" y="1862"/>
                  <a:pt x="631" y="1862"/>
                </a:cubicBezTo>
                <a:cubicBezTo>
                  <a:pt x="625" y="1873"/>
                  <a:pt x="625" y="1873"/>
                  <a:pt x="625" y="1873"/>
                </a:cubicBezTo>
                <a:cubicBezTo>
                  <a:pt x="624" y="1874"/>
                  <a:pt x="623" y="1876"/>
                  <a:pt x="621" y="1878"/>
                </a:cubicBezTo>
                <a:cubicBezTo>
                  <a:pt x="618" y="1879"/>
                  <a:pt x="616" y="1881"/>
                  <a:pt x="613" y="1882"/>
                </a:cubicBezTo>
                <a:cubicBezTo>
                  <a:pt x="612" y="1882"/>
                  <a:pt x="611" y="1883"/>
                  <a:pt x="610" y="1883"/>
                </a:cubicBezTo>
                <a:cubicBezTo>
                  <a:pt x="610" y="1883"/>
                  <a:pt x="609" y="1883"/>
                  <a:pt x="609" y="1884"/>
                </a:cubicBezTo>
                <a:cubicBezTo>
                  <a:pt x="609" y="1884"/>
                  <a:pt x="609" y="1884"/>
                  <a:pt x="609" y="1884"/>
                </a:cubicBezTo>
                <a:cubicBezTo>
                  <a:pt x="607" y="1884"/>
                  <a:pt x="605" y="1885"/>
                  <a:pt x="603" y="1885"/>
                </a:cubicBezTo>
                <a:cubicBezTo>
                  <a:pt x="599" y="1886"/>
                  <a:pt x="596" y="1886"/>
                  <a:pt x="592" y="1886"/>
                </a:cubicBezTo>
                <a:cubicBezTo>
                  <a:pt x="582" y="1886"/>
                  <a:pt x="582" y="1886"/>
                  <a:pt x="582" y="1886"/>
                </a:cubicBezTo>
                <a:cubicBezTo>
                  <a:pt x="582" y="1886"/>
                  <a:pt x="582" y="1886"/>
                  <a:pt x="582" y="1886"/>
                </a:cubicBezTo>
                <a:cubicBezTo>
                  <a:pt x="570" y="1886"/>
                  <a:pt x="557" y="1886"/>
                  <a:pt x="545" y="1886"/>
                </a:cubicBezTo>
                <a:cubicBezTo>
                  <a:pt x="540" y="1886"/>
                  <a:pt x="528" y="1885"/>
                  <a:pt x="527" y="1878"/>
                </a:cubicBezTo>
                <a:cubicBezTo>
                  <a:pt x="527" y="1877"/>
                  <a:pt x="527" y="1876"/>
                  <a:pt x="527" y="1875"/>
                </a:cubicBezTo>
                <a:close/>
                <a:moveTo>
                  <a:pt x="545" y="2017"/>
                </a:moveTo>
                <a:cubicBezTo>
                  <a:pt x="545" y="2017"/>
                  <a:pt x="545" y="2017"/>
                  <a:pt x="545" y="2017"/>
                </a:cubicBezTo>
                <a:cubicBezTo>
                  <a:pt x="543" y="2024"/>
                  <a:pt x="538" y="2031"/>
                  <a:pt x="534" y="2038"/>
                </a:cubicBezTo>
                <a:cubicBezTo>
                  <a:pt x="534" y="2038"/>
                  <a:pt x="534" y="2038"/>
                  <a:pt x="534" y="2038"/>
                </a:cubicBezTo>
                <a:cubicBezTo>
                  <a:pt x="530" y="2045"/>
                  <a:pt x="527" y="2053"/>
                  <a:pt x="521" y="2060"/>
                </a:cubicBezTo>
                <a:cubicBezTo>
                  <a:pt x="521" y="2061"/>
                  <a:pt x="520" y="2061"/>
                  <a:pt x="520" y="2062"/>
                </a:cubicBezTo>
                <a:cubicBezTo>
                  <a:pt x="520" y="2062"/>
                  <a:pt x="520" y="2062"/>
                  <a:pt x="520" y="2062"/>
                </a:cubicBezTo>
                <a:cubicBezTo>
                  <a:pt x="519" y="2063"/>
                  <a:pt x="518" y="2064"/>
                  <a:pt x="517" y="2064"/>
                </a:cubicBezTo>
                <a:cubicBezTo>
                  <a:pt x="517" y="2065"/>
                  <a:pt x="517" y="2065"/>
                  <a:pt x="516" y="2065"/>
                </a:cubicBezTo>
                <a:cubicBezTo>
                  <a:pt x="516" y="2065"/>
                  <a:pt x="516" y="2066"/>
                  <a:pt x="516" y="2066"/>
                </a:cubicBezTo>
                <a:cubicBezTo>
                  <a:pt x="510" y="2071"/>
                  <a:pt x="503" y="2074"/>
                  <a:pt x="496" y="2076"/>
                </a:cubicBezTo>
                <a:cubicBezTo>
                  <a:pt x="495" y="2076"/>
                  <a:pt x="494" y="2076"/>
                  <a:pt x="493" y="2077"/>
                </a:cubicBezTo>
                <a:cubicBezTo>
                  <a:pt x="489" y="2078"/>
                  <a:pt x="484" y="2078"/>
                  <a:pt x="480" y="2078"/>
                </a:cubicBezTo>
                <a:cubicBezTo>
                  <a:pt x="476" y="2078"/>
                  <a:pt x="476" y="2078"/>
                  <a:pt x="476" y="2078"/>
                </a:cubicBezTo>
                <a:cubicBezTo>
                  <a:pt x="476" y="2078"/>
                  <a:pt x="476" y="2078"/>
                  <a:pt x="476" y="2078"/>
                </a:cubicBezTo>
                <a:cubicBezTo>
                  <a:pt x="458" y="2078"/>
                  <a:pt x="439" y="2078"/>
                  <a:pt x="421" y="2079"/>
                </a:cubicBezTo>
                <a:cubicBezTo>
                  <a:pt x="419" y="2079"/>
                  <a:pt x="418" y="2078"/>
                  <a:pt x="416" y="2078"/>
                </a:cubicBezTo>
                <a:cubicBezTo>
                  <a:pt x="414" y="2078"/>
                  <a:pt x="412" y="2078"/>
                  <a:pt x="410" y="2077"/>
                </a:cubicBezTo>
                <a:cubicBezTo>
                  <a:pt x="406" y="2076"/>
                  <a:pt x="404" y="2074"/>
                  <a:pt x="402" y="2072"/>
                </a:cubicBezTo>
                <a:cubicBezTo>
                  <a:pt x="401" y="2070"/>
                  <a:pt x="400" y="2068"/>
                  <a:pt x="400" y="2066"/>
                </a:cubicBezTo>
                <a:cubicBezTo>
                  <a:pt x="400" y="2064"/>
                  <a:pt x="401" y="2062"/>
                  <a:pt x="402" y="2060"/>
                </a:cubicBezTo>
                <a:cubicBezTo>
                  <a:pt x="402" y="2059"/>
                  <a:pt x="402" y="2059"/>
                  <a:pt x="403" y="2059"/>
                </a:cubicBezTo>
                <a:cubicBezTo>
                  <a:pt x="403" y="2058"/>
                  <a:pt x="403" y="2058"/>
                  <a:pt x="403" y="2058"/>
                </a:cubicBezTo>
                <a:cubicBezTo>
                  <a:pt x="404" y="2057"/>
                  <a:pt x="404" y="2057"/>
                  <a:pt x="404" y="2057"/>
                </a:cubicBezTo>
                <a:cubicBezTo>
                  <a:pt x="404" y="2057"/>
                  <a:pt x="404" y="2057"/>
                  <a:pt x="404" y="2057"/>
                </a:cubicBezTo>
                <a:cubicBezTo>
                  <a:pt x="409" y="2050"/>
                  <a:pt x="413" y="2043"/>
                  <a:pt x="418" y="2035"/>
                </a:cubicBezTo>
                <a:cubicBezTo>
                  <a:pt x="422" y="2030"/>
                  <a:pt x="425" y="2024"/>
                  <a:pt x="430" y="2019"/>
                </a:cubicBezTo>
                <a:cubicBezTo>
                  <a:pt x="430" y="2018"/>
                  <a:pt x="431" y="2018"/>
                  <a:pt x="431" y="2017"/>
                </a:cubicBezTo>
                <a:cubicBezTo>
                  <a:pt x="431" y="2017"/>
                  <a:pt x="432" y="2017"/>
                  <a:pt x="432" y="2017"/>
                </a:cubicBezTo>
                <a:cubicBezTo>
                  <a:pt x="433" y="2016"/>
                  <a:pt x="434" y="2015"/>
                  <a:pt x="435" y="2014"/>
                </a:cubicBezTo>
                <a:cubicBezTo>
                  <a:pt x="435" y="2014"/>
                  <a:pt x="435" y="2014"/>
                  <a:pt x="435" y="2014"/>
                </a:cubicBezTo>
                <a:cubicBezTo>
                  <a:pt x="435" y="2014"/>
                  <a:pt x="435" y="2014"/>
                  <a:pt x="435" y="2014"/>
                </a:cubicBezTo>
                <a:cubicBezTo>
                  <a:pt x="441" y="2009"/>
                  <a:pt x="449" y="2006"/>
                  <a:pt x="457" y="2004"/>
                </a:cubicBezTo>
                <a:cubicBezTo>
                  <a:pt x="457" y="2004"/>
                  <a:pt x="457" y="2004"/>
                  <a:pt x="457" y="2004"/>
                </a:cubicBezTo>
                <a:cubicBezTo>
                  <a:pt x="457" y="2004"/>
                  <a:pt x="458" y="2004"/>
                  <a:pt x="458" y="2004"/>
                </a:cubicBezTo>
                <a:cubicBezTo>
                  <a:pt x="459" y="2004"/>
                  <a:pt x="461" y="2004"/>
                  <a:pt x="462" y="2004"/>
                </a:cubicBezTo>
                <a:cubicBezTo>
                  <a:pt x="463" y="2003"/>
                  <a:pt x="464" y="2003"/>
                  <a:pt x="465" y="2003"/>
                </a:cubicBezTo>
                <a:cubicBezTo>
                  <a:pt x="466" y="2003"/>
                  <a:pt x="467" y="2003"/>
                  <a:pt x="468" y="2003"/>
                </a:cubicBezTo>
                <a:cubicBezTo>
                  <a:pt x="468" y="2003"/>
                  <a:pt x="469" y="2003"/>
                  <a:pt x="470" y="2003"/>
                </a:cubicBezTo>
                <a:cubicBezTo>
                  <a:pt x="471" y="2003"/>
                  <a:pt x="471" y="2003"/>
                  <a:pt x="471" y="2003"/>
                </a:cubicBezTo>
                <a:cubicBezTo>
                  <a:pt x="471" y="2003"/>
                  <a:pt x="471" y="2003"/>
                  <a:pt x="471" y="2003"/>
                </a:cubicBezTo>
                <a:cubicBezTo>
                  <a:pt x="488" y="2003"/>
                  <a:pt x="504" y="2003"/>
                  <a:pt x="521" y="2003"/>
                </a:cubicBezTo>
                <a:cubicBezTo>
                  <a:pt x="521" y="2003"/>
                  <a:pt x="521" y="2003"/>
                  <a:pt x="521" y="2003"/>
                </a:cubicBezTo>
                <a:cubicBezTo>
                  <a:pt x="524" y="2003"/>
                  <a:pt x="524" y="2003"/>
                  <a:pt x="524" y="2003"/>
                </a:cubicBezTo>
                <a:cubicBezTo>
                  <a:pt x="528" y="2003"/>
                  <a:pt x="532" y="2003"/>
                  <a:pt x="535" y="2004"/>
                </a:cubicBezTo>
                <a:cubicBezTo>
                  <a:pt x="536" y="2004"/>
                  <a:pt x="536" y="2005"/>
                  <a:pt x="537" y="2005"/>
                </a:cubicBezTo>
                <a:cubicBezTo>
                  <a:pt x="537" y="2005"/>
                  <a:pt x="538" y="2005"/>
                  <a:pt x="538" y="2006"/>
                </a:cubicBezTo>
                <a:cubicBezTo>
                  <a:pt x="538" y="2006"/>
                  <a:pt x="539" y="2006"/>
                  <a:pt x="539" y="2006"/>
                </a:cubicBezTo>
                <a:cubicBezTo>
                  <a:pt x="543" y="2008"/>
                  <a:pt x="546" y="2012"/>
                  <a:pt x="545" y="2017"/>
                </a:cubicBezTo>
                <a:close/>
                <a:moveTo>
                  <a:pt x="579" y="1956"/>
                </a:moveTo>
                <a:cubicBezTo>
                  <a:pt x="579" y="1956"/>
                  <a:pt x="579" y="1956"/>
                  <a:pt x="579" y="1956"/>
                </a:cubicBezTo>
                <a:cubicBezTo>
                  <a:pt x="579" y="1956"/>
                  <a:pt x="579" y="1956"/>
                  <a:pt x="579" y="1956"/>
                </a:cubicBezTo>
                <a:cubicBezTo>
                  <a:pt x="578" y="1957"/>
                  <a:pt x="578" y="1958"/>
                  <a:pt x="577" y="1959"/>
                </a:cubicBezTo>
                <a:cubicBezTo>
                  <a:pt x="577" y="1959"/>
                  <a:pt x="577" y="1960"/>
                  <a:pt x="577" y="1960"/>
                </a:cubicBezTo>
                <a:cubicBezTo>
                  <a:pt x="572" y="1964"/>
                  <a:pt x="566" y="1968"/>
                  <a:pt x="560" y="1970"/>
                </a:cubicBezTo>
                <a:cubicBezTo>
                  <a:pt x="560" y="1970"/>
                  <a:pt x="560" y="1970"/>
                  <a:pt x="560" y="1970"/>
                </a:cubicBezTo>
                <a:cubicBezTo>
                  <a:pt x="559" y="1970"/>
                  <a:pt x="558" y="1970"/>
                  <a:pt x="557" y="1971"/>
                </a:cubicBezTo>
                <a:cubicBezTo>
                  <a:pt x="556" y="1971"/>
                  <a:pt x="556" y="1971"/>
                  <a:pt x="555" y="1971"/>
                </a:cubicBezTo>
                <a:cubicBezTo>
                  <a:pt x="554" y="1971"/>
                  <a:pt x="554" y="1971"/>
                  <a:pt x="553" y="1971"/>
                </a:cubicBezTo>
                <a:cubicBezTo>
                  <a:pt x="550" y="1972"/>
                  <a:pt x="546" y="1973"/>
                  <a:pt x="542" y="1973"/>
                </a:cubicBezTo>
                <a:cubicBezTo>
                  <a:pt x="541" y="1973"/>
                  <a:pt x="541" y="1973"/>
                  <a:pt x="541" y="1973"/>
                </a:cubicBezTo>
                <a:cubicBezTo>
                  <a:pt x="534" y="1973"/>
                  <a:pt x="527" y="1973"/>
                  <a:pt x="520" y="1973"/>
                </a:cubicBezTo>
                <a:cubicBezTo>
                  <a:pt x="510" y="1973"/>
                  <a:pt x="499" y="1973"/>
                  <a:pt x="489" y="1973"/>
                </a:cubicBezTo>
                <a:cubicBezTo>
                  <a:pt x="488" y="1973"/>
                  <a:pt x="486" y="1973"/>
                  <a:pt x="484" y="1973"/>
                </a:cubicBezTo>
                <a:cubicBezTo>
                  <a:pt x="484" y="1973"/>
                  <a:pt x="484" y="1973"/>
                  <a:pt x="483" y="1973"/>
                </a:cubicBezTo>
                <a:cubicBezTo>
                  <a:pt x="482" y="1972"/>
                  <a:pt x="480" y="1972"/>
                  <a:pt x="479" y="1972"/>
                </a:cubicBezTo>
                <a:cubicBezTo>
                  <a:pt x="479" y="1972"/>
                  <a:pt x="479" y="1972"/>
                  <a:pt x="479" y="1972"/>
                </a:cubicBezTo>
                <a:cubicBezTo>
                  <a:pt x="479" y="1972"/>
                  <a:pt x="479" y="1972"/>
                  <a:pt x="479" y="1972"/>
                </a:cubicBezTo>
                <a:cubicBezTo>
                  <a:pt x="474" y="1970"/>
                  <a:pt x="470" y="1968"/>
                  <a:pt x="470" y="1963"/>
                </a:cubicBezTo>
                <a:cubicBezTo>
                  <a:pt x="470" y="1962"/>
                  <a:pt x="470" y="1961"/>
                  <a:pt x="470" y="1960"/>
                </a:cubicBezTo>
                <a:cubicBezTo>
                  <a:pt x="470" y="1960"/>
                  <a:pt x="470" y="1959"/>
                  <a:pt x="471" y="1959"/>
                </a:cubicBezTo>
                <a:cubicBezTo>
                  <a:pt x="471" y="1958"/>
                  <a:pt x="471" y="1957"/>
                  <a:pt x="472" y="1957"/>
                </a:cubicBezTo>
                <a:cubicBezTo>
                  <a:pt x="472" y="1957"/>
                  <a:pt x="472" y="1956"/>
                  <a:pt x="472" y="1956"/>
                </a:cubicBezTo>
                <a:cubicBezTo>
                  <a:pt x="472" y="1956"/>
                  <a:pt x="472" y="1956"/>
                  <a:pt x="472" y="1956"/>
                </a:cubicBezTo>
                <a:cubicBezTo>
                  <a:pt x="473" y="1955"/>
                  <a:pt x="474" y="1954"/>
                  <a:pt x="474" y="1953"/>
                </a:cubicBezTo>
                <a:cubicBezTo>
                  <a:pt x="479" y="1945"/>
                  <a:pt x="485" y="1938"/>
                  <a:pt x="490" y="1930"/>
                </a:cubicBezTo>
                <a:cubicBezTo>
                  <a:pt x="490" y="1930"/>
                  <a:pt x="490" y="1930"/>
                  <a:pt x="490" y="1930"/>
                </a:cubicBezTo>
                <a:cubicBezTo>
                  <a:pt x="492" y="1927"/>
                  <a:pt x="492" y="1927"/>
                  <a:pt x="492" y="1927"/>
                </a:cubicBezTo>
                <a:cubicBezTo>
                  <a:pt x="493" y="1925"/>
                  <a:pt x="495" y="1923"/>
                  <a:pt x="498" y="1921"/>
                </a:cubicBezTo>
                <a:cubicBezTo>
                  <a:pt x="499" y="1920"/>
                  <a:pt x="501" y="1919"/>
                  <a:pt x="503" y="1918"/>
                </a:cubicBezTo>
                <a:cubicBezTo>
                  <a:pt x="504" y="1918"/>
                  <a:pt x="505" y="1917"/>
                  <a:pt x="506" y="1917"/>
                </a:cubicBezTo>
                <a:cubicBezTo>
                  <a:pt x="506" y="1917"/>
                  <a:pt x="506" y="1917"/>
                  <a:pt x="507" y="1917"/>
                </a:cubicBezTo>
                <a:cubicBezTo>
                  <a:pt x="507" y="1917"/>
                  <a:pt x="507" y="1916"/>
                  <a:pt x="507" y="1916"/>
                </a:cubicBezTo>
                <a:cubicBezTo>
                  <a:pt x="508" y="1916"/>
                  <a:pt x="508" y="1916"/>
                  <a:pt x="508" y="1916"/>
                </a:cubicBezTo>
                <a:cubicBezTo>
                  <a:pt x="511" y="1915"/>
                  <a:pt x="514" y="1914"/>
                  <a:pt x="517" y="1913"/>
                </a:cubicBezTo>
                <a:cubicBezTo>
                  <a:pt x="521" y="1913"/>
                  <a:pt x="525" y="1912"/>
                  <a:pt x="528" y="1912"/>
                </a:cubicBezTo>
                <a:cubicBezTo>
                  <a:pt x="538" y="1912"/>
                  <a:pt x="538" y="1912"/>
                  <a:pt x="538" y="1912"/>
                </a:cubicBezTo>
                <a:cubicBezTo>
                  <a:pt x="541" y="1912"/>
                  <a:pt x="543" y="1912"/>
                  <a:pt x="545" y="1912"/>
                </a:cubicBezTo>
                <a:cubicBezTo>
                  <a:pt x="555" y="1912"/>
                  <a:pt x="564" y="1912"/>
                  <a:pt x="573" y="1912"/>
                </a:cubicBezTo>
                <a:cubicBezTo>
                  <a:pt x="573" y="1912"/>
                  <a:pt x="573" y="1912"/>
                  <a:pt x="573" y="1912"/>
                </a:cubicBezTo>
                <a:cubicBezTo>
                  <a:pt x="577" y="1912"/>
                  <a:pt x="577" y="1912"/>
                  <a:pt x="577" y="1912"/>
                </a:cubicBezTo>
                <a:cubicBezTo>
                  <a:pt x="581" y="1912"/>
                  <a:pt x="584" y="1913"/>
                  <a:pt x="587" y="1913"/>
                </a:cubicBezTo>
                <a:cubicBezTo>
                  <a:pt x="589" y="1914"/>
                  <a:pt x="590" y="1915"/>
                  <a:pt x="592" y="1915"/>
                </a:cubicBezTo>
                <a:cubicBezTo>
                  <a:pt x="596" y="1918"/>
                  <a:pt x="599" y="1921"/>
                  <a:pt x="595" y="1927"/>
                </a:cubicBezTo>
                <a:cubicBezTo>
                  <a:pt x="592" y="1934"/>
                  <a:pt x="588" y="1941"/>
                  <a:pt x="584" y="1948"/>
                </a:cubicBezTo>
                <a:cubicBezTo>
                  <a:pt x="579" y="1956"/>
                  <a:pt x="579" y="1956"/>
                  <a:pt x="579" y="1956"/>
                </a:cubicBezTo>
                <a:cubicBezTo>
                  <a:pt x="579" y="1956"/>
                  <a:pt x="579" y="1956"/>
                  <a:pt x="579" y="1956"/>
                </a:cubicBezTo>
                <a:close/>
                <a:moveTo>
                  <a:pt x="1064" y="2056"/>
                </a:moveTo>
                <a:cubicBezTo>
                  <a:pt x="1064" y="2057"/>
                  <a:pt x="1064" y="2059"/>
                  <a:pt x="1064" y="2060"/>
                </a:cubicBezTo>
                <a:cubicBezTo>
                  <a:pt x="1064" y="2060"/>
                  <a:pt x="1064" y="2060"/>
                  <a:pt x="1064" y="2061"/>
                </a:cubicBezTo>
                <a:cubicBezTo>
                  <a:pt x="1063" y="2062"/>
                  <a:pt x="1063" y="2063"/>
                  <a:pt x="1062" y="2064"/>
                </a:cubicBezTo>
                <a:cubicBezTo>
                  <a:pt x="1062" y="2064"/>
                  <a:pt x="1062" y="2064"/>
                  <a:pt x="1062" y="2064"/>
                </a:cubicBezTo>
                <a:cubicBezTo>
                  <a:pt x="1062" y="2064"/>
                  <a:pt x="1062" y="2064"/>
                  <a:pt x="1062" y="2064"/>
                </a:cubicBezTo>
                <a:cubicBezTo>
                  <a:pt x="1061" y="2065"/>
                  <a:pt x="1060" y="2066"/>
                  <a:pt x="1059" y="2067"/>
                </a:cubicBezTo>
                <a:cubicBezTo>
                  <a:pt x="1059" y="2067"/>
                  <a:pt x="1059" y="2067"/>
                  <a:pt x="1059" y="2068"/>
                </a:cubicBezTo>
                <a:cubicBezTo>
                  <a:pt x="1058" y="2069"/>
                  <a:pt x="1057" y="2069"/>
                  <a:pt x="1056" y="2070"/>
                </a:cubicBezTo>
                <a:cubicBezTo>
                  <a:pt x="1056" y="2070"/>
                  <a:pt x="1055" y="2071"/>
                  <a:pt x="1055" y="2071"/>
                </a:cubicBezTo>
                <a:cubicBezTo>
                  <a:pt x="1055" y="2071"/>
                  <a:pt x="1055" y="2071"/>
                  <a:pt x="1055" y="2071"/>
                </a:cubicBezTo>
                <a:cubicBezTo>
                  <a:pt x="1053" y="2072"/>
                  <a:pt x="1052" y="2072"/>
                  <a:pt x="1051" y="2073"/>
                </a:cubicBezTo>
                <a:cubicBezTo>
                  <a:pt x="1051" y="2073"/>
                  <a:pt x="1051" y="2073"/>
                  <a:pt x="1050" y="2073"/>
                </a:cubicBezTo>
                <a:cubicBezTo>
                  <a:pt x="1049" y="2074"/>
                  <a:pt x="1048" y="2074"/>
                  <a:pt x="1047" y="2074"/>
                </a:cubicBezTo>
                <a:cubicBezTo>
                  <a:pt x="1047" y="2075"/>
                  <a:pt x="1046" y="2075"/>
                  <a:pt x="1046" y="2075"/>
                </a:cubicBezTo>
                <a:cubicBezTo>
                  <a:pt x="1046" y="2075"/>
                  <a:pt x="1045" y="2075"/>
                  <a:pt x="1045" y="2075"/>
                </a:cubicBezTo>
                <a:cubicBezTo>
                  <a:pt x="1045" y="2075"/>
                  <a:pt x="1045" y="2075"/>
                  <a:pt x="1044" y="2075"/>
                </a:cubicBezTo>
                <a:cubicBezTo>
                  <a:pt x="1043" y="2076"/>
                  <a:pt x="1042" y="2076"/>
                  <a:pt x="1041" y="2076"/>
                </a:cubicBezTo>
                <a:cubicBezTo>
                  <a:pt x="1039" y="2076"/>
                  <a:pt x="1038" y="2076"/>
                  <a:pt x="1037" y="2077"/>
                </a:cubicBezTo>
                <a:cubicBezTo>
                  <a:pt x="1036" y="2077"/>
                  <a:pt x="1035" y="2077"/>
                  <a:pt x="1034" y="2077"/>
                </a:cubicBezTo>
                <a:cubicBezTo>
                  <a:pt x="1033" y="2077"/>
                  <a:pt x="1033" y="2077"/>
                  <a:pt x="1033" y="2077"/>
                </a:cubicBezTo>
                <a:cubicBezTo>
                  <a:pt x="1031" y="2077"/>
                  <a:pt x="1031" y="2077"/>
                  <a:pt x="1031" y="2077"/>
                </a:cubicBezTo>
                <a:cubicBezTo>
                  <a:pt x="1031" y="2077"/>
                  <a:pt x="1031" y="2077"/>
                  <a:pt x="1031" y="2077"/>
                </a:cubicBezTo>
                <a:cubicBezTo>
                  <a:pt x="1025" y="2077"/>
                  <a:pt x="1018" y="2077"/>
                  <a:pt x="1011" y="2077"/>
                </a:cubicBezTo>
                <a:cubicBezTo>
                  <a:pt x="981" y="2077"/>
                  <a:pt x="630" y="2078"/>
                  <a:pt x="605" y="2078"/>
                </a:cubicBezTo>
                <a:cubicBezTo>
                  <a:pt x="604" y="2078"/>
                  <a:pt x="602" y="2078"/>
                  <a:pt x="600" y="2078"/>
                </a:cubicBezTo>
                <a:cubicBezTo>
                  <a:pt x="598" y="2077"/>
                  <a:pt x="596" y="2077"/>
                  <a:pt x="594" y="2076"/>
                </a:cubicBezTo>
                <a:cubicBezTo>
                  <a:pt x="590" y="2075"/>
                  <a:pt x="588" y="2074"/>
                  <a:pt x="586" y="2072"/>
                </a:cubicBezTo>
                <a:cubicBezTo>
                  <a:pt x="584" y="2070"/>
                  <a:pt x="583" y="2068"/>
                  <a:pt x="582" y="2065"/>
                </a:cubicBezTo>
                <a:cubicBezTo>
                  <a:pt x="582" y="2063"/>
                  <a:pt x="582" y="2060"/>
                  <a:pt x="584" y="2057"/>
                </a:cubicBezTo>
                <a:cubicBezTo>
                  <a:pt x="584" y="2056"/>
                  <a:pt x="584" y="2056"/>
                  <a:pt x="584" y="2056"/>
                </a:cubicBezTo>
                <a:cubicBezTo>
                  <a:pt x="584" y="2056"/>
                  <a:pt x="584" y="2056"/>
                  <a:pt x="584" y="2056"/>
                </a:cubicBezTo>
                <a:cubicBezTo>
                  <a:pt x="588" y="2048"/>
                  <a:pt x="592" y="2040"/>
                  <a:pt x="596" y="2031"/>
                </a:cubicBezTo>
                <a:cubicBezTo>
                  <a:pt x="597" y="2030"/>
                  <a:pt x="598" y="2029"/>
                  <a:pt x="598" y="2027"/>
                </a:cubicBezTo>
                <a:cubicBezTo>
                  <a:pt x="601" y="2021"/>
                  <a:pt x="601" y="2021"/>
                  <a:pt x="601" y="2021"/>
                </a:cubicBezTo>
                <a:cubicBezTo>
                  <a:pt x="603" y="2018"/>
                  <a:pt x="605" y="2016"/>
                  <a:pt x="607" y="2014"/>
                </a:cubicBezTo>
                <a:cubicBezTo>
                  <a:pt x="608" y="2013"/>
                  <a:pt x="609" y="2013"/>
                  <a:pt x="609" y="2012"/>
                </a:cubicBezTo>
                <a:cubicBezTo>
                  <a:pt x="610" y="2012"/>
                  <a:pt x="610" y="2012"/>
                  <a:pt x="610" y="2011"/>
                </a:cubicBezTo>
                <a:cubicBezTo>
                  <a:pt x="611" y="2011"/>
                  <a:pt x="612" y="2011"/>
                  <a:pt x="612" y="2010"/>
                </a:cubicBezTo>
                <a:cubicBezTo>
                  <a:pt x="612" y="2010"/>
                  <a:pt x="612" y="2010"/>
                  <a:pt x="613" y="2010"/>
                </a:cubicBezTo>
                <a:cubicBezTo>
                  <a:pt x="613" y="2010"/>
                  <a:pt x="613" y="2010"/>
                  <a:pt x="614" y="2009"/>
                </a:cubicBezTo>
                <a:cubicBezTo>
                  <a:pt x="615" y="2009"/>
                  <a:pt x="616" y="2008"/>
                  <a:pt x="617" y="2008"/>
                </a:cubicBezTo>
                <a:cubicBezTo>
                  <a:pt x="617" y="2008"/>
                  <a:pt x="618" y="2007"/>
                  <a:pt x="618" y="2007"/>
                </a:cubicBezTo>
                <a:cubicBezTo>
                  <a:pt x="619" y="2007"/>
                  <a:pt x="620" y="2007"/>
                  <a:pt x="621" y="2006"/>
                </a:cubicBezTo>
                <a:cubicBezTo>
                  <a:pt x="622" y="2006"/>
                  <a:pt x="623" y="2005"/>
                  <a:pt x="625" y="2005"/>
                </a:cubicBezTo>
                <a:cubicBezTo>
                  <a:pt x="625" y="2005"/>
                  <a:pt x="626" y="2004"/>
                  <a:pt x="627" y="2004"/>
                </a:cubicBezTo>
                <a:cubicBezTo>
                  <a:pt x="627" y="2004"/>
                  <a:pt x="628" y="2004"/>
                  <a:pt x="628" y="2004"/>
                </a:cubicBezTo>
                <a:cubicBezTo>
                  <a:pt x="632" y="2003"/>
                  <a:pt x="636" y="2002"/>
                  <a:pt x="640" y="2002"/>
                </a:cubicBezTo>
                <a:cubicBezTo>
                  <a:pt x="640" y="2002"/>
                  <a:pt x="1008" y="2001"/>
                  <a:pt x="1021" y="2001"/>
                </a:cubicBezTo>
                <a:cubicBezTo>
                  <a:pt x="1026" y="2001"/>
                  <a:pt x="1030" y="2001"/>
                  <a:pt x="1034" y="2001"/>
                </a:cubicBezTo>
                <a:cubicBezTo>
                  <a:pt x="1036" y="2001"/>
                  <a:pt x="1038" y="2002"/>
                  <a:pt x="1040" y="2002"/>
                </a:cubicBezTo>
                <a:cubicBezTo>
                  <a:pt x="1040" y="2002"/>
                  <a:pt x="1040" y="2002"/>
                  <a:pt x="1041" y="2002"/>
                </a:cubicBezTo>
                <a:cubicBezTo>
                  <a:pt x="1042" y="2002"/>
                  <a:pt x="1044" y="2002"/>
                  <a:pt x="1045" y="2003"/>
                </a:cubicBezTo>
                <a:cubicBezTo>
                  <a:pt x="1045" y="2003"/>
                  <a:pt x="1046" y="2003"/>
                  <a:pt x="1046" y="2003"/>
                </a:cubicBezTo>
                <a:cubicBezTo>
                  <a:pt x="1046" y="2003"/>
                  <a:pt x="1046" y="2003"/>
                  <a:pt x="1046" y="2003"/>
                </a:cubicBezTo>
                <a:cubicBezTo>
                  <a:pt x="1048" y="2003"/>
                  <a:pt x="1049" y="2004"/>
                  <a:pt x="1050" y="2004"/>
                </a:cubicBezTo>
                <a:cubicBezTo>
                  <a:pt x="1050" y="2004"/>
                  <a:pt x="1051" y="2005"/>
                  <a:pt x="1051" y="2005"/>
                </a:cubicBezTo>
                <a:cubicBezTo>
                  <a:pt x="1052" y="2005"/>
                  <a:pt x="1053" y="2006"/>
                  <a:pt x="1054" y="2006"/>
                </a:cubicBezTo>
                <a:cubicBezTo>
                  <a:pt x="1055" y="2006"/>
                  <a:pt x="1055" y="2007"/>
                  <a:pt x="1055" y="2007"/>
                </a:cubicBezTo>
                <a:cubicBezTo>
                  <a:pt x="1055" y="2007"/>
                  <a:pt x="1055" y="2007"/>
                  <a:pt x="1056" y="2007"/>
                </a:cubicBezTo>
                <a:cubicBezTo>
                  <a:pt x="1056" y="2008"/>
                  <a:pt x="1057" y="2008"/>
                  <a:pt x="1058" y="2009"/>
                </a:cubicBezTo>
                <a:cubicBezTo>
                  <a:pt x="1059" y="2010"/>
                  <a:pt x="1061" y="2011"/>
                  <a:pt x="1061" y="2013"/>
                </a:cubicBezTo>
                <a:cubicBezTo>
                  <a:pt x="1063" y="2015"/>
                  <a:pt x="1064" y="2017"/>
                  <a:pt x="1064" y="2020"/>
                </a:cubicBezTo>
                <a:cubicBezTo>
                  <a:pt x="1064" y="2022"/>
                  <a:pt x="1064" y="2022"/>
                  <a:pt x="1064" y="2022"/>
                </a:cubicBezTo>
                <a:cubicBezTo>
                  <a:pt x="1064" y="2022"/>
                  <a:pt x="1064" y="2022"/>
                  <a:pt x="1064" y="2022"/>
                </a:cubicBezTo>
                <a:cubicBezTo>
                  <a:pt x="1064" y="2031"/>
                  <a:pt x="1064" y="2040"/>
                  <a:pt x="1064" y="2049"/>
                </a:cubicBezTo>
                <a:cubicBezTo>
                  <a:pt x="1064" y="2051"/>
                  <a:pt x="1064" y="2054"/>
                  <a:pt x="1064" y="2056"/>
                </a:cubicBezTo>
                <a:close/>
                <a:moveTo>
                  <a:pt x="1114" y="1878"/>
                </a:moveTo>
                <a:cubicBezTo>
                  <a:pt x="1114" y="1878"/>
                  <a:pt x="1114" y="1877"/>
                  <a:pt x="1113" y="1877"/>
                </a:cubicBezTo>
                <a:cubicBezTo>
                  <a:pt x="1113" y="1877"/>
                  <a:pt x="1113" y="1877"/>
                  <a:pt x="1113" y="1877"/>
                </a:cubicBezTo>
                <a:cubicBezTo>
                  <a:pt x="1112" y="1875"/>
                  <a:pt x="1111" y="1873"/>
                  <a:pt x="1111" y="1871"/>
                </a:cubicBezTo>
                <a:cubicBezTo>
                  <a:pt x="1111" y="1870"/>
                  <a:pt x="1111" y="1870"/>
                  <a:pt x="1111" y="1870"/>
                </a:cubicBezTo>
                <a:cubicBezTo>
                  <a:pt x="1110" y="1868"/>
                  <a:pt x="1110" y="1867"/>
                  <a:pt x="1110" y="1866"/>
                </a:cubicBezTo>
                <a:cubicBezTo>
                  <a:pt x="1110" y="1866"/>
                  <a:pt x="1110" y="1866"/>
                  <a:pt x="1110" y="1866"/>
                </a:cubicBezTo>
                <a:cubicBezTo>
                  <a:pt x="1110" y="1861"/>
                  <a:pt x="1109" y="1855"/>
                  <a:pt x="1109" y="1849"/>
                </a:cubicBezTo>
                <a:cubicBezTo>
                  <a:pt x="1109" y="1848"/>
                  <a:pt x="1109" y="1848"/>
                  <a:pt x="1109" y="1848"/>
                </a:cubicBezTo>
                <a:cubicBezTo>
                  <a:pt x="1109" y="1846"/>
                  <a:pt x="1109" y="1844"/>
                  <a:pt x="1110" y="1843"/>
                </a:cubicBezTo>
                <a:cubicBezTo>
                  <a:pt x="1112" y="1841"/>
                  <a:pt x="1113" y="1840"/>
                  <a:pt x="1115" y="1839"/>
                </a:cubicBezTo>
                <a:cubicBezTo>
                  <a:pt x="1118" y="1838"/>
                  <a:pt x="1120" y="1837"/>
                  <a:pt x="1123" y="1836"/>
                </a:cubicBezTo>
                <a:cubicBezTo>
                  <a:pt x="1123" y="1836"/>
                  <a:pt x="1123" y="1836"/>
                  <a:pt x="1123" y="1836"/>
                </a:cubicBezTo>
                <a:cubicBezTo>
                  <a:pt x="1123" y="1836"/>
                  <a:pt x="1123" y="1836"/>
                  <a:pt x="1123" y="1836"/>
                </a:cubicBezTo>
                <a:cubicBezTo>
                  <a:pt x="1124" y="1836"/>
                  <a:pt x="1125" y="1836"/>
                  <a:pt x="1126" y="1836"/>
                </a:cubicBezTo>
                <a:cubicBezTo>
                  <a:pt x="1127" y="1836"/>
                  <a:pt x="1127" y="1836"/>
                  <a:pt x="1128" y="1836"/>
                </a:cubicBezTo>
                <a:cubicBezTo>
                  <a:pt x="1133" y="1835"/>
                  <a:pt x="1138" y="1835"/>
                  <a:pt x="1143" y="1835"/>
                </a:cubicBezTo>
                <a:cubicBezTo>
                  <a:pt x="1176" y="1835"/>
                  <a:pt x="1176" y="1835"/>
                  <a:pt x="1176" y="1835"/>
                </a:cubicBezTo>
                <a:cubicBezTo>
                  <a:pt x="1178" y="1835"/>
                  <a:pt x="1180" y="1835"/>
                  <a:pt x="1182" y="1836"/>
                </a:cubicBezTo>
                <a:cubicBezTo>
                  <a:pt x="1191" y="1837"/>
                  <a:pt x="1201" y="1839"/>
                  <a:pt x="1203" y="1848"/>
                </a:cubicBezTo>
                <a:cubicBezTo>
                  <a:pt x="1205" y="1855"/>
                  <a:pt x="1206" y="1863"/>
                  <a:pt x="1207" y="1870"/>
                </a:cubicBezTo>
                <a:cubicBezTo>
                  <a:pt x="1207" y="1871"/>
                  <a:pt x="1207" y="1871"/>
                  <a:pt x="1207" y="1871"/>
                </a:cubicBezTo>
                <a:cubicBezTo>
                  <a:pt x="1208" y="1873"/>
                  <a:pt x="1207" y="1874"/>
                  <a:pt x="1207" y="1876"/>
                </a:cubicBezTo>
                <a:cubicBezTo>
                  <a:pt x="1207" y="1876"/>
                  <a:pt x="1207" y="1876"/>
                  <a:pt x="1206" y="1876"/>
                </a:cubicBezTo>
                <a:cubicBezTo>
                  <a:pt x="1206" y="1876"/>
                  <a:pt x="1206" y="1876"/>
                  <a:pt x="1206" y="1876"/>
                </a:cubicBezTo>
                <a:cubicBezTo>
                  <a:pt x="1206" y="1877"/>
                  <a:pt x="1206" y="1877"/>
                  <a:pt x="1206" y="1877"/>
                </a:cubicBezTo>
                <a:cubicBezTo>
                  <a:pt x="1204" y="1880"/>
                  <a:pt x="1200" y="1882"/>
                  <a:pt x="1195" y="1883"/>
                </a:cubicBezTo>
                <a:cubicBezTo>
                  <a:pt x="1195" y="1883"/>
                  <a:pt x="1195" y="1884"/>
                  <a:pt x="1194" y="1884"/>
                </a:cubicBezTo>
                <a:cubicBezTo>
                  <a:pt x="1194" y="1884"/>
                  <a:pt x="1193" y="1884"/>
                  <a:pt x="1193" y="1884"/>
                </a:cubicBezTo>
                <a:cubicBezTo>
                  <a:pt x="1192" y="1884"/>
                  <a:pt x="1192" y="1884"/>
                  <a:pt x="1192" y="1884"/>
                </a:cubicBezTo>
                <a:cubicBezTo>
                  <a:pt x="1191" y="1884"/>
                  <a:pt x="1190" y="1884"/>
                  <a:pt x="1189" y="1885"/>
                </a:cubicBezTo>
                <a:cubicBezTo>
                  <a:pt x="1178" y="1886"/>
                  <a:pt x="1164" y="1885"/>
                  <a:pt x="1158" y="1885"/>
                </a:cubicBezTo>
                <a:cubicBezTo>
                  <a:pt x="1137" y="1885"/>
                  <a:pt x="1137" y="1885"/>
                  <a:pt x="1137" y="1885"/>
                </a:cubicBezTo>
                <a:cubicBezTo>
                  <a:pt x="1135" y="1885"/>
                  <a:pt x="1134" y="1885"/>
                  <a:pt x="1132" y="1885"/>
                </a:cubicBezTo>
                <a:cubicBezTo>
                  <a:pt x="1131" y="1884"/>
                  <a:pt x="1130" y="1884"/>
                  <a:pt x="1128" y="1884"/>
                </a:cubicBezTo>
                <a:cubicBezTo>
                  <a:pt x="1128" y="1884"/>
                  <a:pt x="1128" y="1884"/>
                  <a:pt x="1127" y="1884"/>
                </a:cubicBezTo>
                <a:cubicBezTo>
                  <a:pt x="1127" y="1884"/>
                  <a:pt x="1127" y="1884"/>
                  <a:pt x="1127" y="1884"/>
                </a:cubicBezTo>
                <a:cubicBezTo>
                  <a:pt x="1126" y="1883"/>
                  <a:pt x="1125" y="1883"/>
                  <a:pt x="1123" y="1883"/>
                </a:cubicBezTo>
                <a:cubicBezTo>
                  <a:pt x="1123" y="1883"/>
                  <a:pt x="1122" y="1882"/>
                  <a:pt x="1122" y="1882"/>
                </a:cubicBezTo>
                <a:cubicBezTo>
                  <a:pt x="1121" y="1882"/>
                  <a:pt x="1120" y="1881"/>
                  <a:pt x="1119" y="1881"/>
                </a:cubicBezTo>
                <a:cubicBezTo>
                  <a:pt x="1117" y="1880"/>
                  <a:pt x="1116" y="1879"/>
                  <a:pt x="1115" y="1878"/>
                </a:cubicBezTo>
                <a:cubicBezTo>
                  <a:pt x="1115" y="1878"/>
                  <a:pt x="1114" y="1878"/>
                  <a:pt x="1114" y="1878"/>
                </a:cubicBezTo>
                <a:close/>
                <a:moveTo>
                  <a:pt x="1120" y="1961"/>
                </a:moveTo>
                <a:cubicBezTo>
                  <a:pt x="1118" y="1959"/>
                  <a:pt x="1117" y="1957"/>
                  <a:pt x="1117" y="1955"/>
                </a:cubicBezTo>
                <a:cubicBezTo>
                  <a:pt x="1117" y="1952"/>
                  <a:pt x="1117" y="1952"/>
                  <a:pt x="1117" y="1952"/>
                </a:cubicBezTo>
                <a:cubicBezTo>
                  <a:pt x="1117" y="1952"/>
                  <a:pt x="1117" y="1952"/>
                  <a:pt x="1117" y="1952"/>
                </a:cubicBezTo>
                <a:cubicBezTo>
                  <a:pt x="1116" y="1943"/>
                  <a:pt x="1116" y="1935"/>
                  <a:pt x="1115" y="1926"/>
                </a:cubicBezTo>
                <a:cubicBezTo>
                  <a:pt x="1115" y="1926"/>
                  <a:pt x="1115" y="1926"/>
                  <a:pt x="1115" y="1926"/>
                </a:cubicBezTo>
                <a:cubicBezTo>
                  <a:pt x="1115" y="1926"/>
                  <a:pt x="1115" y="1926"/>
                  <a:pt x="1115" y="1926"/>
                </a:cubicBezTo>
                <a:cubicBezTo>
                  <a:pt x="1115" y="1925"/>
                  <a:pt x="1115" y="1925"/>
                  <a:pt x="1115" y="1924"/>
                </a:cubicBezTo>
                <a:cubicBezTo>
                  <a:pt x="1117" y="1906"/>
                  <a:pt x="1155" y="1911"/>
                  <a:pt x="1167" y="1911"/>
                </a:cubicBezTo>
                <a:cubicBezTo>
                  <a:pt x="1181" y="1911"/>
                  <a:pt x="1208" y="1907"/>
                  <a:pt x="1216" y="1921"/>
                </a:cubicBezTo>
                <a:cubicBezTo>
                  <a:pt x="1217" y="1923"/>
                  <a:pt x="1218" y="1924"/>
                  <a:pt x="1218" y="1925"/>
                </a:cubicBezTo>
                <a:cubicBezTo>
                  <a:pt x="1219" y="1927"/>
                  <a:pt x="1219" y="1927"/>
                  <a:pt x="1219" y="1927"/>
                </a:cubicBezTo>
                <a:cubicBezTo>
                  <a:pt x="1219" y="1927"/>
                  <a:pt x="1219" y="1927"/>
                  <a:pt x="1219" y="1927"/>
                </a:cubicBezTo>
                <a:cubicBezTo>
                  <a:pt x="1219" y="1931"/>
                  <a:pt x="1220" y="1936"/>
                  <a:pt x="1221" y="1940"/>
                </a:cubicBezTo>
                <a:cubicBezTo>
                  <a:pt x="1224" y="1955"/>
                  <a:pt x="1224" y="1955"/>
                  <a:pt x="1224" y="1955"/>
                </a:cubicBezTo>
                <a:cubicBezTo>
                  <a:pt x="1225" y="1957"/>
                  <a:pt x="1224" y="1959"/>
                  <a:pt x="1223" y="1961"/>
                </a:cubicBezTo>
                <a:cubicBezTo>
                  <a:pt x="1223" y="1962"/>
                  <a:pt x="1222" y="1963"/>
                  <a:pt x="1220" y="1964"/>
                </a:cubicBezTo>
                <a:cubicBezTo>
                  <a:pt x="1220" y="1965"/>
                  <a:pt x="1219" y="1965"/>
                  <a:pt x="1219" y="1966"/>
                </a:cubicBezTo>
                <a:cubicBezTo>
                  <a:pt x="1219" y="1966"/>
                  <a:pt x="1218" y="1966"/>
                  <a:pt x="1218" y="1966"/>
                </a:cubicBezTo>
                <a:cubicBezTo>
                  <a:pt x="1218" y="1966"/>
                  <a:pt x="1218" y="1966"/>
                  <a:pt x="1218" y="1967"/>
                </a:cubicBezTo>
                <a:cubicBezTo>
                  <a:pt x="1217" y="1967"/>
                  <a:pt x="1216" y="1967"/>
                  <a:pt x="1215" y="1968"/>
                </a:cubicBezTo>
                <a:cubicBezTo>
                  <a:pt x="1215" y="1968"/>
                  <a:pt x="1214" y="1968"/>
                  <a:pt x="1213" y="1969"/>
                </a:cubicBezTo>
                <a:cubicBezTo>
                  <a:pt x="1213" y="1969"/>
                  <a:pt x="1212" y="1969"/>
                  <a:pt x="1212" y="1969"/>
                </a:cubicBezTo>
                <a:cubicBezTo>
                  <a:pt x="1211" y="1969"/>
                  <a:pt x="1211" y="1970"/>
                  <a:pt x="1210" y="1970"/>
                </a:cubicBezTo>
                <a:cubicBezTo>
                  <a:pt x="1209" y="1970"/>
                  <a:pt x="1209" y="1970"/>
                  <a:pt x="1208" y="1970"/>
                </a:cubicBezTo>
                <a:cubicBezTo>
                  <a:pt x="1208" y="1970"/>
                  <a:pt x="1207" y="1970"/>
                  <a:pt x="1207" y="1970"/>
                </a:cubicBezTo>
                <a:cubicBezTo>
                  <a:pt x="1206" y="1971"/>
                  <a:pt x="1205" y="1971"/>
                  <a:pt x="1204" y="1971"/>
                </a:cubicBezTo>
                <a:cubicBezTo>
                  <a:pt x="1202" y="1971"/>
                  <a:pt x="1201" y="1971"/>
                  <a:pt x="1199" y="1971"/>
                </a:cubicBezTo>
                <a:cubicBezTo>
                  <a:pt x="1199" y="1971"/>
                  <a:pt x="1199" y="1971"/>
                  <a:pt x="1199" y="1971"/>
                </a:cubicBezTo>
                <a:cubicBezTo>
                  <a:pt x="1199" y="1971"/>
                  <a:pt x="1199" y="1971"/>
                  <a:pt x="1199" y="1971"/>
                </a:cubicBezTo>
                <a:cubicBezTo>
                  <a:pt x="1181" y="1971"/>
                  <a:pt x="1164" y="1971"/>
                  <a:pt x="1147" y="1971"/>
                </a:cubicBezTo>
                <a:cubicBezTo>
                  <a:pt x="1145" y="1971"/>
                  <a:pt x="1143" y="1971"/>
                  <a:pt x="1141" y="1971"/>
                </a:cubicBezTo>
                <a:cubicBezTo>
                  <a:pt x="1141" y="1971"/>
                  <a:pt x="1140" y="1971"/>
                  <a:pt x="1140" y="1971"/>
                </a:cubicBezTo>
                <a:cubicBezTo>
                  <a:pt x="1139" y="1971"/>
                  <a:pt x="1137" y="1970"/>
                  <a:pt x="1136" y="1970"/>
                </a:cubicBezTo>
                <a:cubicBezTo>
                  <a:pt x="1136" y="1970"/>
                  <a:pt x="1136" y="1970"/>
                  <a:pt x="1136" y="1970"/>
                </a:cubicBezTo>
                <a:cubicBezTo>
                  <a:pt x="1135" y="1970"/>
                  <a:pt x="1135" y="1970"/>
                  <a:pt x="1135" y="1970"/>
                </a:cubicBezTo>
                <a:cubicBezTo>
                  <a:pt x="1134" y="1969"/>
                  <a:pt x="1132" y="1969"/>
                  <a:pt x="1131" y="1969"/>
                </a:cubicBezTo>
                <a:cubicBezTo>
                  <a:pt x="1130" y="1968"/>
                  <a:pt x="1130" y="1968"/>
                  <a:pt x="1129" y="1968"/>
                </a:cubicBezTo>
                <a:cubicBezTo>
                  <a:pt x="1128" y="1967"/>
                  <a:pt x="1128" y="1967"/>
                  <a:pt x="1127" y="1967"/>
                </a:cubicBezTo>
                <a:cubicBezTo>
                  <a:pt x="1127" y="1967"/>
                  <a:pt x="1126" y="1967"/>
                  <a:pt x="1126" y="1966"/>
                </a:cubicBezTo>
                <a:cubicBezTo>
                  <a:pt x="1124" y="1965"/>
                  <a:pt x="1121" y="1963"/>
                  <a:pt x="1120" y="1961"/>
                </a:cubicBezTo>
                <a:close/>
                <a:moveTo>
                  <a:pt x="1244" y="2063"/>
                </a:moveTo>
                <a:cubicBezTo>
                  <a:pt x="1243" y="2066"/>
                  <a:pt x="1241" y="2068"/>
                  <a:pt x="1238" y="2070"/>
                </a:cubicBezTo>
                <a:cubicBezTo>
                  <a:pt x="1236" y="2072"/>
                  <a:pt x="1233" y="2074"/>
                  <a:pt x="1229" y="2075"/>
                </a:cubicBezTo>
                <a:cubicBezTo>
                  <a:pt x="1225" y="2076"/>
                  <a:pt x="1221" y="2076"/>
                  <a:pt x="1217" y="2076"/>
                </a:cubicBezTo>
                <a:cubicBezTo>
                  <a:pt x="1205" y="2076"/>
                  <a:pt x="1205" y="2076"/>
                  <a:pt x="1205" y="2076"/>
                </a:cubicBezTo>
                <a:cubicBezTo>
                  <a:pt x="1205" y="2076"/>
                  <a:pt x="1205" y="2076"/>
                  <a:pt x="1205" y="2076"/>
                </a:cubicBezTo>
                <a:cubicBezTo>
                  <a:pt x="1189" y="2076"/>
                  <a:pt x="1174" y="2076"/>
                  <a:pt x="1158" y="2077"/>
                </a:cubicBezTo>
                <a:cubicBezTo>
                  <a:pt x="1156" y="2077"/>
                  <a:pt x="1154" y="2076"/>
                  <a:pt x="1152" y="2076"/>
                </a:cubicBezTo>
                <a:cubicBezTo>
                  <a:pt x="1152" y="2076"/>
                  <a:pt x="1151" y="2076"/>
                  <a:pt x="1151" y="2076"/>
                </a:cubicBezTo>
                <a:cubicBezTo>
                  <a:pt x="1149" y="2076"/>
                  <a:pt x="1148" y="2075"/>
                  <a:pt x="1146" y="2075"/>
                </a:cubicBezTo>
                <a:cubicBezTo>
                  <a:pt x="1146" y="2075"/>
                  <a:pt x="1146" y="2075"/>
                  <a:pt x="1146" y="2075"/>
                </a:cubicBezTo>
                <a:cubicBezTo>
                  <a:pt x="1145" y="2075"/>
                  <a:pt x="1145" y="2075"/>
                  <a:pt x="1145" y="2075"/>
                </a:cubicBezTo>
                <a:cubicBezTo>
                  <a:pt x="1138" y="2073"/>
                  <a:pt x="1132" y="2069"/>
                  <a:pt x="1128" y="2064"/>
                </a:cubicBezTo>
                <a:cubicBezTo>
                  <a:pt x="1128" y="2064"/>
                  <a:pt x="1128" y="2064"/>
                  <a:pt x="1128" y="2064"/>
                </a:cubicBezTo>
                <a:cubicBezTo>
                  <a:pt x="1128" y="2064"/>
                  <a:pt x="1128" y="2064"/>
                  <a:pt x="1128" y="2064"/>
                </a:cubicBezTo>
                <a:cubicBezTo>
                  <a:pt x="1127" y="2063"/>
                  <a:pt x="1126" y="2062"/>
                  <a:pt x="1126" y="2060"/>
                </a:cubicBezTo>
                <a:cubicBezTo>
                  <a:pt x="1126" y="2060"/>
                  <a:pt x="1126" y="2059"/>
                  <a:pt x="1125" y="2059"/>
                </a:cubicBezTo>
                <a:cubicBezTo>
                  <a:pt x="1125" y="2058"/>
                  <a:pt x="1125" y="2057"/>
                  <a:pt x="1125" y="2057"/>
                </a:cubicBezTo>
                <a:cubicBezTo>
                  <a:pt x="1125" y="2056"/>
                  <a:pt x="1125" y="2056"/>
                  <a:pt x="1125" y="2056"/>
                </a:cubicBezTo>
                <a:cubicBezTo>
                  <a:pt x="1125" y="2055"/>
                  <a:pt x="1125" y="2055"/>
                  <a:pt x="1125" y="2055"/>
                </a:cubicBezTo>
                <a:cubicBezTo>
                  <a:pt x="1125" y="2055"/>
                  <a:pt x="1125" y="2055"/>
                  <a:pt x="1125" y="2055"/>
                </a:cubicBezTo>
                <a:cubicBezTo>
                  <a:pt x="1124" y="2046"/>
                  <a:pt x="1123" y="2037"/>
                  <a:pt x="1123" y="2029"/>
                </a:cubicBezTo>
                <a:cubicBezTo>
                  <a:pt x="1123" y="2027"/>
                  <a:pt x="1122" y="2026"/>
                  <a:pt x="1122" y="2024"/>
                </a:cubicBezTo>
                <a:cubicBezTo>
                  <a:pt x="1122" y="2020"/>
                  <a:pt x="1122" y="2020"/>
                  <a:pt x="1122" y="2020"/>
                </a:cubicBezTo>
                <a:cubicBezTo>
                  <a:pt x="1122" y="2019"/>
                  <a:pt x="1122" y="2019"/>
                  <a:pt x="1122" y="2019"/>
                </a:cubicBezTo>
                <a:cubicBezTo>
                  <a:pt x="1122" y="2018"/>
                  <a:pt x="1122" y="2017"/>
                  <a:pt x="1122" y="2016"/>
                </a:cubicBezTo>
                <a:cubicBezTo>
                  <a:pt x="1122" y="2016"/>
                  <a:pt x="1123" y="2016"/>
                  <a:pt x="1123" y="2015"/>
                </a:cubicBezTo>
                <a:cubicBezTo>
                  <a:pt x="1123" y="2014"/>
                  <a:pt x="1123" y="2014"/>
                  <a:pt x="1123" y="2013"/>
                </a:cubicBezTo>
                <a:cubicBezTo>
                  <a:pt x="1124" y="2013"/>
                  <a:pt x="1124" y="2013"/>
                  <a:pt x="1124" y="2012"/>
                </a:cubicBezTo>
                <a:cubicBezTo>
                  <a:pt x="1124" y="2012"/>
                  <a:pt x="1124" y="2012"/>
                  <a:pt x="1124" y="2012"/>
                </a:cubicBezTo>
                <a:cubicBezTo>
                  <a:pt x="1125" y="2011"/>
                  <a:pt x="1125" y="2010"/>
                  <a:pt x="1126" y="2010"/>
                </a:cubicBezTo>
                <a:cubicBezTo>
                  <a:pt x="1126" y="2009"/>
                  <a:pt x="1127" y="2009"/>
                  <a:pt x="1127" y="2009"/>
                </a:cubicBezTo>
                <a:cubicBezTo>
                  <a:pt x="1128" y="2008"/>
                  <a:pt x="1128" y="2008"/>
                  <a:pt x="1129" y="2007"/>
                </a:cubicBezTo>
                <a:cubicBezTo>
                  <a:pt x="1129" y="2007"/>
                  <a:pt x="1129" y="2007"/>
                  <a:pt x="1130" y="2006"/>
                </a:cubicBezTo>
                <a:cubicBezTo>
                  <a:pt x="1130" y="2006"/>
                  <a:pt x="1130" y="2006"/>
                  <a:pt x="1130" y="2006"/>
                </a:cubicBezTo>
                <a:cubicBezTo>
                  <a:pt x="1131" y="2006"/>
                  <a:pt x="1132" y="2005"/>
                  <a:pt x="1133" y="2004"/>
                </a:cubicBezTo>
                <a:cubicBezTo>
                  <a:pt x="1134" y="2004"/>
                  <a:pt x="1134" y="2004"/>
                  <a:pt x="1134" y="2004"/>
                </a:cubicBezTo>
                <a:cubicBezTo>
                  <a:pt x="1134" y="2004"/>
                  <a:pt x="1135" y="2004"/>
                  <a:pt x="1135" y="2004"/>
                </a:cubicBezTo>
                <a:cubicBezTo>
                  <a:pt x="1135" y="2004"/>
                  <a:pt x="1135" y="2004"/>
                  <a:pt x="1136" y="2004"/>
                </a:cubicBezTo>
                <a:cubicBezTo>
                  <a:pt x="1137" y="2003"/>
                  <a:pt x="1138" y="2003"/>
                  <a:pt x="1139" y="2003"/>
                </a:cubicBezTo>
                <a:cubicBezTo>
                  <a:pt x="1139" y="2002"/>
                  <a:pt x="1140" y="2002"/>
                  <a:pt x="1140" y="2002"/>
                </a:cubicBezTo>
                <a:cubicBezTo>
                  <a:pt x="1141" y="2002"/>
                  <a:pt x="1141" y="2002"/>
                  <a:pt x="1142" y="2002"/>
                </a:cubicBezTo>
                <a:cubicBezTo>
                  <a:pt x="1143" y="2002"/>
                  <a:pt x="1145" y="2001"/>
                  <a:pt x="1147" y="2001"/>
                </a:cubicBezTo>
                <a:cubicBezTo>
                  <a:pt x="1147" y="2001"/>
                  <a:pt x="1148" y="2001"/>
                  <a:pt x="1148" y="2001"/>
                </a:cubicBezTo>
                <a:cubicBezTo>
                  <a:pt x="1149" y="2001"/>
                  <a:pt x="1149" y="2001"/>
                  <a:pt x="1150" y="2001"/>
                </a:cubicBezTo>
                <a:cubicBezTo>
                  <a:pt x="1153" y="2001"/>
                  <a:pt x="1153" y="2001"/>
                  <a:pt x="1153" y="2001"/>
                </a:cubicBezTo>
                <a:cubicBezTo>
                  <a:pt x="1155" y="2001"/>
                  <a:pt x="1158" y="2001"/>
                  <a:pt x="1160" y="2001"/>
                </a:cubicBezTo>
                <a:cubicBezTo>
                  <a:pt x="1163" y="2001"/>
                  <a:pt x="1165" y="2001"/>
                  <a:pt x="1168" y="2001"/>
                </a:cubicBezTo>
                <a:cubicBezTo>
                  <a:pt x="1191" y="2001"/>
                  <a:pt x="1191" y="2001"/>
                  <a:pt x="1191" y="2001"/>
                </a:cubicBezTo>
                <a:cubicBezTo>
                  <a:pt x="1197" y="2001"/>
                  <a:pt x="1203" y="2001"/>
                  <a:pt x="1209" y="2001"/>
                </a:cubicBezTo>
                <a:cubicBezTo>
                  <a:pt x="1210" y="2001"/>
                  <a:pt x="1211" y="2001"/>
                  <a:pt x="1212" y="2002"/>
                </a:cubicBezTo>
                <a:cubicBezTo>
                  <a:pt x="1212" y="2002"/>
                  <a:pt x="1213" y="2002"/>
                  <a:pt x="1214" y="2002"/>
                </a:cubicBezTo>
                <a:cubicBezTo>
                  <a:pt x="1214" y="2002"/>
                  <a:pt x="1214" y="2002"/>
                  <a:pt x="1215" y="2002"/>
                </a:cubicBezTo>
                <a:cubicBezTo>
                  <a:pt x="1215" y="2002"/>
                  <a:pt x="1216" y="2002"/>
                  <a:pt x="1216" y="2002"/>
                </a:cubicBezTo>
                <a:cubicBezTo>
                  <a:pt x="1216" y="2002"/>
                  <a:pt x="1216" y="2003"/>
                  <a:pt x="1217" y="2003"/>
                </a:cubicBezTo>
                <a:cubicBezTo>
                  <a:pt x="1218" y="2003"/>
                  <a:pt x="1219" y="2003"/>
                  <a:pt x="1220" y="2004"/>
                </a:cubicBezTo>
                <a:cubicBezTo>
                  <a:pt x="1221" y="2004"/>
                  <a:pt x="1221" y="2004"/>
                  <a:pt x="1222" y="2004"/>
                </a:cubicBezTo>
                <a:cubicBezTo>
                  <a:pt x="1222" y="2005"/>
                  <a:pt x="1223" y="2005"/>
                  <a:pt x="1223" y="2005"/>
                </a:cubicBezTo>
                <a:cubicBezTo>
                  <a:pt x="1224" y="2005"/>
                  <a:pt x="1225" y="2006"/>
                  <a:pt x="1226" y="2006"/>
                </a:cubicBezTo>
                <a:cubicBezTo>
                  <a:pt x="1229" y="2008"/>
                  <a:pt x="1231" y="2010"/>
                  <a:pt x="1233" y="2012"/>
                </a:cubicBezTo>
                <a:cubicBezTo>
                  <a:pt x="1235" y="2014"/>
                  <a:pt x="1237" y="2017"/>
                  <a:pt x="1237" y="2019"/>
                </a:cubicBezTo>
                <a:cubicBezTo>
                  <a:pt x="1240" y="2034"/>
                  <a:pt x="1240" y="2034"/>
                  <a:pt x="1240" y="2034"/>
                </a:cubicBezTo>
                <a:cubicBezTo>
                  <a:pt x="1241" y="2040"/>
                  <a:pt x="1243" y="2046"/>
                  <a:pt x="1244" y="2052"/>
                </a:cubicBezTo>
                <a:cubicBezTo>
                  <a:pt x="1244" y="2052"/>
                  <a:pt x="1244" y="2052"/>
                  <a:pt x="1244" y="2052"/>
                </a:cubicBezTo>
                <a:cubicBezTo>
                  <a:pt x="1244" y="2055"/>
                  <a:pt x="1244" y="2055"/>
                  <a:pt x="1244" y="2055"/>
                </a:cubicBezTo>
                <a:cubicBezTo>
                  <a:pt x="1245" y="2058"/>
                  <a:pt x="1245" y="2061"/>
                  <a:pt x="1244" y="2063"/>
                </a:cubicBezTo>
                <a:close/>
                <a:moveTo>
                  <a:pt x="1349" y="1880"/>
                </a:moveTo>
                <a:cubicBezTo>
                  <a:pt x="1346" y="1879"/>
                  <a:pt x="1344" y="1878"/>
                  <a:pt x="1342" y="1876"/>
                </a:cubicBezTo>
                <a:cubicBezTo>
                  <a:pt x="1340" y="1875"/>
                  <a:pt x="1338" y="1873"/>
                  <a:pt x="1338" y="1871"/>
                </a:cubicBezTo>
                <a:cubicBezTo>
                  <a:pt x="1337" y="1868"/>
                  <a:pt x="1337" y="1868"/>
                  <a:pt x="1337" y="1868"/>
                </a:cubicBezTo>
                <a:cubicBezTo>
                  <a:pt x="1335" y="1863"/>
                  <a:pt x="1333" y="1859"/>
                  <a:pt x="1332" y="1854"/>
                </a:cubicBezTo>
                <a:cubicBezTo>
                  <a:pt x="1331" y="1852"/>
                  <a:pt x="1329" y="1848"/>
                  <a:pt x="1329" y="1845"/>
                </a:cubicBezTo>
                <a:cubicBezTo>
                  <a:pt x="1329" y="1845"/>
                  <a:pt x="1329" y="1845"/>
                  <a:pt x="1329" y="1844"/>
                </a:cubicBezTo>
                <a:cubicBezTo>
                  <a:pt x="1329" y="1844"/>
                  <a:pt x="1329" y="1844"/>
                  <a:pt x="1329" y="1844"/>
                </a:cubicBezTo>
                <a:cubicBezTo>
                  <a:pt x="1329" y="1844"/>
                  <a:pt x="1329" y="1843"/>
                  <a:pt x="1329" y="1843"/>
                </a:cubicBezTo>
                <a:cubicBezTo>
                  <a:pt x="1329" y="1843"/>
                  <a:pt x="1329" y="1843"/>
                  <a:pt x="1329" y="1842"/>
                </a:cubicBezTo>
                <a:cubicBezTo>
                  <a:pt x="1329" y="1842"/>
                  <a:pt x="1329" y="1842"/>
                  <a:pt x="1329" y="1842"/>
                </a:cubicBezTo>
                <a:cubicBezTo>
                  <a:pt x="1333" y="1834"/>
                  <a:pt x="1348" y="1835"/>
                  <a:pt x="1355" y="1835"/>
                </a:cubicBezTo>
                <a:cubicBezTo>
                  <a:pt x="1392" y="1835"/>
                  <a:pt x="1392" y="1835"/>
                  <a:pt x="1392" y="1835"/>
                </a:cubicBezTo>
                <a:cubicBezTo>
                  <a:pt x="1396" y="1835"/>
                  <a:pt x="1399" y="1835"/>
                  <a:pt x="1402" y="1836"/>
                </a:cubicBezTo>
                <a:cubicBezTo>
                  <a:pt x="1403" y="1836"/>
                  <a:pt x="1404" y="1836"/>
                  <a:pt x="1405" y="1836"/>
                </a:cubicBezTo>
                <a:cubicBezTo>
                  <a:pt x="1405" y="1836"/>
                  <a:pt x="1405" y="1837"/>
                  <a:pt x="1406" y="1837"/>
                </a:cubicBezTo>
                <a:cubicBezTo>
                  <a:pt x="1406" y="1837"/>
                  <a:pt x="1407" y="1837"/>
                  <a:pt x="1408" y="1837"/>
                </a:cubicBezTo>
                <a:cubicBezTo>
                  <a:pt x="1409" y="1837"/>
                  <a:pt x="1410" y="1838"/>
                  <a:pt x="1411" y="1838"/>
                </a:cubicBezTo>
                <a:cubicBezTo>
                  <a:pt x="1411" y="1838"/>
                  <a:pt x="1411" y="1838"/>
                  <a:pt x="1411" y="1838"/>
                </a:cubicBezTo>
                <a:cubicBezTo>
                  <a:pt x="1411" y="1838"/>
                  <a:pt x="1411" y="1838"/>
                  <a:pt x="1411" y="1838"/>
                </a:cubicBezTo>
                <a:cubicBezTo>
                  <a:pt x="1412" y="1839"/>
                  <a:pt x="1413" y="1839"/>
                  <a:pt x="1414" y="1840"/>
                </a:cubicBezTo>
                <a:cubicBezTo>
                  <a:pt x="1415" y="1840"/>
                  <a:pt x="1415" y="1840"/>
                  <a:pt x="1416" y="1841"/>
                </a:cubicBezTo>
                <a:cubicBezTo>
                  <a:pt x="1416" y="1841"/>
                  <a:pt x="1416" y="1841"/>
                  <a:pt x="1417" y="1841"/>
                </a:cubicBezTo>
                <a:cubicBezTo>
                  <a:pt x="1417" y="1841"/>
                  <a:pt x="1417" y="1841"/>
                  <a:pt x="1417" y="1842"/>
                </a:cubicBezTo>
                <a:cubicBezTo>
                  <a:pt x="1418" y="1842"/>
                  <a:pt x="1418" y="1842"/>
                  <a:pt x="1418" y="1842"/>
                </a:cubicBezTo>
                <a:cubicBezTo>
                  <a:pt x="1420" y="1844"/>
                  <a:pt x="1422" y="1845"/>
                  <a:pt x="1423" y="1847"/>
                </a:cubicBezTo>
                <a:cubicBezTo>
                  <a:pt x="1423" y="1847"/>
                  <a:pt x="1423" y="1847"/>
                  <a:pt x="1423" y="1847"/>
                </a:cubicBezTo>
                <a:cubicBezTo>
                  <a:pt x="1426" y="1852"/>
                  <a:pt x="1428" y="1859"/>
                  <a:pt x="1431" y="1864"/>
                </a:cubicBezTo>
                <a:cubicBezTo>
                  <a:pt x="1431" y="1864"/>
                  <a:pt x="1431" y="1864"/>
                  <a:pt x="1431" y="1864"/>
                </a:cubicBezTo>
                <a:cubicBezTo>
                  <a:pt x="1432" y="1867"/>
                  <a:pt x="1434" y="1870"/>
                  <a:pt x="1435" y="1873"/>
                </a:cubicBezTo>
                <a:cubicBezTo>
                  <a:pt x="1435" y="1873"/>
                  <a:pt x="1435" y="1873"/>
                  <a:pt x="1435" y="1873"/>
                </a:cubicBezTo>
                <a:cubicBezTo>
                  <a:pt x="1435" y="1873"/>
                  <a:pt x="1435" y="1873"/>
                  <a:pt x="1435" y="1874"/>
                </a:cubicBezTo>
                <a:cubicBezTo>
                  <a:pt x="1436" y="1879"/>
                  <a:pt x="1431" y="1882"/>
                  <a:pt x="1425" y="1883"/>
                </a:cubicBezTo>
                <a:cubicBezTo>
                  <a:pt x="1425" y="1883"/>
                  <a:pt x="1425" y="1883"/>
                  <a:pt x="1425" y="1883"/>
                </a:cubicBezTo>
                <a:cubicBezTo>
                  <a:pt x="1425" y="1883"/>
                  <a:pt x="1424" y="1883"/>
                  <a:pt x="1424" y="1883"/>
                </a:cubicBezTo>
                <a:cubicBezTo>
                  <a:pt x="1423" y="1884"/>
                  <a:pt x="1422" y="1884"/>
                  <a:pt x="1421" y="1884"/>
                </a:cubicBezTo>
                <a:cubicBezTo>
                  <a:pt x="1421" y="1884"/>
                  <a:pt x="1420" y="1884"/>
                  <a:pt x="1420" y="1884"/>
                </a:cubicBezTo>
                <a:cubicBezTo>
                  <a:pt x="1419" y="1884"/>
                  <a:pt x="1418" y="1884"/>
                  <a:pt x="1417" y="1884"/>
                </a:cubicBezTo>
                <a:cubicBezTo>
                  <a:pt x="1417" y="1884"/>
                  <a:pt x="1416" y="1884"/>
                  <a:pt x="1416" y="1884"/>
                </a:cubicBezTo>
                <a:cubicBezTo>
                  <a:pt x="1416" y="1884"/>
                  <a:pt x="1416" y="1884"/>
                  <a:pt x="1415" y="1884"/>
                </a:cubicBezTo>
                <a:cubicBezTo>
                  <a:pt x="1414" y="1884"/>
                  <a:pt x="1414" y="1884"/>
                  <a:pt x="1414" y="1884"/>
                </a:cubicBezTo>
                <a:cubicBezTo>
                  <a:pt x="1408" y="1884"/>
                  <a:pt x="1403" y="1884"/>
                  <a:pt x="1397" y="1884"/>
                </a:cubicBezTo>
                <a:cubicBezTo>
                  <a:pt x="1387" y="1884"/>
                  <a:pt x="1378" y="1884"/>
                  <a:pt x="1368" y="1884"/>
                </a:cubicBezTo>
                <a:cubicBezTo>
                  <a:pt x="1362" y="1884"/>
                  <a:pt x="1355" y="1883"/>
                  <a:pt x="1349" y="1880"/>
                </a:cubicBezTo>
                <a:cubicBezTo>
                  <a:pt x="1349" y="1880"/>
                  <a:pt x="1349" y="1880"/>
                  <a:pt x="1349" y="1880"/>
                </a:cubicBezTo>
                <a:close/>
                <a:moveTo>
                  <a:pt x="1373" y="1961"/>
                </a:moveTo>
                <a:cubicBezTo>
                  <a:pt x="1371" y="1959"/>
                  <a:pt x="1369" y="1956"/>
                  <a:pt x="1369" y="1954"/>
                </a:cubicBezTo>
                <a:cubicBezTo>
                  <a:pt x="1363" y="1940"/>
                  <a:pt x="1363" y="1940"/>
                  <a:pt x="1363" y="1940"/>
                </a:cubicBezTo>
                <a:cubicBezTo>
                  <a:pt x="1362" y="1935"/>
                  <a:pt x="1360" y="1931"/>
                  <a:pt x="1359" y="1927"/>
                </a:cubicBezTo>
                <a:cubicBezTo>
                  <a:pt x="1359" y="1927"/>
                  <a:pt x="1359" y="1927"/>
                  <a:pt x="1359" y="1927"/>
                </a:cubicBezTo>
                <a:cubicBezTo>
                  <a:pt x="1358" y="1925"/>
                  <a:pt x="1358" y="1925"/>
                  <a:pt x="1358" y="1925"/>
                </a:cubicBezTo>
                <a:cubicBezTo>
                  <a:pt x="1357" y="1923"/>
                  <a:pt x="1357" y="1921"/>
                  <a:pt x="1358" y="1919"/>
                </a:cubicBezTo>
                <a:cubicBezTo>
                  <a:pt x="1358" y="1918"/>
                  <a:pt x="1359" y="1917"/>
                  <a:pt x="1360" y="1916"/>
                </a:cubicBezTo>
                <a:cubicBezTo>
                  <a:pt x="1360" y="1916"/>
                  <a:pt x="1361" y="1916"/>
                  <a:pt x="1361" y="1915"/>
                </a:cubicBezTo>
                <a:cubicBezTo>
                  <a:pt x="1361" y="1915"/>
                  <a:pt x="1361" y="1915"/>
                  <a:pt x="1362" y="1915"/>
                </a:cubicBezTo>
                <a:cubicBezTo>
                  <a:pt x="1364" y="1913"/>
                  <a:pt x="1366" y="1912"/>
                  <a:pt x="1369" y="1911"/>
                </a:cubicBezTo>
                <a:cubicBezTo>
                  <a:pt x="1371" y="1911"/>
                  <a:pt x="1374" y="1910"/>
                  <a:pt x="1376" y="1910"/>
                </a:cubicBezTo>
                <a:cubicBezTo>
                  <a:pt x="1386" y="1909"/>
                  <a:pt x="1397" y="1910"/>
                  <a:pt x="1402" y="1910"/>
                </a:cubicBezTo>
                <a:cubicBezTo>
                  <a:pt x="1420" y="1910"/>
                  <a:pt x="1451" y="1906"/>
                  <a:pt x="1461" y="1925"/>
                </a:cubicBezTo>
                <a:cubicBezTo>
                  <a:pt x="1461" y="1925"/>
                  <a:pt x="1461" y="1925"/>
                  <a:pt x="1461" y="1925"/>
                </a:cubicBezTo>
                <a:cubicBezTo>
                  <a:pt x="1461" y="1925"/>
                  <a:pt x="1461" y="1925"/>
                  <a:pt x="1461" y="1925"/>
                </a:cubicBezTo>
                <a:cubicBezTo>
                  <a:pt x="1461" y="1925"/>
                  <a:pt x="1461" y="1925"/>
                  <a:pt x="1461" y="1925"/>
                </a:cubicBezTo>
                <a:cubicBezTo>
                  <a:pt x="1465" y="1933"/>
                  <a:pt x="1469" y="1940"/>
                  <a:pt x="1473" y="1948"/>
                </a:cubicBezTo>
                <a:cubicBezTo>
                  <a:pt x="1474" y="1951"/>
                  <a:pt x="1476" y="1953"/>
                  <a:pt x="1476" y="1956"/>
                </a:cubicBezTo>
                <a:cubicBezTo>
                  <a:pt x="1476" y="1956"/>
                  <a:pt x="1476" y="1956"/>
                  <a:pt x="1476" y="1957"/>
                </a:cubicBezTo>
                <a:cubicBezTo>
                  <a:pt x="1477" y="1957"/>
                  <a:pt x="1477" y="1958"/>
                  <a:pt x="1477" y="1958"/>
                </a:cubicBezTo>
                <a:cubicBezTo>
                  <a:pt x="1477" y="1959"/>
                  <a:pt x="1477" y="1959"/>
                  <a:pt x="1477" y="1960"/>
                </a:cubicBezTo>
                <a:cubicBezTo>
                  <a:pt x="1477" y="1960"/>
                  <a:pt x="1477" y="1960"/>
                  <a:pt x="1477" y="1960"/>
                </a:cubicBezTo>
                <a:cubicBezTo>
                  <a:pt x="1477" y="1960"/>
                  <a:pt x="1476" y="1961"/>
                  <a:pt x="1476" y="1961"/>
                </a:cubicBezTo>
                <a:cubicBezTo>
                  <a:pt x="1476" y="1962"/>
                  <a:pt x="1476" y="1962"/>
                  <a:pt x="1475" y="1963"/>
                </a:cubicBezTo>
                <a:cubicBezTo>
                  <a:pt x="1475" y="1963"/>
                  <a:pt x="1475" y="1963"/>
                  <a:pt x="1475" y="1963"/>
                </a:cubicBezTo>
                <a:cubicBezTo>
                  <a:pt x="1475" y="1964"/>
                  <a:pt x="1474" y="1965"/>
                  <a:pt x="1474" y="1965"/>
                </a:cubicBezTo>
                <a:cubicBezTo>
                  <a:pt x="1473" y="1965"/>
                  <a:pt x="1473" y="1965"/>
                  <a:pt x="1473" y="1966"/>
                </a:cubicBezTo>
                <a:cubicBezTo>
                  <a:pt x="1473" y="1966"/>
                  <a:pt x="1473" y="1966"/>
                  <a:pt x="1472" y="1966"/>
                </a:cubicBezTo>
                <a:cubicBezTo>
                  <a:pt x="1472" y="1966"/>
                  <a:pt x="1472" y="1967"/>
                  <a:pt x="1471" y="1967"/>
                </a:cubicBezTo>
                <a:cubicBezTo>
                  <a:pt x="1470" y="1968"/>
                  <a:pt x="1468" y="1969"/>
                  <a:pt x="1466" y="1969"/>
                </a:cubicBezTo>
                <a:cubicBezTo>
                  <a:pt x="1465" y="1969"/>
                  <a:pt x="1465" y="1969"/>
                  <a:pt x="1464" y="1970"/>
                </a:cubicBezTo>
                <a:cubicBezTo>
                  <a:pt x="1463" y="1970"/>
                  <a:pt x="1462" y="1970"/>
                  <a:pt x="1462" y="1970"/>
                </a:cubicBezTo>
                <a:cubicBezTo>
                  <a:pt x="1461" y="1970"/>
                  <a:pt x="1461" y="1970"/>
                  <a:pt x="1461" y="1970"/>
                </a:cubicBezTo>
                <a:cubicBezTo>
                  <a:pt x="1460" y="1970"/>
                  <a:pt x="1460" y="1970"/>
                  <a:pt x="1460" y="1970"/>
                </a:cubicBezTo>
                <a:cubicBezTo>
                  <a:pt x="1441" y="1972"/>
                  <a:pt x="1422" y="1971"/>
                  <a:pt x="1403" y="1971"/>
                </a:cubicBezTo>
                <a:cubicBezTo>
                  <a:pt x="1401" y="1971"/>
                  <a:pt x="1399" y="1971"/>
                  <a:pt x="1397" y="1970"/>
                </a:cubicBezTo>
                <a:cubicBezTo>
                  <a:pt x="1397" y="1970"/>
                  <a:pt x="1397" y="1970"/>
                  <a:pt x="1397" y="1970"/>
                </a:cubicBezTo>
                <a:cubicBezTo>
                  <a:pt x="1390" y="1970"/>
                  <a:pt x="1383" y="1967"/>
                  <a:pt x="1377" y="1964"/>
                </a:cubicBezTo>
                <a:cubicBezTo>
                  <a:pt x="1376" y="1963"/>
                  <a:pt x="1374" y="1962"/>
                  <a:pt x="1373" y="1961"/>
                </a:cubicBezTo>
                <a:close/>
                <a:moveTo>
                  <a:pt x="1527" y="2063"/>
                </a:moveTo>
                <a:cubicBezTo>
                  <a:pt x="1527" y="2063"/>
                  <a:pt x="1527" y="2064"/>
                  <a:pt x="1527" y="2064"/>
                </a:cubicBezTo>
                <a:cubicBezTo>
                  <a:pt x="1527" y="2065"/>
                  <a:pt x="1526" y="2065"/>
                  <a:pt x="1526" y="2065"/>
                </a:cubicBezTo>
                <a:cubicBezTo>
                  <a:pt x="1526" y="2066"/>
                  <a:pt x="1526" y="2066"/>
                  <a:pt x="1525" y="2067"/>
                </a:cubicBezTo>
                <a:cubicBezTo>
                  <a:pt x="1525" y="2067"/>
                  <a:pt x="1525" y="2068"/>
                  <a:pt x="1525" y="2068"/>
                </a:cubicBezTo>
                <a:cubicBezTo>
                  <a:pt x="1525" y="2068"/>
                  <a:pt x="1524" y="2068"/>
                  <a:pt x="1524" y="2069"/>
                </a:cubicBezTo>
                <a:cubicBezTo>
                  <a:pt x="1524" y="2069"/>
                  <a:pt x="1524" y="2069"/>
                  <a:pt x="1524" y="2069"/>
                </a:cubicBezTo>
                <a:cubicBezTo>
                  <a:pt x="1524" y="2069"/>
                  <a:pt x="1523" y="2070"/>
                  <a:pt x="1523" y="2070"/>
                </a:cubicBezTo>
                <a:cubicBezTo>
                  <a:pt x="1520" y="2073"/>
                  <a:pt x="1515" y="2074"/>
                  <a:pt x="1511" y="2075"/>
                </a:cubicBezTo>
                <a:cubicBezTo>
                  <a:pt x="1510" y="2075"/>
                  <a:pt x="1510" y="2075"/>
                  <a:pt x="1510" y="2075"/>
                </a:cubicBezTo>
                <a:cubicBezTo>
                  <a:pt x="1508" y="2075"/>
                  <a:pt x="1506" y="2076"/>
                  <a:pt x="1504" y="2076"/>
                </a:cubicBezTo>
                <a:cubicBezTo>
                  <a:pt x="1504" y="2076"/>
                  <a:pt x="1504" y="2076"/>
                  <a:pt x="1504" y="2076"/>
                </a:cubicBezTo>
                <a:cubicBezTo>
                  <a:pt x="1503" y="2076"/>
                  <a:pt x="1503" y="2076"/>
                  <a:pt x="1503" y="2076"/>
                </a:cubicBezTo>
                <a:cubicBezTo>
                  <a:pt x="1501" y="2076"/>
                  <a:pt x="1499" y="2076"/>
                  <a:pt x="1497" y="2076"/>
                </a:cubicBezTo>
                <a:cubicBezTo>
                  <a:pt x="1446" y="2076"/>
                  <a:pt x="1446" y="2076"/>
                  <a:pt x="1446" y="2076"/>
                </a:cubicBezTo>
                <a:cubicBezTo>
                  <a:pt x="1444" y="2076"/>
                  <a:pt x="1441" y="2076"/>
                  <a:pt x="1439" y="2075"/>
                </a:cubicBezTo>
                <a:cubicBezTo>
                  <a:pt x="1439" y="2075"/>
                  <a:pt x="1438" y="2075"/>
                  <a:pt x="1438" y="2075"/>
                </a:cubicBezTo>
                <a:cubicBezTo>
                  <a:pt x="1427" y="2074"/>
                  <a:pt x="1414" y="2069"/>
                  <a:pt x="1408" y="2059"/>
                </a:cubicBezTo>
                <a:cubicBezTo>
                  <a:pt x="1407" y="2058"/>
                  <a:pt x="1407" y="2056"/>
                  <a:pt x="1406" y="2055"/>
                </a:cubicBezTo>
                <a:cubicBezTo>
                  <a:pt x="1406" y="2055"/>
                  <a:pt x="1406" y="2055"/>
                  <a:pt x="1406" y="2055"/>
                </a:cubicBezTo>
                <a:cubicBezTo>
                  <a:pt x="1406" y="2055"/>
                  <a:pt x="1406" y="2055"/>
                  <a:pt x="1406" y="2055"/>
                </a:cubicBezTo>
                <a:cubicBezTo>
                  <a:pt x="1403" y="2047"/>
                  <a:pt x="1400" y="2040"/>
                  <a:pt x="1398" y="2032"/>
                </a:cubicBezTo>
                <a:cubicBezTo>
                  <a:pt x="1396" y="2029"/>
                  <a:pt x="1394" y="2024"/>
                  <a:pt x="1393" y="2019"/>
                </a:cubicBezTo>
                <a:cubicBezTo>
                  <a:pt x="1393" y="2019"/>
                  <a:pt x="1393" y="2019"/>
                  <a:pt x="1393" y="2019"/>
                </a:cubicBezTo>
                <a:cubicBezTo>
                  <a:pt x="1393" y="2019"/>
                  <a:pt x="1393" y="2019"/>
                  <a:pt x="1393" y="2019"/>
                </a:cubicBezTo>
                <a:cubicBezTo>
                  <a:pt x="1392" y="2018"/>
                  <a:pt x="1392" y="2018"/>
                  <a:pt x="1392" y="2017"/>
                </a:cubicBezTo>
                <a:cubicBezTo>
                  <a:pt x="1392" y="2015"/>
                  <a:pt x="1392" y="2013"/>
                  <a:pt x="1392" y="2012"/>
                </a:cubicBezTo>
                <a:cubicBezTo>
                  <a:pt x="1393" y="2011"/>
                  <a:pt x="1393" y="2010"/>
                  <a:pt x="1394" y="2009"/>
                </a:cubicBezTo>
                <a:cubicBezTo>
                  <a:pt x="1394" y="2009"/>
                  <a:pt x="1394" y="2009"/>
                  <a:pt x="1394" y="2009"/>
                </a:cubicBezTo>
                <a:cubicBezTo>
                  <a:pt x="1397" y="2004"/>
                  <a:pt x="1403" y="2002"/>
                  <a:pt x="1409" y="2001"/>
                </a:cubicBezTo>
                <a:cubicBezTo>
                  <a:pt x="1409" y="2001"/>
                  <a:pt x="1409" y="2001"/>
                  <a:pt x="1410" y="2001"/>
                </a:cubicBezTo>
                <a:cubicBezTo>
                  <a:pt x="1411" y="2001"/>
                  <a:pt x="1413" y="2001"/>
                  <a:pt x="1414" y="2000"/>
                </a:cubicBezTo>
                <a:cubicBezTo>
                  <a:pt x="1414" y="2000"/>
                  <a:pt x="1415" y="2000"/>
                  <a:pt x="1415" y="2000"/>
                </a:cubicBezTo>
                <a:cubicBezTo>
                  <a:pt x="1418" y="2000"/>
                  <a:pt x="1418" y="2000"/>
                  <a:pt x="1418" y="2000"/>
                </a:cubicBezTo>
                <a:cubicBezTo>
                  <a:pt x="1419" y="2000"/>
                  <a:pt x="1420" y="2000"/>
                  <a:pt x="1421" y="2000"/>
                </a:cubicBezTo>
                <a:cubicBezTo>
                  <a:pt x="1437" y="2000"/>
                  <a:pt x="1453" y="2000"/>
                  <a:pt x="1469" y="2000"/>
                </a:cubicBezTo>
                <a:cubicBezTo>
                  <a:pt x="1469" y="2000"/>
                  <a:pt x="1469" y="2000"/>
                  <a:pt x="1469" y="2000"/>
                </a:cubicBezTo>
                <a:cubicBezTo>
                  <a:pt x="1469" y="2000"/>
                  <a:pt x="1469" y="2000"/>
                  <a:pt x="1469" y="2000"/>
                </a:cubicBezTo>
                <a:cubicBezTo>
                  <a:pt x="1471" y="2000"/>
                  <a:pt x="1473" y="2000"/>
                  <a:pt x="1475" y="2001"/>
                </a:cubicBezTo>
                <a:cubicBezTo>
                  <a:pt x="1475" y="2001"/>
                  <a:pt x="1476" y="2001"/>
                  <a:pt x="1476" y="2001"/>
                </a:cubicBezTo>
                <a:cubicBezTo>
                  <a:pt x="1487" y="2002"/>
                  <a:pt x="1499" y="2006"/>
                  <a:pt x="1505" y="2015"/>
                </a:cubicBezTo>
                <a:cubicBezTo>
                  <a:pt x="1506" y="2016"/>
                  <a:pt x="1507" y="2017"/>
                  <a:pt x="1508" y="2019"/>
                </a:cubicBezTo>
                <a:cubicBezTo>
                  <a:pt x="1509" y="2022"/>
                  <a:pt x="1509" y="2022"/>
                  <a:pt x="1509" y="2022"/>
                </a:cubicBezTo>
                <a:cubicBezTo>
                  <a:pt x="1512" y="2028"/>
                  <a:pt x="1516" y="2035"/>
                  <a:pt x="1519" y="2041"/>
                </a:cubicBezTo>
                <a:cubicBezTo>
                  <a:pt x="1521" y="2045"/>
                  <a:pt x="1524" y="2051"/>
                  <a:pt x="1526" y="2056"/>
                </a:cubicBezTo>
                <a:cubicBezTo>
                  <a:pt x="1527" y="2058"/>
                  <a:pt x="1527" y="2061"/>
                  <a:pt x="1527" y="2063"/>
                </a:cubicBezTo>
                <a:close/>
                <a:moveTo>
                  <a:pt x="1640" y="2000"/>
                </a:moveTo>
                <a:cubicBezTo>
                  <a:pt x="1642" y="2000"/>
                  <a:pt x="1643" y="2000"/>
                  <a:pt x="1645" y="2000"/>
                </a:cubicBezTo>
                <a:cubicBezTo>
                  <a:pt x="1645" y="2000"/>
                  <a:pt x="1645" y="2000"/>
                  <a:pt x="1646" y="2000"/>
                </a:cubicBezTo>
                <a:cubicBezTo>
                  <a:pt x="1657" y="2002"/>
                  <a:pt x="1669" y="2006"/>
                  <a:pt x="1677" y="2014"/>
                </a:cubicBezTo>
                <a:cubicBezTo>
                  <a:pt x="1678" y="2014"/>
                  <a:pt x="1678" y="2015"/>
                  <a:pt x="1678" y="2015"/>
                </a:cubicBezTo>
                <a:cubicBezTo>
                  <a:pt x="1679" y="2016"/>
                  <a:pt x="1679" y="2016"/>
                  <a:pt x="1680" y="2017"/>
                </a:cubicBezTo>
                <a:cubicBezTo>
                  <a:pt x="1680" y="2017"/>
                  <a:pt x="1680" y="2017"/>
                  <a:pt x="1680" y="2018"/>
                </a:cubicBezTo>
                <a:cubicBezTo>
                  <a:pt x="1681" y="2018"/>
                  <a:pt x="1681" y="2018"/>
                  <a:pt x="1681" y="2018"/>
                </a:cubicBezTo>
                <a:cubicBezTo>
                  <a:pt x="1682" y="2019"/>
                  <a:pt x="1682" y="2019"/>
                  <a:pt x="1682" y="2019"/>
                </a:cubicBezTo>
                <a:cubicBezTo>
                  <a:pt x="1685" y="2024"/>
                  <a:pt x="1688" y="2029"/>
                  <a:pt x="1692" y="2034"/>
                </a:cubicBezTo>
                <a:cubicBezTo>
                  <a:pt x="1692" y="2034"/>
                  <a:pt x="1692" y="2034"/>
                  <a:pt x="1692" y="2034"/>
                </a:cubicBezTo>
                <a:cubicBezTo>
                  <a:pt x="1697" y="2041"/>
                  <a:pt x="1703" y="2049"/>
                  <a:pt x="1707" y="2056"/>
                </a:cubicBezTo>
                <a:cubicBezTo>
                  <a:pt x="1707" y="2057"/>
                  <a:pt x="1707" y="2057"/>
                  <a:pt x="1708" y="2058"/>
                </a:cubicBezTo>
                <a:cubicBezTo>
                  <a:pt x="1708" y="2058"/>
                  <a:pt x="1708" y="2058"/>
                  <a:pt x="1708" y="2058"/>
                </a:cubicBezTo>
                <a:cubicBezTo>
                  <a:pt x="1709" y="2063"/>
                  <a:pt x="1709" y="2066"/>
                  <a:pt x="1707" y="2068"/>
                </a:cubicBezTo>
                <a:cubicBezTo>
                  <a:pt x="1706" y="2069"/>
                  <a:pt x="1706" y="2069"/>
                  <a:pt x="1706" y="2069"/>
                </a:cubicBezTo>
                <a:cubicBezTo>
                  <a:pt x="1705" y="2071"/>
                  <a:pt x="1702" y="2072"/>
                  <a:pt x="1699" y="2073"/>
                </a:cubicBezTo>
                <a:cubicBezTo>
                  <a:pt x="1696" y="2074"/>
                  <a:pt x="1692" y="2075"/>
                  <a:pt x="1688" y="2075"/>
                </a:cubicBezTo>
                <a:cubicBezTo>
                  <a:pt x="1684" y="2075"/>
                  <a:pt x="1684" y="2075"/>
                  <a:pt x="1684" y="2075"/>
                </a:cubicBezTo>
                <a:cubicBezTo>
                  <a:pt x="1684" y="2075"/>
                  <a:pt x="1684" y="2075"/>
                  <a:pt x="1684" y="2075"/>
                </a:cubicBezTo>
                <a:cubicBezTo>
                  <a:pt x="1666" y="2075"/>
                  <a:pt x="1648" y="2075"/>
                  <a:pt x="1629" y="2075"/>
                </a:cubicBezTo>
                <a:cubicBezTo>
                  <a:pt x="1627" y="2075"/>
                  <a:pt x="1625" y="2075"/>
                  <a:pt x="1623" y="2075"/>
                </a:cubicBezTo>
                <a:cubicBezTo>
                  <a:pt x="1623" y="2075"/>
                  <a:pt x="1623" y="2075"/>
                  <a:pt x="1623" y="2075"/>
                </a:cubicBezTo>
                <a:cubicBezTo>
                  <a:pt x="1610" y="2073"/>
                  <a:pt x="1597" y="2068"/>
                  <a:pt x="1589" y="2059"/>
                </a:cubicBezTo>
                <a:cubicBezTo>
                  <a:pt x="1588" y="2057"/>
                  <a:pt x="1587" y="2056"/>
                  <a:pt x="1586" y="2055"/>
                </a:cubicBezTo>
                <a:cubicBezTo>
                  <a:pt x="1586" y="2054"/>
                  <a:pt x="1586" y="2054"/>
                  <a:pt x="1586" y="2054"/>
                </a:cubicBezTo>
                <a:cubicBezTo>
                  <a:pt x="1586" y="2054"/>
                  <a:pt x="1586" y="2054"/>
                  <a:pt x="1586" y="2054"/>
                </a:cubicBezTo>
                <a:cubicBezTo>
                  <a:pt x="1582" y="2047"/>
                  <a:pt x="1578" y="2041"/>
                  <a:pt x="1574" y="2034"/>
                </a:cubicBezTo>
                <a:cubicBezTo>
                  <a:pt x="1571" y="2029"/>
                  <a:pt x="1566" y="2021"/>
                  <a:pt x="1564" y="2015"/>
                </a:cubicBezTo>
                <a:cubicBezTo>
                  <a:pt x="1564" y="2015"/>
                  <a:pt x="1564" y="2015"/>
                  <a:pt x="1564" y="2014"/>
                </a:cubicBezTo>
                <a:cubicBezTo>
                  <a:pt x="1564" y="2014"/>
                  <a:pt x="1564" y="2013"/>
                  <a:pt x="1564" y="2013"/>
                </a:cubicBezTo>
                <a:cubicBezTo>
                  <a:pt x="1564" y="2006"/>
                  <a:pt x="1568" y="2003"/>
                  <a:pt x="1574" y="2002"/>
                </a:cubicBezTo>
                <a:cubicBezTo>
                  <a:pt x="1574" y="2001"/>
                  <a:pt x="1574" y="2001"/>
                  <a:pt x="1574" y="2001"/>
                </a:cubicBezTo>
                <a:cubicBezTo>
                  <a:pt x="1574" y="2001"/>
                  <a:pt x="1575" y="2001"/>
                  <a:pt x="1575" y="2001"/>
                </a:cubicBezTo>
                <a:cubicBezTo>
                  <a:pt x="1575" y="2001"/>
                  <a:pt x="1576" y="2001"/>
                  <a:pt x="1576" y="2001"/>
                </a:cubicBezTo>
                <a:cubicBezTo>
                  <a:pt x="1579" y="2000"/>
                  <a:pt x="1581" y="2000"/>
                  <a:pt x="1585" y="2000"/>
                </a:cubicBezTo>
                <a:cubicBezTo>
                  <a:pt x="1621" y="2000"/>
                  <a:pt x="1621" y="2000"/>
                  <a:pt x="1621" y="2000"/>
                </a:cubicBezTo>
                <a:cubicBezTo>
                  <a:pt x="1627" y="2000"/>
                  <a:pt x="1633" y="2000"/>
                  <a:pt x="1639" y="2000"/>
                </a:cubicBezTo>
                <a:cubicBezTo>
                  <a:pt x="1639" y="2000"/>
                  <a:pt x="1639" y="2000"/>
                  <a:pt x="1639" y="2000"/>
                </a:cubicBezTo>
                <a:cubicBezTo>
                  <a:pt x="1639" y="2000"/>
                  <a:pt x="1640" y="2000"/>
                  <a:pt x="1640" y="2000"/>
                </a:cubicBezTo>
                <a:close/>
                <a:moveTo>
                  <a:pt x="1617" y="1924"/>
                </a:moveTo>
                <a:cubicBezTo>
                  <a:pt x="1621" y="1930"/>
                  <a:pt x="1625" y="1937"/>
                  <a:pt x="1629" y="1943"/>
                </a:cubicBezTo>
                <a:cubicBezTo>
                  <a:pt x="1631" y="1946"/>
                  <a:pt x="1635" y="1950"/>
                  <a:pt x="1637" y="1955"/>
                </a:cubicBezTo>
                <a:cubicBezTo>
                  <a:pt x="1638" y="1956"/>
                  <a:pt x="1639" y="1958"/>
                  <a:pt x="1639" y="1960"/>
                </a:cubicBezTo>
                <a:cubicBezTo>
                  <a:pt x="1639" y="1961"/>
                  <a:pt x="1638" y="1962"/>
                  <a:pt x="1638" y="1963"/>
                </a:cubicBezTo>
                <a:cubicBezTo>
                  <a:pt x="1637" y="1964"/>
                  <a:pt x="1637" y="1964"/>
                  <a:pt x="1636" y="1965"/>
                </a:cubicBezTo>
                <a:cubicBezTo>
                  <a:pt x="1636" y="1965"/>
                  <a:pt x="1636" y="1965"/>
                  <a:pt x="1636" y="1965"/>
                </a:cubicBezTo>
                <a:cubicBezTo>
                  <a:pt x="1636" y="1965"/>
                  <a:pt x="1636" y="1965"/>
                  <a:pt x="1636" y="1965"/>
                </a:cubicBezTo>
                <a:cubicBezTo>
                  <a:pt x="1636" y="1966"/>
                  <a:pt x="1635" y="1966"/>
                  <a:pt x="1635" y="1966"/>
                </a:cubicBezTo>
                <a:cubicBezTo>
                  <a:pt x="1635" y="1966"/>
                  <a:pt x="1634" y="1967"/>
                  <a:pt x="1634" y="1967"/>
                </a:cubicBezTo>
                <a:cubicBezTo>
                  <a:pt x="1634" y="1967"/>
                  <a:pt x="1633" y="1967"/>
                  <a:pt x="1632" y="1968"/>
                </a:cubicBezTo>
                <a:cubicBezTo>
                  <a:pt x="1632" y="1968"/>
                  <a:pt x="1631" y="1968"/>
                  <a:pt x="1630" y="1969"/>
                </a:cubicBezTo>
                <a:cubicBezTo>
                  <a:pt x="1630" y="1969"/>
                  <a:pt x="1630" y="1969"/>
                  <a:pt x="1630" y="1969"/>
                </a:cubicBezTo>
                <a:cubicBezTo>
                  <a:pt x="1630" y="1969"/>
                  <a:pt x="1630" y="1969"/>
                  <a:pt x="1629" y="1969"/>
                </a:cubicBezTo>
                <a:cubicBezTo>
                  <a:pt x="1620" y="1972"/>
                  <a:pt x="1607" y="1970"/>
                  <a:pt x="1598" y="1970"/>
                </a:cubicBezTo>
                <a:cubicBezTo>
                  <a:pt x="1588" y="1970"/>
                  <a:pt x="1578" y="1970"/>
                  <a:pt x="1567" y="1970"/>
                </a:cubicBezTo>
                <a:cubicBezTo>
                  <a:pt x="1558" y="1970"/>
                  <a:pt x="1547" y="1968"/>
                  <a:pt x="1539" y="1962"/>
                </a:cubicBezTo>
                <a:cubicBezTo>
                  <a:pt x="1538" y="1962"/>
                  <a:pt x="1536" y="1961"/>
                  <a:pt x="1535" y="1960"/>
                </a:cubicBezTo>
                <a:cubicBezTo>
                  <a:pt x="1533" y="1958"/>
                  <a:pt x="1531" y="1956"/>
                  <a:pt x="1530" y="1954"/>
                </a:cubicBezTo>
                <a:cubicBezTo>
                  <a:pt x="1529" y="1952"/>
                  <a:pt x="1529" y="1952"/>
                  <a:pt x="1529" y="1952"/>
                </a:cubicBezTo>
                <a:cubicBezTo>
                  <a:pt x="1529" y="1952"/>
                  <a:pt x="1529" y="1952"/>
                  <a:pt x="1529" y="1952"/>
                </a:cubicBezTo>
                <a:cubicBezTo>
                  <a:pt x="1524" y="1944"/>
                  <a:pt x="1520" y="1936"/>
                  <a:pt x="1515" y="1928"/>
                </a:cubicBezTo>
                <a:cubicBezTo>
                  <a:pt x="1513" y="1925"/>
                  <a:pt x="1513" y="1925"/>
                  <a:pt x="1513" y="1925"/>
                </a:cubicBezTo>
                <a:cubicBezTo>
                  <a:pt x="1512" y="1923"/>
                  <a:pt x="1512" y="1921"/>
                  <a:pt x="1512" y="1919"/>
                </a:cubicBezTo>
                <a:cubicBezTo>
                  <a:pt x="1512" y="1917"/>
                  <a:pt x="1513" y="1915"/>
                  <a:pt x="1515" y="1914"/>
                </a:cubicBezTo>
                <a:cubicBezTo>
                  <a:pt x="1517" y="1913"/>
                  <a:pt x="1519" y="1912"/>
                  <a:pt x="1522" y="1911"/>
                </a:cubicBezTo>
                <a:cubicBezTo>
                  <a:pt x="1524" y="1910"/>
                  <a:pt x="1528" y="1910"/>
                  <a:pt x="1531" y="1910"/>
                </a:cubicBezTo>
                <a:cubicBezTo>
                  <a:pt x="1532" y="1910"/>
                  <a:pt x="1532" y="1910"/>
                  <a:pt x="1532" y="1910"/>
                </a:cubicBezTo>
                <a:cubicBezTo>
                  <a:pt x="1540" y="1909"/>
                  <a:pt x="1548" y="1910"/>
                  <a:pt x="1553" y="1910"/>
                </a:cubicBezTo>
                <a:cubicBezTo>
                  <a:pt x="1573" y="1910"/>
                  <a:pt x="1604" y="1906"/>
                  <a:pt x="1617" y="1924"/>
                </a:cubicBezTo>
                <a:close/>
                <a:moveTo>
                  <a:pt x="366" y="1441"/>
                </a:moveTo>
                <a:cubicBezTo>
                  <a:pt x="372" y="1443"/>
                  <a:pt x="377" y="1446"/>
                  <a:pt x="382" y="1448"/>
                </a:cubicBezTo>
                <a:cubicBezTo>
                  <a:pt x="392" y="1453"/>
                  <a:pt x="403" y="1458"/>
                  <a:pt x="413" y="1462"/>
                </a:cubicBezTo>
                <a:cubicBezTo>
                  <a:pt x="418" y="1464"/>
                  <a:pt x="422" y="1466"/>
                  <a:pt x="426" y="1468"/>
                </a:cubicBezTo>
                <a:cubicBezTo>
                  <a:pt x="430" y="1469"/>
                  <a:pt x="433" y="1470"/>
                  <a:pt x="437" y="1472"/>
                </a:cubicBezTo>
                <a:cubicBezTo>
                  <a:pt x="458" y="1479"/>
                  <a:pt x="479" y="1486"/>
                  <a:pt x="502" y="1492"/>
                </a:cubicBezTo>
                <a:cubicBezTo>
                  <a:pt x="527" y="1499"/>
                  <a:pt x="552" y="1505"/>
                  <a:pt x="578" y="1510"/>
                </a:cubicBezTo>
                <a:cubicBezTo>
                  <a:pt x="683" y="1532"/>
                  <a:pt x="786" y="1541"/>
                  <a:pt x="819" y="1542"/>
                </a:cubicBezTo>
                <a:cubicBezTo>
                  <a:pt x="819" y="1610"/>
                  <a:pt x="819" y="1610"/>
                  <a:pt x="819" y="1610"/>
                </a:cubicBezTo>
                <a:cubicBezTo>
                  <a:pt x="857" y="1570"/>
                  <a:pt x="857" y="1570"/>
                  <a:pt x="857" y="1570"/>
                </a:cubicBezTo>
                <a:cubicBezTo>
                  <a:pt x="906" y="1518"/>
                  <a:pt x="906" y="1518"/>
                  <a:pt x="906" y="1518"/>
                </a:cubicBezTo>
                <a:cubicBezTo>
                  <a:pt x="1019" y="1399"/>
                  <a:pt x="1019" y="1399"/>
                  <a:pt x="1019" y="1399"/>
                </a:cubicBezTo>
                <a:cubicBezTo>
                  <a:pt x="933" y="1308"/>
                  <a:pt x="933" y="1308"/>
                  <a:pt x="933" y="1308"/>
                </a:cubicBezTo>
                <a:cubicBezTo>
                  <a:pt x="819" y="1188"/>
                  <a:pt x="819" y="1188"/>
                  <a:pt x="819" y="1188"/>
                </a:cubicBezTo>
                <a:cubicBezTo>
                  <a:pt x="819" y="1271"/>
                  <a:pt x="819" y="1271"/>
                  <a:pt x="819" y="1271"/>
                </a:cubicBezTo>
                <a:cubicBezTo>
                  <a:pt x="740" y="1279"/>
                  <a:pt x="653" y="1266"/>
                  <a:pt x="578" y="1249"/>
                </a:cubicBezTo>
                <a:cubicBezTo>
                  <a:pt x="550" y="1242"/>
                  <a:pt x="525" y="1235"/>
                  <a:pt x="502" y="1229"/>
                </a:cubicBezTo>
                <a:cubicBezTo>
                  <a:pt x="471" y="1219"/>
                  <a:pt x="445" y="1211"/>
                  <a:pt x="426" y="1204"/>
                </a:cubicBezTo>
                <a:cubicBezTo>
                  <a:pt x="422" y="1202"/>
                  <a:pt x="418" y="1201"/>
                  <a:pt x="415" y="1199"/>
                </a:cubicBezTo>
                <a:cubicBezTo>
                  <a:pt x="414" y="1199"/>
                  <a:pt x="414" y="1199"/>
                  <a:pt x="413" y="1199"/>
                </a:cubicBezTo>
                <a:cubicBezTo>
                  <a:pt x="413" y="1199"/>
                  <a:pt x="413" y="1199"/>
                  <a:pt x="413" y="1199"/>
                </a:cubicBezTo>
                <a:cubicBezTo>
                  <a:pt x="354" y="1175"/>
                  <a:pt x="300" y="1147"/>
                  <a:pt x="253" y="1115"/>
                </a:cubicBezTo>
                <a:cubicBezTo>
                  <a:pt x="189" y="1073"/>
                  <a:pt x="142" y="1028"/>
                  <a:pt x="110" y="981"/>
                </a:cubicBezTo>
                <a:cubicBezTo>
                  <a:pt x="94" y="963"/>
                  <a:pt x="80" y="944"/>
                  <a:pt x="68" y="925"/>
                </a:cubicBezTo>
                <a:cubicBezTo>
                  <a:pt x="33" y="870"/>
                  <a:pt x="13" y="811"/>
                  <a:pt x="11" y="751"/>
                </a:cubicBezTo>
                <a:cubicBezTo>
                  <a:pt x="7" y="768"/>
                  <a:pt x="4" y="785"/>
                  <a:pt x="3" y="802"/>
                </a:cubicBezTo>
                <a:cubicBezTo>
                  <a:pt x="0" y="834"/>
                  <a:pt x="4" y="864"/>
                  <a:pt x="7" y="893"/>
                </a:cubicBezTo>
                <a:cubicBezTo>
                  <a:pt x="8" y="898"/>
                  <a:pt x="9" y="904"/>
                  <a:pt x="9" y="909"/>
                </a:cubicBezTo>
                <a:cubicBezTo>
                  <a:pt x="22" y="1021"/>
                  <a:pt x="22" y="1021"/>
                  <a:pt x="22" y="1021"/>
                </a:cubicBezTo>
                <a:cubicBezTo>
                  <a:pt x="23" y="1025"/>
                  <a:pt x="23" y="1029"/>
                  <a:pt x="24" y="1033"/>
                </a:cubicBezTo>
                <a:cubicBezTo>
                  <a:pt x="25" y="1048"/>
                  <a:pt x="27" y="1064"/>
                  <a:pt x="30" y="1080"/>
                </a:cubicBezTo>
                <a:cubicBezTo>
                  <a:pt x="34" y="1101"/>
                  <a:pt x="40" y="1121"/>
                  <a:pt x="47" y="1140"/>
                </a:cubicBezTo>
                <a:cubicBezTo>
                  <a:pt x="61" y="1175"/>
                  <a:pt x="80" y="1208"/>
                  <a:pt x="103" y="1239"/>
                </a:cubicBezTo>
                <a:cubicBezTo>
                  <a:pt x="146" y="1295"/>
                  <a:pt x="202" y="1344"/>
                  <a:pt x="275" y="1390"/>
                </a:cubicBezTo>
                <a:cubicBezTo>
                  <a:pt x="304" y="1409"/>
                  <a:pt x="335" y="1426"/>
                  <a:pt x="366" y="1441"/>
                </a:cubicBezTo>
                <a:close/>
                <a:moveTo>
                  <a:pt x="64" y="773"/>
                </a:moveTo>
                <a:cubicBezTo>
                  <a:pt x="67" y="798"/>
                  <a:pt x="74" y="823"/>
                  <a:pt x="84" y="848"/>
                </a:cubicBezTo>
                <a:cubicBezTo>
                  <a:pt x="107" y="785"/>
                  <a:pt x="165" y="713"/>
                  <a:pt x="209" y="677"/>
                </a:cubicBezTo>
                <a:cubicBezTo>
                  <a:pt x="272" y="628"/>
                  <a:pt x="353" y="583"/>
                  <a:pt x="451" y="545"/>
                </a:cubicBezTo>
                <a:cubicBezTo>
                  <a:pt x="515" y="521"/>
                  <a:pt x="582" y="501"/>
                  <a:pt x="652" y="486"/>
                </a:cubicBezTo>
                <a:cubicBezTo>
                  <a:pt x="652" y="314"/>
                  <a:pt x="652" y="314"/>
                  <a:pt x="652" y="314"/>
                </a:cubicBezTo>
                <a:cubicBezTo>
                  <a:pt x="640" y="317"/>
                  <a:pt x="627" y="320"/>
                  <a:pt x="615" y="323"/>
                </a:cubicBezTo>
                <a:cubicBezTo>
                  <a:pt x="544" y="340"/>
                  <a:pt x="476" y="361"/>
                  <a:pt x="413" y="386"/>
                </a:cubicBezTo>
                <a:cubicBezTo>
                  <a:pt x="345" y="413"/>
                  <a:pt x="288" y="442"/>
                  <a:pt x="238" y="474"/>
                </a:cubicBezTo>
                <a:cubicBezTo>
                  <a:pt x="204" y="496"/>
                  <a:pt x="178" y="516"/>
                  <a:pt x="153" y="537"/>
                </a:cubicBezTo>
                <a:cubicBezTo>
                  <a:pt x="142" y="547"/>
                  <a:pt x="131" y="556"/>
                  <a:pt x="122" y="566"/>
                </a:cubicBezTo>
                <a:cubicBezTo>
                  <a:pt x="81" y="622"/>
                  <a:pt x="60" y="684"/>
                  <a:pt x="62" y="747"/>
                </a:cubicBezTo>
                <a:cubicBezTo>
                  <a:pt x="62" y="756"/>
                  <a:pt x="63" y="764"/>
                  <a:pt x="64" y="773"/>
                </a:cubicBezTo>
                <a:close/>
                <a:moveTo>
                  <a:pt x="1928" y="693"/>
                </a:moveTo>
                <a:cubicBezTo>
                  <a:pt x="1966" y="727"/>
                  <a:pt x="2007" y="795"/>
                  <a:pt x="2021" y="856"/>
                </a:cubicBezTo>
                <a:cubicBezTo>
                  <a:pt x="2034" y="828"/>
                  <a:pt x="2042" y="798"/>
                  <a:pt x="2045" y="768"/>
                </a:cubicBezTo>
                <a:cubicBezTo>
                  <a:pt x="2046" y="761"/>
                  <a:pt x="2047" y="754"/>
                  <a:pt x="2047" y="747"/>
                </a:cubicBezTo>
                <a:cubicBezTo>
                  <a:pt x="2049" y="670"/>
                  <a:pt x="2018" y="595"/>
                  <a:pt x="1958" y="530"/>
                </a:cubicBezTo>
                <a:cubicBezTo>
                  <a:pt x="1924" y="501"/>
                  <a:pt x="1884" y="473"/>
                  <a:pt x="1839" y="447"/>
                </a:cubicBezTo>
                <a:cubicBezTo>
                  <a:pt x="1782" y="415"/>
                  <a:pt x="1718" y="387"/>
                  <a:pt x="1639" y="359"/>
                </a:cubicBezTo>
                <a:cubicBezTo>
                  <a:pt x="1584" y="340"/>
                  <a:pt x="1524" y="324"/>
                  <a:pt x="1457" y="310"/>
                </a:cubicBezTo>
                <a:cubicBezTo>
                  <a:pt x="1457" y="482"/>
                  <a:pt x="1457" y="482"/>
                  <a:pt x="1457" y="482"/>
                </a:cubicBezTo>
                <a:cubicBezTo>
                  <a:pt x="1542" y="500"/>
                  <a:pt x="1625" y="525"/>
                  <a:pt x="1700" y="556"/>
                </a:cubicBezTo>
                <a:cubicBezTo>
                  <a:pt x="1795" y="595"/>
                  <a:pt x="1871" y="642"/>
                  <a:pt x="1928" y="693"/>
                </a:cubicBezTo>
                <a:close/>
                <a:moveTo>
                  <a:pt x="1054" y="814"/>
                </a:moveTo>
                <a:cubicBezTo>
                  <a:pt x="1186" y="814"/>
                  <a:pt x="1408" y="789"/>
                  <a:pt x="1408" y="696"/>
                </a:cubicBezTo>
                <a:cubicBezTo>
                  <a:pt x="1408" y="118"/>
                  <a:pt x="1408" y="118"/>
                  <a:pt x="1408" y="118"/>
                </a:cubicBezTo>
                <a:cubicBezTo>
                  <a:pt x="1408" y="25"/>
                  <a:pt x="1186" y="0"/>
                  <a:pt x="1054" y="0"/>
                </a:cubicBezTo>
                <a:cubicBezTo>
                  <a:pt x="923" y="0"/>
                  <a:pt x="701" y="25"/>
                  <a:pt x="701" y="118"/>
                </a:cubicBezTo>
                <a:cubicBezTo>
                  <a:pt x="701" y="696"/>
                  <a:pt x="701" y="696"/>
                  <a:pt x="701" y="696"/>
                </a:cubicBezTo>
                <a:cubicBezTo>
                  <a:pt x="701" y="789"/>
                  <a:pt x="923" y="814"/>
                  <a:pt x="1054" y="814"/>
                </a:cubicBezTo>
                <a:close/>
                <a:moveTo>
                  <a:pt x="1054" y="35"/>
                </a:moveTo>
                <a:cubicBezTo>
                  <a:pt x="1219" y="35"/>
                  <a:pt x="1352" y="71"/>
                  <a:pt x="1352" y="116"/>
                </a:cubicBezTo>
                <a:cubicBezTo>
                  <a:pt x="1352" y="161"/>
                  <a:pt x="1219" y="197"/>
                  <a:pt x="1054" y="197"/>
                </a:cubicBezTo>
                <a:cubicBezTo>
                  <a:pt x="890" y="197"/>
                  <a:pt x="757" y="161"/>
                  <a:pt x="757" y="116"/>
                </a:cubicBezTo>
                <a:cubicBezTo>
                  <a:pt x="757" y="71"/>
                  <a:pt x="890" y="35"/>
                  <a:pt x="1054" y="35"/>
                </a:cubicBez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endParaRPr lang="en-US" sz="1600" dirty="0"/>
          </a:p>
        </p:txBody>
      </p:sp>
    </p:spTree>
    <p:extLst>
      <p:ext uri="{BB962C8B-B14F-4D97-AF65-F5344CB8AC3E}">
        <p14:creationId xmlns:p14="http://schemas.microsoft.com/office/powerpoint/2010/main" val="1857933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Using CREATE DATABASE … AS COPY OF [Chris]</a:t>
            </a:r>
            <a:br>
              <a:rPr lang="en-US" dirty="0" smtClean="0"/>
            </a:br>
            <a:endParaRPr lang="en-US" dirty="0"/>
          </a:p>
        </p:txBody>
      </p:sp>
    </p:spTree>
    <p:extLst>
      <p:ext uri="{BB962C8B-B14F-4D97-AF65-F5344CB8AC3E}">
        <p14:creationId xmlns:p14="http://schemas.microsoft.com/office/powerpoint/2010/main" val="28471524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836340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SvaLDtmUU66_P77TKzFAw"/>
</p:tagLst>
</file>

<file path=ppt/theme/_rels/theme2.xml.rels><?xml version="1.0" encoding="UTF-8" standalone="yes"?>
<Relationships xmlns="http://schemas.openxmlformats.org/package/2006/relationships"><Relationship Id="rId1" Type="http://schemas.openxmlformats.org/officeDocument/2006/relationships/image" Target="../media/image4.png"/></Relationships>
</file>

<file path=ppt/theme/_rels/theme3.xml.rels><?xml version="1.0" encoding="UTF-8" standalone="yes"?>
<Relationships xmlns="http://schemas.openxmlformats.org/package/2006/relationships"><Relationship Id="rId1" Type="http://schemas.openxmlformats.org/officeDocument/2006/relationships/image" Target="../media/image4.pn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3.xml><?xml version="1.0" encoding="utf-8"?>
<a:theme xmlns:a="http://schemas.openxmlformats.org/drawingml/2006/main" name="1_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AECBFCBA2127459F5391FB467379DB" ma:contentTypeVersion="" ma:contentTypeDescription="Create a new document." ma:contentTypeScope="" ma:versionID="b530b1c5ec48d4e62d8369f4934bdb50">
  <xsd:schema xmlns:xsd="http://www.w3.org/2001/XMLSchema" xmlns:xs="http://www.w3.org/2001/XMLSchema" xmlns:p="http://schemas.microsoft.com/office/2006/metadata/properties" xmlns:ns2="E6237313-A68C-48E4-BACD-BCFE55C68AB6" targetNamespace="http://schemas.microsoft.com/office/2006/metadata/properties" ma:root="true" ma:fieldsID="4b475c8459e327cdfcd962abf10e56c0" ns2:_="">
    <xsd:import namespace="E6237313-A68C-48E4-BACD-BCFE55C68AB6"/>
    <xsd:element name="properties">
      <xsd:complexType>
        <xsd:sequence>
          <xsd:element name="documentManagement">
            <xsd:complexType>
              <xsd:all>
                <xsd:element ref="ns2:Content_x0020_Type"/>
                <xsd:element ref="ns2:Modul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237313-A68C-48E4-BACD-BCFE55C68AB6"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Break Slides"/>
          <xsd:enumeration value="CC File"/>
          <xsd:enumeration value="Instructor Image"/>
          <xsd:enumeration value="Outline"/>
          <xsd:enumeration value="Promo Package"/>
          <xsd:enumeration value="Slide Presentation"/>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nillable="true" ma:displayName="Status" ma:default="Draft" ma:format="Dropdown" ma:internalName="Status">
      <xsd:simpleType>
        <xsd:restriction base="dms:Choice">
          <xsd:enumeration value="Draft"/>
          <xsd:enumeration value="Fina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odule xmlns="E6237313-A68C-48E4-BACD-BCFE55C68AB6">2</Module>
    <Status xmlns="E6237313-A68C-48E4-BACD-BCFE55C68AB6">Final</Status>
    <Content_x0020_Type xmlns="E6237313-A68C-48E4-BACD-BCFE55C68AB6">Slide Presentation</Content_x0020_Type>
  </documentManagement>
</p:properties>
</file>

<file path=customXml/itemProps1.xml><?xml version="1.0" encoding="utf-8"?>
<ds:datastoreItem xmlns:ds="http://schemas.openxmlformats.org/officeDocument/2006/customXml" ds:itemID="{8309C24A-318C-40B7-94ED-F4FAF596EDEE}"/>
</file>

<file path=customXml/itemProps2.xml><?xml version="1.0" encoding="utf-8"?>
<ds:datastoreItem xmlns:ds="http://schemas.openxmlformats.org/officeDocument/2006/customXml" ds:itemID="{B0CA13EC-1D3C-4D6F-8D1C-E8A452CFC79A}"/>
</file>

<file path=customXml/itemProps3.xml><?xml version="1.0" encoding="utf-8"?>
<ds:datastoreItem xmlns:ds="http://schemas.openxmlformats.org/officeDocument/2006/customXml" ds:itemID="{7025FDD9-4C58-4084-9F89-0E6ADD6FFF55}"/>
</file>

<file path=docProps/app.xml><?xml version="1.0" encoding="utf-8"?>
<Properties xmlns="http://schemas.openxmlformats.org/officeDocument/2006/extended-properties" xmlns:vt="http://schemas.openxmlformats.org/officeDocument/2006/docPropsVTypes">
  <Template/>
  <TotalTime>3387</TotalTime>
  <Words>677</Words>
  <Application>Microsoft Office PowerPoint</Application>
  <PresentationFormat>Widescreen</PresentationFormat>
  <Paragraphs>213</Paragraphs>
  <Slides>24</Slides>
  <Notes>24</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24</vt:i4>
      </vt:variant>
    </vt:vector>
  </HeadingPairs>
  <TitlesOfParts>
    <vt:vector size="34" baseType="lpstr">
      <vt:lpstr>Arial</vt:lpstr>
      <vt:lpstr>Calibri</vt:lpstr>
      <vt:lpstr>Consolas</vt:lpstr>
      <vt:lpstr>Segoe</vt:lpstr>
      <vt:lpstr>Segoe UI</vt:lpstr>
      <vt:lpstr>Segoe UI Light</vt:lpstr>
      <vt:lpstr>1_Office Theme</vt:lpstr>
      <vt:lpstr>MS1444_Windows Azure Template 16x9_r08b</vt:lpstr>
      <vt:lpstr>1_MS1444_Windows Azure Template 16x9_r08b</vt:lpstr>
      <vt:lpstr>think-cell Slide</vt:lpstr>
      <vt:lpstr>PowerPoint Presentation</vt:lpstr>
      <vt:lpstr>Module Overview</vt:lpstr>
      <vt:lpstr>PowerPoint Presentation</vt:lpstr>
      <vt:lpstr>A Server Is Not A Machine</vt:lpstr>
      <vt:lpstr>How It Works</vt:lpstr>
      <vt:lpstr>How It Works</vt:lpstr>
      <vt:lpstr>Server Provisioning</vt:lpstr>
      <vt:lpstr>SQL Database Firewall</vt:lpstr>
      <vt:lpstr>Provisioning a Server [Greg] Configuring Firewall Rules Creating a Database Connecting via SSMS</vt:lpstr>
      <vt:lpstr>PowerPoint Presentation</vt:lpstr>
      <vt:lpstr>Management Tooling</vt:lpstr>
      <vt:lpstr>Database Management using the SQL Database Management Portal [Chris]</vt:lpstr>
      <vt:lpstr>PowerPoint Presentation</vt:lpstr>
      <vt:lpstr>Server Level Security</vt:lpstr>
      <vt:lpstr>Database Level Security</vt:lpstr>
      <vt:lpstr>Application Connectivity</vt:lpstr>
      <vt:lpstr>Creating Logins and Database Users [Chris]</vt:lpstr>
      <vt:lpstr>PowerPoint Presentation</vt:lpstr>
      <vt:lpstr>Database Monitoring</vt:lpstr>
      <vt:lpstr>Using DMVs [Chris]</vt:lpstr>
      <vt:lpstr>PowerPoint Presentation</vt:lpstr>
      <vt:lpstr>Backup</vt:lpstr>
      <vt:lpstr>Using CREATE DATABASE … AS COPY OF [Chris]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Gartland</dc:creator>
  <cp:lastModifiedBy>Kristen Paulson</cp:lastModifiedBy>
  <cp:revision>103</cp:revision>
  <dcterms:created xsi:type="dcterms:W3CDTF">2013-02-15T23:12:42Z</dcterms:created>
  <dcterms:modified xsi:type="dcterms:W3CDTF">2014-01-22T16:09:39Z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0x010100ADAECBFCBA2127459F5391FB467379DB</vt:lpwstr>
  </property>
  <property fmtid="{D5CDD505-2E9C-101B-9397-08002B2CF9AE}" pid="3" name="IsMyDocuments">
    <vt:bool>true</vt:bool>
  </property>
  <property fmtid="{D5CDD505-2E9C-101B-9397-08002B2CF9AE}" pid="4" name="Related Type Document">
    <vt:lpwstr/>
  </property>
  <property fmtid="{D5CDD505-2E9C-101B-9397-08002B2CF9AE}" pid="5" name="Document Tag">
    <vt:lpwstr>24;#Content Templates|bdbbc9aa-4892-4816-9e36-bf1120da60e9</vt:lpwstr>
  </property>
</Properties>
</file>