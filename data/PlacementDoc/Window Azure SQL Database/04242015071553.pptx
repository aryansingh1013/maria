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93" r:id="rId6"/>
  </p:sldMasterIdLst>
  <p:notesMasterIdLst>
    <p:notesMasterId r:id="rId26"/>
  </p:notesMasterIdLst>
  <p:handoutMasterIdLst>
    <p:handoutMasterId r:id="rId27"/>
  </p:handoutMasterIdLst>
  <p:sldIdLst>
    <p:sldId id="277" r:id="rId7"/>
    <p:sldId id="278" r:id="rId8"/>
    <p:sldId id="327" r:id="rId9"/>
    <p:sldId id="297" r:id="rId10"/>
    <p:sldId id="316" r:id="rId11"/>
    <p:sldId id="317" r:id="rId12"/>
    <p:sldId id="318" r:id="rId13"/>
    <p:sldId id="319" r:id="rId14"/>
    <p:sldId id="328" r:id="rId15"/>
    <p:sldId id="320" r:id="rId16"/>
    <p:sldId id="321" r:id="rId17"/>
    <p:sldId id="329" r:id="rId18"/>
    <p:sldId id="323" r:id="rId19"/>
    <p:sldId id="324" r:id="rId20"/>
    <p:sldId id="330" r:id="rId21"/>
    <p:sldId id="325" r:id="rId22"/>
    <p:sldId id="326" r:id="rId23"/>
    <p:sldId id="322"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400"/>
    <a:srgbClr val="82BF36"/>
    <a:srgbClr val="7FBA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841" autoAdjust="0"/>
  </p:normalViewPr>
  <p:slideViewPr>
    <p:cSldViewPr snapToGrid="0">
      <p:cViewPr varScale="1">
        <p:scale>
          <a:sx n="66" d="100"/>
          <a:sy n="66" d="100"/>
        </p:scale>
        <p:origin x="2232" y="60"/>
      </p:cViewPr>
      <p:guideLst/>
    </p:cSldViewPr>
  </p:slideViewPr>
  <p:notesTextViewPr>
    <p:cViewPr>
      <p:scale>
        <a:sx n="1" d="1"/>
        <a:sy n="1" d="1"/>
      </p:scale>
      <p:origin x="0" y="0"/>
    </p:cViewPr>
  </p:notesText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3374E3-C7CB-44BB-88F0-55DA9F485E13}" type="doc">
      <dgm:prSet loTypeId="urn:microsoft.com/office/officeart/2005/8/layout/process1" loCatId="process" qsTypeId="urn:microsoft.com/office/officeart/2005/8/quickstyle/simple1" qsCatId="simple" csTypeId="urn:microsoft.com/office/officeart/2005/8/colors/colorful2" csCatId="colorful" phldr="1"/>
      <dgm:spPr/>
    </dgm:pt>
    <dgm:pt modelId="{285243E5-1B03-42CE-8861-4DDFD00F1117}">
      <dgm:prSet phldrT="[Text]"/>
      <dgm:spPr/>
      <dgm:t>
        <a:bodyPr/>
        <a:lstStyle/>
        <a:p>
          <a:r>
            <a:rPr lang="en-NZ" dirty="0" smtClean="0"/>
            <a:t>CREATE…</a:t>
          </a:r>
          <a:br>
            <a:rPr lang="en-NZ" dirty="0" smtClean="0"/>
          </a:br>
          <a:r>
            <a:rPr lang="en-NZ" dirty="0" smtClean="0"/>
            <a:t>COPY OF</a:t>
          </a:r>
          <a:endParaRPr lang="en-NZ" dirty="0"/>
        </a:p>
      </dgm:t>
    </dgm:pt>
    <dgm:pt modelId="{1E254429-B688-4060-A365-DA3BBBF9C5D6}" type="parTrans" cxnId="{944B48B2-E020-4FA5-A46A-CD55B7531B04}">
      <dgm:prSet/>
      <dgm:spPr/>
      <dgm:t>
        <a:bodyPr/>
        <a:lstStyle/>
        <a:p>
          <a:endParaRPr lang="en-NZ"/>
        </a:p>
      </dgm:t>
    </dgm:pt>
    <dgm:pt modelId="{B4A81420-EF27-4248-BF7E-0006DEF63D76}" type="sibTrans" cxnId="{944B48B2-E020-4FA5-A46A-CD55B7531B04}">
      <dgm:prSet/>
      <dgm:spPr/>
      <dgm:t>
        <a:bodyPr/>
        <a:lstStyle/>
        <a:p>
          <a:endParaRPr lang="en-NZ"/>
        </a:p>
      </dgm:t>
    </dgm:pt>
    <dgm:pt modelId="{880D395F-D0FE-4F7F-8387-6FE615DADBB2}">
      <dgm:prSet phldrT="[Text]"/>
      <dgm:spPr/>
      <dgm:t>
        <a:bodyPr/>
        <a:lstStyle/>
        <a:p>
          <a:r>
            <a:rPr lang="en-NZ" dirty="0" smtClean="0"/>
            <a:t>EXPORT TO BLOB</a:t>
          </a:r>
          <a:endParaRPr lang="en-NZ" dirty="0"/>
        </a:p>
      </dgm:t>
    </dgm:pt>
    <dgm:pt modelId="{182744A0-15C1-4FC8-B7AE-32D341B974FC}" type="parTrans" cxnId="{45AC9C3C-AEC1-4414-A4E1-D840681D7887}">
      <dgm:prSet/>
      <dgm:spPr/>
      <dgm:t>
        <a:bodyPr/>
        <a:lstStyle/>
        <a:p>
          <a:endParaRPr lang="en-NZ"/>
        </a:p>
      </dgm:t>
    </dgm:pt>
    <dgm:pt modelId="{4E48C29D-E30A-454A-A15A-3E1BBE2C9F58}" type="sibTrans" cxnId="{45AC9C3C-AEC1-4414-A4E1-D840681D7887}">
      <dgm:prSet/>
      <dgm:spPr/>
      <dgm:t>
        <a:bodyPr/>
        <a:lstStyle/>
        <a:p>
          <a:endParaRPr lang="en-NZ"/>
        </a:p>
      </dgm:t>
    </dgm:pt>
    <dgm:pt modelId="{B21FE7E0-3E74-4858-B085-2F368A976682}" type="pres">
      <dgm:prSet presAssocID="{0A3374E3-C7CB-44BB-88F0-55DA9F485E13}" presName="Name0" presStyleCnt="0">
        <dgm:presLayoutVars>
          <dgm:dir/>
          <dgm:resizeHandles val="exact"/>
        </dgm:presLayoutVars>
      </dgm:prSet>
      <dgm:spPr/>
    </dgm:pt>
    <dgm:pt modelId="{605F4CD5-DBA5-4343-A78F-7CF9575391D8}" type="pres">
      <dgm:prSet presAssocID="{285243E5-1B03-42CE-8861-4DDFD00F1117}" presName="node" presStyleLbl="node1" presStyleIdx="0" presStyleCnt="2">
        <dgm:presLayoutVars>
          <dgm:bulletEnabled val="1"/>
        </dgm:presLayoutVars>
      </dgm:prSet>
      <dgm:spPr/>
      <dgm:t>
        <a:bodyPr/>
        <a:lstStyle/>
        <a:p>
          <a:endParaRPr lang="en-NZ"/>
        </a:p>
      </dgm:t>
    </dgm:pt>
    <dgm:pt modelId="{89428274-8660-4AC9-8D0B-602DDA2AA736}" type="pres">
      <dgm:prSet presAssocID="{B4A81420-EF27-4248-BF7E-0006DEF63D76}" presName="sibTrans" presStyleLbl="sibTrans2D1" presStyleIdx="0" presStyleCnt="1"/>
      <dgm:spPr/>
      <dgm:t>
        <a:bodyPr/>
        <a:lstStyle/>
        <a:p>
          <a:endParaRPr lang="en-NZ"/>
        </a:p>
      </dgm:t>
    </dgm:pt>
    <dgm:pt modelId="{62797B7B-F106-4887-BC03-8FE00A1D5F81}" type="pres">
      <dgm:prSet presAssocID="{B4A81420-EF27-4248-BF7E-0006DEF63D76}" presName="connectorText" presStyleLbl="sibTrans2D1" presStyleIdx="0" presStyleCnt="1"/>
      <dgm:spPr/>
      <dgm:t>
        <a:bodyPr/>
        <a:lstStyle/>
        <a:p>
          <a:endParaRPr lang="en-NZ"/>
        </a:p>
      </dgm:t>
    </dgm:pt>
    <dgm:pt modelId="{4E7C5215-D143-48C9-B61A-84FA8EB823BE}" type="pres">
      <dgm:prSet presAssocID="{880D395F-D0FE-4F7F-8387-6FE615DADBB2}" presName="node" presStyleLbl="node1" presStyleIdx="1" presStyleCnt="2">
        <dgm:presLayoutVars>
          <dgm:bulletEnabled val="1"/>
        </dgm:presLayoutVars>
      </dgm:prSet>
      <dgm:spPr/>
      <dgm:t>
        <a:bodyPr/>
        <a:lstStyle/>
        <a:p>
          <a:endParaRPr lang="en-NZ"/>
        </a:p>
      </dgm:t>
    </dgm:pt>
  </dgm:ptLst>
  <dgm:cxnLst>
    <dgm:cxn modelId="{9AD085A6-AA74-446B-9604-03397609205C}" type="presOf" srcId="{0A3374E3-C7CB-44BB-88F0-55DA9F485E13}" destId="{B21FE7E0-3E74-4858-B085-2F368A976682}" srcOrd="0" destOrd="0" presId="urn:microsoft.com/office/officeart/2005/8/layout/process1"/>
    <dgm:cxn modelId="{944B48B2-E020-4FA5-A46A-CD55B7531B04}" srcId="{0A3374E3-C7CB-44BB-88F0-55DA9F485E13}" destId="{285243E5-1B03-42CE-8861-4DDFD00F1117}" srcOrd="0" destOrd="0" parTransId="{1E254429-B688-4060-A365-DA3BBBF9C5D6}" sibTransId="{B4A81420-EF27-4248-BF7E-0006DEF63D76}"/>
    <dgm:cxn modelId="{A00959F5-660B-44DC-8AA4-C30A613CE85C}" type="presOf" srcId="{285243E5-1B03-42CE-8861-4DDFD00F1117}" destId="{605F4CD5-DBA5-4343-A78F-7CF9575391D8}" srcOrd="0" destOrd="0" presId="urn:microsoft.com/office/officeart/2005/8/layout/process1"/>
    <dgm:cxn modelId="{E5037D88-D962-49E5-9B77-B9AA4F410FAD}" type="presOf" srcId="{880D395F-D0FE-4F7F-8387-6FE615DADBB2}" destId="{4E7C5215-D143-48C9-B61A-84FA8EB823BE}" srcOrd="0" destOrd="0" presId="urn:microsoft.com/office/officeart/2005/8/layout/process1"/>
    <dgm:cxn modelId="{E7492F5A-EB14-4965-8ABB-0B96E95A6DA9}" type="presOf" srcId="{B4A81420-EF27-4248-BF7E-0006DEF63D76}" destId="{62797B7B-F106-4887-BC03-8FE00A1D5F81}" srcOrd="1" destOrd="0" presId="urn:microsoft.com/office/officeart/2005/8/layout/process1"/>
    <dgm:cxn modelId="{45AC9C3C-AEC1-4414-A4E1-D840681D7887}" srcId="{0A3374E3-C7CB-44BB-88F0-55DA9F485E13}" destId="{880D395F-D0FE-4F7F-8387-6FE615DADBB2}" srcOrd="1" destOrd="0" parTransId="{182744A0-15C1-4FC8-B7AE-32D341B974FC}" sibTransId="{4E48C29D-E30A-454A-A15A-3E1BBE2C9F58}"/>
    <dgm:cxn modelId="{8324C3D4-FB9A-46F9-BD56-0A5F01884634}" type="presOf" srcId="{B4A81420-EF27-4248-BF7E-0006DEF63D76}" destId="{89428274-8660-4AC9-8D0B-602DDA2AA736}" srcOrd="0" destOrd="0" presId="urn:microsoft.com/office/officeart/2005/8/layout/process1"/>
    <dgm:cxn modelId="{0583ED39-2985-4286-903B-B0E7B036E0E4}" type="presParOf" srcId="{B21FE7E0-3E74-4858-B085-2F368A976682}" destId="{605F4CD5-DBA5-4343-A78F-7CF9575391D8}" srcOrd="0" destOrd="0" presId="urn:microsoft.com/office/officeart/2005/8/layout/process1"/>
    <dgm:cxn modelId="{A029FD3A-953C-4746-99FE-E78C8E7758B0}" type="presParOf" srcId="{B21FE7E0-3E74-4858-B085-2F368A976682}" destId="{89428274-8660-4AC9-8D0B-602DDA2AA736}" srcOrd="1" destOrd="0" presId="urn:microsoft.com/office/officeart/2005/8/layout/process1"/>
    <dgm:cxn modelId="{1E1DED22-F7F1-470F-A334-8CAFFB529CBC}" type="presParOf" srcId="{89428274-8660-4AC9-8D0B-602DDA2AA736}" destId="{62797B7B-F106-4887-BC03-8FE00A1D5F81}" srcOrd="0" destOrd="0" presId="urn:microsoft.com/office/officeart/2005/8/layout/process1"/>
    <dgm:cxn modelId="{B49CF4B5-D96E-4169-96BF-0F6A1FA5F435}" type="presParOf" srcId="{B21FE7E0-3E74-4858-B085-2F368A976682}" destId="{4E7C5215-D143-48C9-B61A-84FA8EB823BE}"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5F4CD5-DBA5-4343-A78F-7CF9575391D8}">
      <dsp:nvSpPr>
        <dsp:cNvPr id="0" name=""/>
        <dsp:cNvSpPr/>
      </dsp:nvSpPr>
      <dsp:spPr>
        <a:xfrm>
          <a:off x="1777" y="489758"/>
          <a:ext cx="3789542" cy="227372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lvl="0" algn="ctr" defTabSz="2489200">
            <a:lnSpc>
              <a:spcPct val="90000"/>
            </a:lnSpc>
            <a:spcBef>
              <a:spcPct val="0"/>
            </a:spcBef>
            <a:spcAft>
              <a:spcPct val="35000"/>
            </a:spcAft>
          </a:pPr>
          <a:r>
            <a:rPr lang="en-NZ" sz="5600" kern="1200" dirty="0" smtClean="0"/>
            <a:t>CREATE…</a:t>
          </a:r>
          <a:br>
            <a:rPr lang="en-NZ" sz="5600" kern="1200" dirty="0" smtClean="0"/>
          </a:br>
          <a:r>
            <a:rPr lang="en-NZ" sz="5600" kern="1200" dirty="0" smtClean="0"/>
            <a:t>COPY OF</a:t>
          </a:r>
          <a:endParaRPr lang="en-NZ" sz="5600" kern="1200" dirty="0"/>
        </a:p>
      </dsp:txBody>
      <dsp:txXfrm>
        <a:off x="68372" y="556353"/>
        <a:ext cx="3656352" cy="2140535"/>
      </dsp:txXfrm>
    </dsp:sp>
    <dsp:sp modelId="{89428274-8660-4AC9-8D0B-602DDA2AA736}">
      <dsp:nvSpPr>
        <dsp:cNvPr id="0" name=""/>
        <dsp:cNvSpPr/>
      </dsp:nvSpPr>
      <dsp:spPr>
        <a:xfrm>
          <a:off x="4170273" y="1156718"/>
          <a:ext cx="803382" cy="93980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644650">
            <a:lnSpc>
              <a:spcPct val="90000"/>
            </a:lnSpc>
            <a:spcBef>
              <a:spcPct val="0"/>
            </a:spcBef>
            <a:spcAft>
              <a:spcPct val="35000"/>
            </a:spcAft>
          </a:pPr>
          <a:endParaRPr lang="en-NZ" sz="3700" kern="1200"/>
        </a:p>
      </dsp:txBody>
      <dsp:txXfrm>
        <a:off x="4170273" y="1344679"/>
        <a:ext cx="562367" cy="563884"/>
      </dsp:txXfrm>
    </dsp:sp>
    <dsp:sp modelId="{4E7C5215-D143-48C9-B61A-84FA8EB823BE}">
      <dsp:nvSpPr>
        <dsp:cNvPr id="0" name=""/>
        <dsp:cNvSpPr/>
      </dsp:nvSpPr>
      <dsp:spPr>
        <a:xfrm>
          <a:off x="5307135" y="489758"/>
          <a:ext cx="3789542" cy="2273725"/>
        </a:xfrm>
        <a:prstGeom prst="roundRect">
          <a:avLst>
            <a:gd name="adj" fmla="val 10000"/>
          </a:avLst>
        </a:prstGeom>
        <a:solidFill>
          <a:schemeClr val="accent2">
            <a:hueOff val="6220922"/>
            <a:satOff val="0"/>
            <a:lumOff val="-1843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lvl="0" algn="ctr" defTabSz="2489200">
            <a:lnSpc>
              <a:spcPct val="90000"/>
            </a:lnSpc>
            <a:spcBef>
              <a:spcPct val="0"/>
            </a:spcBef>
            <a:spcAft>
              <a:spcPct val="35000"/>
            </a:spcAft>
          </a:pPr>
          <a:r>
            <a:rPr lang="en-NZ" sz="5600" kern="1200" dirty="0" smtClean="0"/>
            <a:t>EXPORT TO BLOB</a:t>
          </a:r>
          <a:endParaRPr lang="en-NZ" sz="5600" kern="1200" dirty="0"/>
        </a:p>
      </dsp:txBody>
      <dsp:txXfrm>
        <a:off x="5373730" y="556353"/>
        <a:ext cx="3656352" cy="21405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t>1/22/2014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t>‹#›</a:t>
            </a:fld>
            <a:endParaRPr lang="en-US"/>
          </a:p>
        </p:txBody>
      </p:sp>
    </p:spTree>
    <p:extLst>
      <p:ext uri="{BB962C8B-B14F-4D97-AF65-F5344CB8AC3E}">
        <p14:creationId xmlns:p14="http://schemas.microsoft.com/office/powerpoint/2010/main"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t>1/22/2014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t>‹#›</a:t>
            </a:fld>
            <a:endParaRPr lang="en-US"/>
          </a:p>
        </p:txBody>
      </p:sp>
    </p:spTree>
    <p:extLst>
      <p:ext uri="{BB962C8B-B14F-4D97-AF65-F5344CB8AC3E}">
        <p14:creationId xmlns:p14="http://schemas.microsoft.com/office/powerpoint/2010/main"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871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15427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3</a:t>
            </a:fld>
            <a:endParaRPr lang="en-US"/>
          </a:p>
        </p:txBody>
      </p:sp>
    </p:spTree>
    <p:extLst>
      <p:ext uri="{BB962C8B-B14F-4D97-AF65-F5344CB8AC3E}">
        <p14:creationId xmlns:p14="http://schemas.microsoft.com/office/powerpoint/2010/main" val="426451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109969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2814982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135007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1682778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3074352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9</a:t>
            </a:fld>
            <a:endParaRPr lang="en-US"/>
          </a:p>
        </p:txBody>
      </p:sp>
    </p:spTree>
    <p:extLst>
      <p:ext uri="{BB962C8B-B14F-4D97-AF65-F5344CB8AC3E}">
        <p14:creationId xmlns:p14="http://schemas.microsoft.com/office/powerpoint/2010/main" val="4145850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10</a:t>
            </a:fld>
            <a:endParaRPr lang="en-US"/>
          </a:p>
        </p:txBody>
      </p:sp>
    </p:spTree>
    <p:extLst>
      <p:ext uri="{BB962C8B-B14F-4D97-AF65-F5344CB8AC3E}">
        <p14:creationId xmlns:p14="http://schemas.microsoft.com/office/powerpoint/2010/main" val="1870284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11</a:t>
            </a:fld>
            <a:endParaRPr lang="en-US"/>
          </a:p>
        </p:txBody>
      </p:sp>
    </p:spTree>
    <p:extLst>
      <p:ext uri="{BB962C8B-B14F-4D97-AF65-F5344CB8AC3E}">
        <p14:creationId xmlns:p14="http://schemas.microsoft.com/office/powerpoint/2010/main" val="2966419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12</a:t>
            </a:fld>
            <a:endParaRPr lang="en-US"/>
          </a:p>
        </p:txBody>
      </p:sp>
    </p:spTree>
    <p:extLst>
      <p:ext uri="{BB962C8B-B14F-4D97-AF65-F5344CB8AC3E}">
        <p14:creationId xmlns:p14="http://schemas.microsoft.com/office/powerpoint/2010/main" val="2242921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13</a:t>
            </a:fld>
            <a:endParaRPr lang="en-US"/>
          </a:p>
        </p:txBody>
      </p:sp>
    </p:spTree>
    <p:extLst>
      <p:ext uri="{BB962C8B-B14F-4D97-AF65-F5344CB8AC3E}">
        <p14:creationId xmlns:p14="http://schemas.microsoft.com/office/powerpoint/2010/main" val="2172243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14</a:t>
            </a:fld>
            <a:endParaRPr lang="en-US"/>
          </a:p>
        </p:txBody>
      </p:sp>
    </p:spTree>
    <p:extLst>
      <p:ext uri="{BB962C8B-B14F-4D97-AF65-F5344CB8AC3E}">
        <p14:creationId xmlns:p14="http://schemas.microsoft.com/office/powerpoint/2010/main" val="2338686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15</a:t>
            </a:fld>
            <a:endParaRPr lang="en-US"/>
          </a:p>
        </p:txBody>
      </p:sp>
    </p:spTree>
    <p:extLst>
      <p:ext uri="{BB962C8B-B14F-4D97-AF65-F5344CB8AC3E}">
        <p14:creationId xmlns:p14="http://schemas.microsoft.com/office/powerpoint/2010/main" val="3948160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16</a:t>
            </a:fld>
            <a:endParaRPr lang="en-US"/>
          </a:p>
        </p:txBody>
      </p:sp>
    </p:spTree>
    <p:extLst>
      <p:ext uri="{BB962C8B-B14F-4D97-AF65-F5344CB8AC3E}">
        <p14:creationId xmlns:p14="http://schemas.microsoft.com/office/powerpoint/2010/main" val="3284891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17</a:t>
            </a:fld>
            <a:endParaRPr lang="en-US"/>
          </a:p>
        </p:txBody>
      </p:sp>
    </p:spTree>
    <p:extLst>
      <p:ext uri="{BB962C8B-B14F-4D97-AF65-F5344CB8AC3E}">
        <p14:creationId xmlns:p14="http://schemas.microsoft.com/office/powerpoint/2010/main" val="1888840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18</a:t>
            </a:fld>
            <a:endParaRPr lang="en-US"/>
          </a:p>
        </p:txBody>
      </p:sp>
    </p:spTree>
    <p:extLst>
      <p:ext uri="{BB962C8B-B14F-4D97-AF65-F5344CB8AC3E}">
        <p14:creationId xmlns:p14="http://schemas.microsoft.com/office/powerpoint/2010/main" val="1843319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19</a:t>
            </a:fld>
            <a:endParaRPr lang="en-US"/>
          </a:p>
        </p:txBody>
      </p:sp>
    </p:spTree>
    <p:extLst>
      <p:ext uri="{BB962C8B-B14F-4D97-AF65-F5344CB8AC3E}">
        <p14:creationId xmlns:p14="http://schemas.microsoft.com/office/powerpoint/2010/main" val="3174444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2.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3.xml"/><Relationship Id="rId4" Type="http://schemas.microsoft.com/office/2007/relationships/hdphoto" Target="../media/hdphoto2.wdp"/></Relationships>
</file>

<file path=ppt/slideLayouts/_rels/slideLayout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7FBA00"/>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0731799" y="4630992"/>
            <a:ext cx="1131688" cy="334740"/>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82BF36"/>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val="2667837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3325808548"/>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068499933"/>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42215456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124348897"/>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6336411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84355387"/>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30138728"/>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74620072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567074725"/>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888614308"/>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56147134"/>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117830756"/>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523539044"/>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1299891226"/>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641948713"/>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41401681"/>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2907384"/>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871576429"/>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cs typeface="Consolas" pitchFamily="49"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latin typeface="+mj-lt"/>
                <a:cs typeface="Consolas" pitchFamily="49" charset="0"/>
              </a:defRPr>
            </a:lvl1pPr>
            <a:lvl2pPr>
              <a:defRPr>
                <a:latin typeface="+mj-lt"/>
                <a:cs typeface="Consolas" pitchFamily="49" charset="0"/>
              </a:defRPr>
            </a:lvl2pPr>
            <a:lvl3pPr>
              <a:defRPr>
                <a:latin typeface="+mj-lt"/>
                <a:cs typeface="Consolas" pitchFamily="49" charset="0"/>
              </a:defRPr>
            </a:lvl3pPr>
            <a:lvl4pPr>
              <a:defRPr>
                <a:latin typeface="+mj-lt"/>
                <a:cs typeface="Consolas" pitchFamily="49" charset="0"/>
              </a:defRPr>
            </a:lvl4pPr>
            <a:lvl5pPr>
              <a:defRPr>
                <a:latin typeface="+mj-lt"/>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a:defRPr>
                <a:latin typeface="Consolas" pitchFamily="49" charset="0"/>
                <a:cs typeface="Consolas" pitchFamily="49" charset="0"/>
              </a:defRPr>
            </a:lvl1pPr>
          </a:lstStyle>
          <a:p>
            <a:pPr defTabSz="914363"/>
            <a:fld id="{D7CE58A2-1EDC-45F0-BACE-E3574D82C834}" type="datetimeFigureOut">
              <a:rPr lang="en-US" smtClean="0">
                <a:solidFill>
                  <a:srgbClr val="292929"/>
                </a:solidFill>
              </a:rPr>
              <a:pPr defTabSz="914363"/>
              <a:t>1/22/2014</a:t>
            </a:fld>
            <a:endParaRPr lang="en-US">
              <a:solidFill>
                <a:srgbClr val="292929"/>
              </a:solidFill>
            </a:endParaRPr>
          </a:p>
        </p:txBody>
      </p:sp>
      <p:sp>
        <p:nvSpPr>
          <p:cNvPr id="5" name="Footer Placeholder 4"/>
          <p:cNvSpPr>
            <a:spLocks noGrp="1"/>
          </p:cNvSpPr>
          <p:nvPr>
            <p:ph type="ftr" sz="quarter" idx="11"/>
          </p:nvPr>
        </p:nvSpPr>
        <p:spPr>
          <a:xfrm>
            <a:off x="4165601" y="6356352"/>
            <a:ext cx="3860800" cy="365125"/>
          </a:xfrm>
          <a:prstGeom prst="rect">
            <a:avLst/>
          </a:prstGeom>
        </p:spPr>
        <p:txBody>
          <a:bodyPr/>
          <a:lstStyle>
            <a:lvl1pPr>
              <a:defRPr>
                <a:latin typeface="Consolas" pitchFamily="49" charset="0"/>
                <a:cs typeface="Consolas" pitchFamily="49" charset="0"/>
              </a:defRPr>
            </a:lvl1pPr>
          </a:lstStyle>
          <a:p>
            <a:pPr defTabSz="914363"/>
            <a:endParaRPr lang="en-US">
              <a:solidFill>
                <a:srgbClr val="292929"/>
              </a:solidFill>
            </a:endParaRPr>
          </a:p>
        </p:txBody>
      </p:sp>
      <p:sp>
        <p:nvSpPr>
          <p:cNvPr id="6" name="Slide Number Placeholder 5"/>
          <p:cNvSpPr>
            <a:spLocks noGrp="1"/>
          </p:cNvSpPr>
          <p:nvPr>
            <p:ph type="sldNum" sz="quarter" idx="12"/>
          </p:nvPr>
        </p:nvSpPr>
        <p:spPr>
          <a:xfrm>
            <a:off x="8737601" y="6356352"/>
            <a:ext cx="2844800" cy="365125"/>
          </a:xfrm>
          <a:prstGeom prst="rect">
            <a:avLst/>
          </a:prstGeom>
        </p:spPr>
        <p:txBody>
          <a:bodyPr/>
          <a:lstStyle>
            <a:lvl1pPr>
              <a:defRPr>
                <a:latin typeface="Consolas" pitchFamily="49" charset="0"/>
                <a:cs typeface="Consolas" pitchFamily="49" charset="0"/>
              </a:defRPr>
            </a:lvl1pPr>
          </a:lstStyle>
          <a:p>
            <a:pPr defTabSz="914363"/>
            <a:fld id="{ECD6441B-9D70-431A-83BF-3759963F38CF}" type="slidenum">
              <a:rPr lang="en-US" smtClean="0">
                <a:solidFill>
                  <a:srgbClr val="292929"/>
                </a:solidFill>
              </a:rPr>
              <a:pPr defTabSz="914363"/>
              <a:t>‹#›</a:t>
            </a:fld>
            <a:endParaRPr lang="en-US">
              <a:solidFill>
                <a:srgbClr val="292929"/>
              </a:solidFill>
            </a:endParaRPr>
          </a:p>
        </p:txBody>
      </p:sp>
    </p:spTree>
    <p:extLst>
      <p:ext uri="{BB962C8B-B14F-4D97-AF65-F5344CB8AC3E}">
        <p14:creationId xmlns:p14="http://schemas.microsoft.com/office/powerpoint/2010/main" val="1762074349"/>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475171701"/>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12231677"/>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146460899"/>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3506148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96024282"/>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216706555"/>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19567643"/>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80110586"/>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139305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1034542759"/>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2071250625"/>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83735290"/>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687436128"/>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836257374"/>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2478641419"/>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031120023"/>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817412221"/>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2933488"/>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3494378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theme" Target="../theme/theme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theme" Target="../theme/theme3.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723594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743999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msdn.microsoft.com/en-us/library/windowsazure/ff394102.aspx"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hyperlink" Target="http://msdn.microsoft.com/en-us/library/windowsazure/ee336281.aspx"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hyperlink" Target="http://msdn.microsoft.com/en-us/library/windowsazure/ee336253.aspx"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hyperlink" Target="http://channel9.msdn.com/Events/TechEd/NorthAmerica/2012/DBI326" TargetMode="External"/><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914400" indent="-914400"/>
            <a:r>
              <a:rPr lang="en-US" dirty="0" smtClean="0"/>
              <a:t>03 </a:t>
            </a:r>
            <a:r>
              <a:rPr lang="en-US" dirty="0" smtClean="0"/>
              <a:t>|  SQL Database Migration and Maintenance</a:t>
            </a:r>
            <a:endParaRPr lang="en-US" dirty="0"/>
          </a:p>
        </p:txBody>
      </p:sp>
      <p:sp>
        <p:nvSpPr>
          <p:cNvPr id="4" name="Subtitle 3"/>
          <p:cNvSpPr>
            <a:spLocks noGrp="1"/>
          </p:cNvSpPr>
          <p:nvPr>
            <p:ph type="subTitle" idx="1"/>
          </p:nvPr>
        </p:nvSpPr>
        <p:spPr/>
        <p:txBody>
          <a:bodyPr/>
          <a:lstStyle/>
          <a:p>
            <a:r>
              <a:rPr lang="en-US" dirty="0"/>
              <a:t>Chris Auld | CTO – Intergen Limited, Azure MVP</a:t>
            </a:r>
          </a:p>
          <a:p>
            <a:r>
              <a:rPr lang="en-US" dirty="0"/>
              <a:t>Greg Leake | Director, </a:t>
            </a:r>
            <a:r>
              <a:rPr lang="en-US" dirty="0" smtClean="0"/>
              <a:t>SQL Server </a:t>
            </a:r>
            <a:r>
              <a:rPr lang="en-US" dirty="0"/>
              <a:t>Product Management</a:t>
            </a:r>
          </a:p>
        </p:txBody>
      </p:sp>
    </p:spTree>
    <p:extLst>
      <p:ext uri="{BB962C8B-B14F-4D97-AF65-F5344CB8AC3E}">
        <p14:creationId xmlns:p14="http://schemas.microsoft.com/office/powerpoint/2010/main" val="897692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Compatibility Considerations</a:t>
            </a:r>
          </a:p>
          <a:p>
            <a:r>
              <a:rPr lang="en-GB" dirty="0" smtClean="0"/>
              <a:t>Migration Tooling</a:t>
            </a:r>
          </a:p>
          <a:p>
            <a:r>
              <a:rPr lang="en-GB" dirty="0" smtClean="0"/>
              <a:t>Maintenance</a:t>
            </a:r>
            <a:r>
              <a:rPr lang="en-GB" dirty="0"/>
              <a:t> </a:t>
            </a:r>
            <a:r>
              <a:rPr lang="en-GB" dirty="0" smtClean="0"/>
              <a:t>– Indexes</a:t>
            </a:r>
          </a:p>
          <a:p>
            <a:r>
              <a:rPr lang="en-GB" dirty="0"/>
              <a:t>Maintenance </a:t>
            </a:r>
            <a:r>
              <a:rPr lang="en-GB" dirty="0" smtClean="0"/>
              <a:t>– Scripted Backup</a:t>
            </a:r>
            <a:endParaRPr lang="en-GB" dirty="0"/>
          </a:p>
        </p:txBody>
      </p:sp>
      <p:sp>
        <p:nvSpPr>
          <p:cNvPr id="2" name="Title 1"/>
          <p:cNvSpPr>
            <a:spLocks noGrp="1"/>
          </p:cNvSpPr>
          <p:nvPr>
            <p:ph type="title"/>
          </p:nvPr>
        </p:nvSpPr>
        <p:spPr/>
        <p:txBody>
          <a:bodyPr/>
          <a:lstStyle/>
          <a:p>
            <a:r>
              <a:rPr lang="en-US" smtClean="0"/>
              <a:t>Module Overview</a:t>
            </a:r>
            <a:endParaRPr lang="en-US" dirty="0"/>
          </a:p>
        </p:txBody>
      </p:sp>
    </p:spTree>
    <p:extLst>
      <p:ext uri="{BB962C8B-B14F-4D97-AF65-F5344CB8AC3E}">
        <p14:creationId xmlns:p14="http://schemas.microsoft.com/office/powerpoint/2010/main" val="318349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Compatibility Considerations</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2620478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 SQL Database != A SQL Server</a:t>
            </a:r>
            <a:endParaRPr lang="en-US" dirty="0"/>
          </a:p>
        </p:txBody>
      </p:sp>
      <p:sp>
        <p:nvSpPr>
          <p:cNvPr id="2" name="Text Placeholder 1"/>
          <p:cNvSpPr>
            <a:spLocks noGrp="1"/>
          </p:cNvSpPr>
          <p:nvPr>
            <p:ph type="body" sz="quarter" idx="10"/>
          </p:nvPr>
        </p:nvSpPr>
        <p:spPr>
          <a:xfrm>
            <a:off x="519248" y="1447800"/>
            <a:ext cx="11151917" cy="4748048"/>
          </a:xfrm>
        </p:spPr>
        <p:txBody>
          <a:bodyPr/>
          <a:lstStyle/>
          <a:p>
            <a:pPr marL="574675" indent="-571500">
              <a:buFont typeface="Arial" panose="020B0604020202020204" pitchFamily="34" charset="0"/>
              <a:buChar char="•"/>
            </a:pPr>
            <a:r>
              <a:rPr lang="en-NZ" dirty="0" smtClean="0"/>
              <a:t>Missing platform components</a:t>
            </a:r>
          </a:p>
          <a:p>
            <a:pPr marL="574675" indent="-571500">
              <a:buFont typeface="Arial" panose="020B0604020202020204" pitchFamily="34" charset="0"/>
              <a:buChar char="•"/>
            </a:pPr>
            <a:r>
              <a:rPr lang="en-NZ" dirty="0" smtClean="0"/>
              <a:t>Non supported T-SQL DDL constructs</a:t>
            </a:r>
          </a:p>
          <a:p>
            <a:pPr marL="574675" indent="-571500">
              <a:buFont typeface="Arial" panose="020B0604020202020204" pitchFamily="34" charset="0"/>
              <a:buChar char="•"/>
            </a:pPr>
            <a:r>
              <a:rPr lang="en-NZ" dirty="0" smtClean="0"/>
              <a:t>Non supported T-SQL DML commands</a:t>
            </a:r>
          </a:p>
          <a:p>
            <a:pPr marL="574675" indent="-571500">
              <a:buFont typeface="Arial" panose="020B0604020202020204" pitchFamily="34" charset="0"/>
              <a:buChar char="•"/>
            </a:pPr>
            <a:r>
              <a:rPr lang="en-NZ" dirty="0" smtClean="0"/>
              <a:t>Other gremlins</a:t>
            </a:r>
          </a:p>
          <a:p>
            <a:pPr marL="574675" indent="-571500">
              <a:buFont typeface="Arial" panose="020B0604020202020204" pitchFamily="34" charset="0"/>
              <a:buChar char="•"/>
            </a:pPr>
            <a:endParaRPr lang="en-NZ" dirty="0"/>
          </a:p>
          <a:p>
            <a:r>
              <a:rPr lang="en-NZ" dirty="0" smtClean="0"/>
              <a:t>Unlikely that anything but the most trivial on-premises DB will be migrated without at least some changes</a:t>
            </a:r>
          </a:p>
          <a:p>
            <a:r>
              <a:rPr lang="en-NZ" sz="3200" dirty="0">
                <a:hlinkClick r:id="rId3"/>
              </a:rPr>
              <a:t>http://</a:t>
            </a:r>
            <a:r>
              <a:rPr lang="en-NZ" sz="3200" dirty="0" smtClean="0">
                <a:hlinkClick r:id="rId3"/>
              </a:rPr>
              <a:t>msdn.microsoft.com/en-us/library/windowsazure/ff394102.aspx</a:t>
            </a:r>
            <a:r>
              <a:rPr lang="en-NZ" sz="3200" dirty="0" smtClean="0"/>
              <a:t> </a:t>
            </a:r>
            <a:endParaRPr lang="en-NZ" sz="3200" dirty="0"/>
          </a:p>
        </p:txBody>
      </p:sp>
    </p:spTree>
    <p:extLst>
      <p:ext uri="{BB962C8B-B14F-4D97-AF65-F5344CB8AC3E}">
        <p14:creationId xmlns:p14="http://schemas.microsoft.com/office/powerpoint/2010/main" val="104389876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Missing platform features/components</a:t>
            </a:r>
            <a:endParaRPr lang="en-US" dirty="0"/>
          </a:p>
        </p:txBody>
      </p:sp>
      <p:sp>
        <p:nvSpPr>
          <p:cNvPr id="8" name="Text Placeholder 7"/>
          <p:cNvSpPr>
            <a:spLocks noGrp="1"/>
          </p:cNvSpPr>
          <p:nvPr>
            <p:ph type="body" idx="1"/>
          </p:nvPr>
        </p:nvSpPr>
        <p:spPr/>
        <p:txBody>
          <a:bodyPr/>
          <a:lstStyle/>
          <a:p>
            <a:r>
              <a:rPr lang="en-NZ" dirty="0" smtClean="0"/>
              <a:t>Easier to Resolve</a:t>
            </a:r>
            <a:endParaRPr lang="en-NZ" dirty="0"/>
          </a:p>
        </p:txBody>
      </p:sp>
      <p:sp>
        <p:nvSpPr>
          <p:cNvPr id="9" name="Content Placeholder 8"/>
          <p:cNvSpPr>
            <a:spLocks noGrp="1"/>
          </p:cNvSpPr>
          <p:nvPr>
            <p:ph sz="half" idx="2"/>
          </p:nvPr>
        </p:nvSpPr>
        <p:spPr>
          <a:xfrm>
            <a:off x="508000" y="2266796"/>
            <a:ext cx="5486400" cy="2757678"/>
          </a:xfrm>
        </p:spPr>
        <p:txBody>
          <a:bodyPr/>
          <a:lstStyle/>
          <a:p>
            <a:r>
              <a:rPr lang="en-NZ" dirty="0" smtClean="0"/>
              <a:t>SQL Server Integration Services</a:t>
            </a:r>
          </a:p>
          <a:p>
            <a:r>
              <a:rPr lang="en-NZ" dirty="0" smtClean="0"/>
              <a:t>SQL Server Reporting Services</a:t>
            </a:r>
          </a:p>
          <a:p>
            <a:r>
              <a:rPr lang="en-NZ" dirty="0"/>
              <a:t>SQL Server Analysis </a:t>
            </a:r>
            <a:r>
              <a:rPr lang="en-NZ" dirty="0" smtClean="0"/>
              <a:t>Services</a:t>
            </a:r>
          </a:p>
          <a:p>
            <a:r>
              <a:rPr lang="en-NZ" dirty="0"/>
              <a:t>SQL Server Agent &amp; Jobs</a:t>
            </a:r>
          </a:p>
          <a:p>
            <a:pPr marL="0" indent="0">
              <a:buNone/>
            </a:pPr>
            <a:endParaRPr lang="en-NZ" dirty="0" smtClean="0"/>
          </a:p>
          <a:p>
            <a:endParaRPr lang="en-NZ" dirty="0"/>
          </a:p>
        </p:txBody>
      </p:sp>
      <p:sp>
        <p:nvSpPr>
          <p:cNvPr id="10" name="Text Placeholder 9"/>
          <p:cNvSpPr>
            <a:spLocks noGrp="1"/>
          </p:cNvSpPr>
          <p:nvPr>
            <p:ph type="body" sz="quarter" idx="3"/>
          </p:nvPr>
        </p:nvSpPr>
        <p:spPr/>
        <p:txBody>
          <a:bodyPr/>
          <a:lstStyle/>
          <a:p>
            <a:r>
              <a:rPr lang="en-NZ" dirty="0" smtClean="0"/>
              <a:t>Harder to Resolve</a:t>
            </a:r>
            <a:endParaRPr lang="en-NZ" dirty="0"/>
          </a:p>
        </p:txBody>
      </p:sp>
      <p:sp>
        <p:nvSpPr>
          <p:cNvPr id="11" name="Content Placeholder 10"/>
          <p:cNvSpPr>
            <a:spLocks noGrp="1"/>
          </p:cNvSpPr>
          <p:nvPr>
            <p:ph sz="quarter" idx="4"/>
          </p:nvPr>
        </p:nvSpPr>
        <p:spPr>
          <a:xfrm>
            <a:off x="6183335" y="2266796"/>
            <a:ext cx="5487829" cy="4567404"/>
          </a:xfrm>
        </p:spPr>
        <p:txBody>
          <a:bodyPr/>
          <a:lstStyle/>
          <a:p>
            <a:r>
              <a:rPr lang="en-NZ" dirty="0" smtClean="0"/>
              <a:t>Distributed Transactions &amp; Cross Database Transactions</a:t>
            </a:r>
          </a:p>
          <a:p>
            <a:r>
              <a:rPr lang="en-NZ" dirty="0" smtClean="0"/>
              <a:t>SQL Server Management Objects</a:t>
            </a:r>
          </a:p>
          <a:p>
            <a:r>
              <a:rPr lang="en-NZ" dirty="0" smtClean="0"/>
              <a:t>Certain system </a:t>
            </a:r>
            <a:r>
              <a:rPr lang="en-NZ" dirty="0" err="1" smtClean="0"/>
              <a:t>procs</a:t>
            </a:r>
            <a:r>
              <a:rPr lang="en-NZ" dirty="0" smtClean="0"/>
              <a:t>/views</a:t>
            </a:r>
          </a:p>
          <a:p>
            <a:r>
              <a:rPr lang="en-NZ" dirty="0" smtClean="0"/>
              <a:t>Full text indexing</a:t>
            </a:r>
          </a:p>
          <a:p>
            <a:r>
              <a:rPr lang="en-NZ" dirty="0" smtClean="0"/>
              <a:t>Transparent Data Encryption</a:t>
            </a:r>
          </a:p>
          <a:p>
            <a:r>
              <a:rPr lang="en-NZ" dirty="0" smtClean="0"/>
              <a:t>Windows </a:t>
            </a:r>
            <a:r>
              <a:rPr lang="en-NZ" dirty="0" err="1" smtClean="0"/>
              <a:t>Auth</a:t>
            </a:r>
            <a:endParaRPr lang="en-NZ" dirty="0" smtClean="0"/>
          </a:p>
          <a:p>
            <a:r>
              <a:rPr lang="en-NZ" dirty="0" smtClean="0"/>
              <a:t>Master Data Services</a:t>
            </a:r>
          </a:p>
          <a:p>
            <a:r>
              <a:rPr lang="en-NZ" dirty="0" smtClean="0"/>
              <a:t>Data Auditing and CDC</a:t>
            </a:r>
          </a:p>
          <a:p>
            <a:endParaRPr lang="en-NZ" dirty="0"/>
          </a:p>
        </p:txBody>
      </p:sp>
    </p:spTree>
    <p:extLst>
      <p:ext uri="{BB962C8B-B14F-4D97-AF65-F5344CB8AC3E}">
        <p14:creationId xmlns:p14="http://schemas.microsoft.com/office/powerpoint/2010/main" val="394073185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Non-supported DDL</a:t>
            </a:r>
            <a:endParaRPr lang="en-US" dirty="0"/>
          </a:p>
        </p:txBody>
      </p:sp>
      <p:sp>
        <p:nvSpPr>
          <p:cNvPr id="8" name="Text Placeholder 7"/>
          <p:cNvSpPr>
            <a:spLocks noGrp="1"/>
          </p:cNvSpPr>
          <p:nvPr>
            <p:ph type="body" idx="1"/>
          </p:nvPr>
        </p:nvSpPr>
        <p:spPr>
          <a:xfrm>
            <a:off x="519248" y="1447800"/>
            <a:ext cx="7458104" cy="443198"/>
          </a:xfrm>
        </p:spPr>
        <p:txBody>
          <a:bodyPr/>
          <a:lstStyle/>
          <a:p>
            <a:r>
              <a:rPr lang="en-NZ" dirty="0" smtClean="0"/>
              <a:t>Easy to identify; YMMV to resolve.</a:t>
            </a:r>
          </a:p>
        </p:txBody>
      </p:sp>
      <p:sp>
        <p:nvSpPr>
          <p:cNvPr id="9" name="Content Placeholder 8"/>
          <p:cNvSpPr>
            <a:spLocks noGrp="1"/>
          </p:cNvSpPr>
          <p:nvPr>
            <p:ph sz="half" idx="2"/>
          </p:nvPr>
        </p:nvSpPr>
        <p:spPr>
          <a:xfrm>
            <a:off x="508000" y="2266796"/>
            <a:ext cx="10843172" cy="3705630"/>
          </a:xfrm>
        </p:spPr>
        <p:txBody>
          <a:bodyPr/>
          <a:lstStyle/>
          <a:p>
            <a:r>
              <a:rPr lang="en-NZ" dirty="0" smtClean="0"/>
              <a:t>XML Schema on XML columns, XML indexing</a:t>
            </a:r>
          </a:p>
          <a:p>
            <a:r>
              <a:rPr lang="en-NZ" dirty="0" smtClean="0"/>
              <a:t>User defined CLR types</a:t>
            </a:r>
          </a:p>
          <a:p>
            <a:r>
              <a:rPr lang="en-NZ" dirty="0" smtClean="0"/>
              <a:t>Tables without a clustered index and/or primary key</a:t>
            </a:r>
          </a:p>
          <a:p>
            <a:r>
              <a:rPr lang="en-NZ" dirty="0" smtClean="0"/>
              <a:t>FILESTREAM type</a:t>
            </a:r>
          </a:p>
          <a:p>
            <a:r>
              <a:rPr lang="en-NZ" dirty="0" smtClean="0"/>
              <a:t>Etc…</a:t>
            </a:r>
          </a:p>
          <a:p>
            <a:endParaRPr lang="en-NZ" dirty="0" smtClean="0"/>
          </a:p>
          <a:p>
            <a:endParaRPr lang="en-NZ" dirty="0" smtClean="0"/>
          </a:p>
          <a:p>
            <a:endParaRPr lang="en-NZ" dirty="0"/>
          </a:p>
        </p:txBody>
      </p:sp>
      <p:sp>
        <p:nvSpPr>
          <p:cNvPr id="5" name="Rectangle 4"/>
          <p:cNvSpPr/>
          <p:nvPr/>
        </p:nvSpPr>
        <p:spPr>
          <a:xfrm>
            <a:off x="315310" y="5024474"/>
            <a:ext cx="11576571" cy="523220"/>
          </a:xfrm>
          <a:prstGeom prst="rect">
            <a:avLst/>
          </a:prstGeom>
        </p:spPr>
        <p:txBody>
          <a:bodyPr wrap="square">
            <a:spAutoFit/>
          </a:bodyPr>
          <a:lstStyle/>
          <a:p>
            <a:r>
              <a:rPr lang="en-NZ" sz="2800" dirty="0">
                <a:hlinkClick r:id="rId3"/>
              </a:rPr>
              <a:t>http://</a:t>
            </a:r>
            <a:r>
              <a:rPr lang="en-NZ" sz="2800" dirty="0" smtClean="0">
                <a:hlinkClick r:id="rId3"/>
              </a:rPr>
              <a:t>msdn.microsoft.com/en-us/library/windowsazure/ee336281.aspx</a:t>
            </a:r>
            <a:r>
              <a:rPr lang="en-NZ" sz="2800" dirty="0" smtClean="0"/>
              <a:t> </a:t>
            </a:r>
            <a:endParaRPr lang="en-NZ" sz="2800" dirty="0"/>
          </a:p>
        </p:txBody>
      </p:sp>
    </p:spTree>
    <p:extLst>
      <p:ext uri="{BB962C8B-B14F-4D97-AF65-F5344CB8AC3E}">
        <p14:creationId xmlns:p14="http://schemas.microsoft.com/office/powerpoint/2010/main" val="311977477"/>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Non-supported DML and other T-SQL</a:t>
            </a:r>
            <a:endParaRPr lang="en-US" dirty="0"/>
          </a:p>
        </p:txBody>
      </p:sp>
      <p:sp>
        <p:nvSpPr>
          <p:cNvPr id="8" name="Text Placeholder 7"/>
          <p:cNvSpPr>
            <a:spLocks noGrp="1"/>
          </p:cNvSpPr>
          <p:nvPr>
            <p:ph type="body" idx="1"/>
          </p:nvPr>
        </p:nvSpPr>
        <p:spPr>
          <a:xfrm>
            <a:off x="519248" y="1447800"/>
            <a:ext cx="7458104" cy="443198"/>
          </a:xfrm>
        </p:spPr>
        <p:txBody>
          <a:bodyPr/>
          <a:lstStyle/>
          <a:p>
            <a:r>
              <a:rPr lang="en-NZ" dirty="0" smtClean="0"/>
              <a:t>Harder to identify as could be in code</a:t>
            </a:r>
            <a:endParaRPr lang="en-NZ" dirty="0"/>
          </a:p>
        </p:txBody>
      </p:sp>
      <p:sp>
        <p:nvSpPr>
          <p:cNvPr id="9" name="Content Placeholder 8"/>
          <p:cNvSpPr>
            <a:spLocks noGrp="1"/>
          </p:cNvSpPr>
          <p:nvPr>
            <p:ph sz="half" idx="2"/>
          </p:nvPr>
        </p:nvSpPr>
        <p:spPr>
          <a:xfrm>
            <a:off x="508000" y="2266796"/>
            <a:ext cx="10843172" cy="3705630"/>
          </a:xfrm>
        </p:spPr>
        <p:txBody>
          <a:bodyPr/>
          <a:lstStyle/>
          <a:p>
            <a:r>
              <a:rPr lang="en-NZ" dirty="0" smtClean="0"/>
              <a:t>BULK INSERT</a:t>
            </a:r>
          </a:p>
          <a:p>
            <a:r>
              <a:rPr lang="en-NZ" dirty="0" smtClean="0"/>
              <a:t>OPENROWSET, OPENQUERY, OPENXML</a:t>
            </a:r>
          </a:p>
          <a:p>
            <a:r>
              <a:rPr lang="en-NZ" dirty="0" smtClean="0"/>
              <a:t>Several of the Database Console Commands (DBCC)</a:t>
            </a:r>
          </a:p>
          <a:p>
            <a:r>
              <a:rPr lang="en-NZ" dirty="0" smtClean="0"/>
              <a:t>EXECUTE AS LOGIN</a:t>
            </a:r>
          </a:p>
          <a:p>
            <a:r>
              <a:rPr lang="en-NZ" dirty="0" smtClean="0"/>
              <a:t>Etc…</a:t>
            </a:r>
          </a:p>
          <a:p>
            <a:endParaRPr lang="en-NZ" dirty="0" smtClean="0"/>
          </a:p>
          <a:p>
            <a:endParaRPr lang="en-NZ" dirty="0" smtClean="0"/>
          </a:p>
          <a:p>
            <a:endParaRPr lang="en-NZ" dirty="0"/>
          </a:p>
        </p:txBody>
      </p:sp>
      <p:sp>
        <p:nvSpPr>
          <p:cNvPr id="2" name="Rectangle 1"/>
          <p:cNvSpPr/>
          <p:nvPr/>
        </p:nvSpPr>
        <p:spPr>
          <a:xfrm>
            <a:off x="651641" y="5202649"/>
            <a:ext cx="11330152" cy="523220"/>
          </a:xfrm>
          <a:prstGeom prst="rect">
            <a:avLst/>
          </a:prstGeom>
        </p:spPr>
        <p:txBody>
          <a:bodyPr wrap="square">
            <a:spAutoFit/>
          </a:bodyPr>
          <a:lstStyle/>
          <a:p>
            <a:r>
              <a:rPr lang="en-NZ" sz="2800" dirty="0">
                <a:hlinkClick r:id="rId3"/>
              </a:rPr>
              <a:t>http://</a:t>
            </a:r>
            <a:r>
              <a:rPr lang="en-NZ" sz="2800" dirty="0" smtClean="0">
                <a:hlinkClick r:id="rId3"/>
              </a:rPr>
              <a:t>msdn.microsoft.com/en-us/library/windowsazure/ee336253.aspx</a:t>
            </a:r>
            <a:r>
              <a:rPr lang="en-NZ" sz="2800" dirty="0" smtClean="0"/>
              <a:t> </a:t>
            </a:r>
            <a:endParaRPr lang="en-NZ" sz="2800" dirty="0"/>
          </a:p>
        </p:txBody>
      </p:sp>
    </p:spTree>
    <p:extLst>
      <p:ext uri="{BB962C8B-B14F-4D97-AF65-F5344CB8AC3E}">
        <p14:creationId xmlns:p14="http://schemas.microsoft.com/office/powerpoint/2010/main" val="198887711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Other gremlins</a:t>
            </a:r>
            <a:endParaRPr lang="en-US" dirty="0"/>
          </a:p>
        </p:txBody>
      </p:sp>
      <p:sp>
        <p:nvSpPr>
          <p:cNvPr id="8" name="Text Placeholder 7"/>
          <p:cNvSpPr>
            <a:spLocks noGrp="1"/>
          </p:cNvSpPr>
          <p:nvPr>
            <p:ph type="body" idx="1"/>
          </p:nvPr>
        </p:nvSpPr>
        <p:spPr>
          <a:xfrm>
            <a:off x="519247" y="1004601"/>
            <a:ext cx="8325207" cy="886397"/>
          </a:xfrm>
        </p:spPr>
        <p:txBody>
          <a:bodyPr/>
          <a:lstStyle/>
          <a:p>
            <a:r>
              <a:rPr lang="en-NZ" dirty="0" smtClean="0"/>
              <a:t>Stuff that might bite at an inconvenient time</a:t>
            </a:r>
            <a:endParaRPr lang="en-NZ" dirty="0"/>
          </a:p>
        </p:txBody>
      </p:sp>
      <p:sp>
        <p:nvSpPr>
          <p:cNvPr id="9" name="Content Placeholder 8"/>
          <p:cNvSpPr>
            <a:spLocks noGrp="1"/>
          </p:cNvSpPr>
          <p:nvPr>
            <p:ph sz="half" idx="2"/>
          </p:nvPr>
        </p:nvSpPr>
        <p:spPr>
          <a:xfrm>
            <a:off x="508000" y="2266796"/>
            <a:ext cx="10843172" cy="4093428"/>
          </a:xfrm>
        </p:spPr>
        <p:txBody>
          <a:bodyPr/>
          <a:lstStyle/>
          <a:p>
            <a:r>
              <a:rPr lang="en-NZ" dirty="0" smtClean="0"/>
              <a:t>Limitations on certain user names (</a:t>
            </a:r>
            <a:r>
              <a:rPr lang="en-NZ" dirty="0" err="1" smtClean="0"/>
              <a:t>sa</a:t>
            </a:r>
            <a:r>
              <a:rPr lang="en-NZ" dirty="0" smtClean="0"/>
              <a:t>, admin, root etc…)</a:t>
            </a:r>
          </a:p>
          <a:p>
            <a:r>
              <a:rPr lang="en-NZ" dirty="0" smtClean="0"/>
              <a:t>USE {database} is not supported for DB context switching on a single connection</a:t>
            </a:r>
          </a:p>
          <a:p>
            <a:r>
              <a:rPr lang="en-NZ" dirty="0"/>
              <a:t>Must specify the database name in the connection string</a:t>
            </a:r>
          </a:p>
          <a:p>
            <a:r>
              <a:rPr lang="en-NZ" dirty="0" smtClean="0"/>
              <a:t>Transaction promotion in early versions of .NET</a:t>
            </a:r>
          </a:p>
          <a:p>
            <a:r>
              <a:rPr lang="en-NZ" dirty="0" smtClean="0"/>
              <a:t>ALTER INDEX REORGANIZE (Must REBUILD)</a:t>
            </a:r>
          </a:p>
          <a:p>
            <a:pPr marL="0" indent="0">
              <a:buNone/>
            </a:pPr>
            <a:endParaRPr lang="en-NZ" dirty="0" smtClean="0"/>
          </a:p>
          <a:p>
            <a:endParaRPr lang="en-NZ" dirty="0" smtClean="0"/>
          </a:p>
          <a:p>
            <a:endParaRPr lang="en-NZ" dirty="0"/>
          </a:p>
        </p:txBody>
      </p:sp>
    </p:spTree>
    <p:extLst>
      <p:ext uri="{BB962C8B-B14F-4D97-AF65-F5344CB8AC3E}">
        <p14:creationId xmlns:p14="http://schemas.microsoft.com/office/powerpoint/2010/main" val="1543749166"/>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2:</a:t>
            </a:r>
          </a:p>
          <a:p>
            <a:endParaRPr lang="en-NZ" sz="4400" dirty="0">
              <a:solidFill>
                <a:prstClr val="black"/>
              </a:solidFill>
            </a:endParaRPr>
          </a:p>
          <a:p>
            <a:r>
              <a:rPr lang="en-GB" sz="4400" dirty="0" smtClean="0">
                <a:solidFill>
                  <a:prstClr val="black"/>
                </a:solidFill>
              </a:rPr>
              <a:t>Migration Tooling</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2333976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Migration Assessment using the Migration Wizard [Chris]</a:t>
            </a:r>
            <a:endParaRPr lang="en-US" dirty="0"/>
          </a:p>
        </p:txBody>
      </p:sp>
    </p:spTree>
    <p:extLst>
      <p:ext uri="{BB962C8B-B14F-4D97-AF65-F5344CB8AC3E}">
        <p14:creationId xmlns:p14="http://schemas.microsoft.com/office/powerpoint/2010/main" val="23115381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Migration </a:t>
            </a:r>
            <a:r>
              <a:rPr lang="en-US" smtClean="0"/>
              <a:t>via SSMS</a:t>
            </a:r>
            <a:endParaRPr lang="en-US" dirty="0"/>
          </a:p>
        </p:txBody>
      </p:sp>
    </p:spTree>
    <p:extLst>
      <p:ext uri="{BB962C8B-B14F-4D97-AF65-F5344CB8AC3E}">
        <p14:creationId xmlns:p14="http://schemas.microsoft.com/office/powerpoint/2010/main" val="18837780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Index Maintenance</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818070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Index Maintenance</a:t>
            </a:r>
            <a:endParaRPr lang="en-NZ" dirty="0"/>
          </a:p>
        </p:txBody>
      </p:sp>
      <p:sp>
        <p:nvSpPr>
          <p:cNvPr id="3" name="Text Placeholder 2"/>
          <p:cNvSpPr>
            <a:spLocks noGrp="1"/>
          </p:cNvSpPr>
          <p:nvPr>
            <p:ph type="body" sz="quarter" idx="10"/>
          </p:nvPr>
        </p:nvSpPr>
        <p:spPr>
          <a:xfrm>
            <a:off x="519248" y="1447800"/>
            <a:ext cx="11151917" cy="4339650"/>
          </a:xfrm>
        </p:spPr>
        <p:txBody>
          <a:bodyPr/>
          <a:lstStyle/>
          <a:p>
            <a:pPr marL="574675" indent="-571500">
              <a:buFont typeface="Arial" panose="020B0604020202020204" pitchFamily="34" charset="0"/>
              <a:buChar char="•"/>
            </a:pPr>
            <a:r>
              <a:rPr lang="en-NZ" dirty="0" smtClean="0"/>
              <a:t>Index maintenance is about the only ‘physical’ optimization task left</a:t>
            </a:r>
          </a:p>
          <a:p>
            <a:pPr marL="574675" indent="-571500">
              <a:buFont typeface="Arial" panose="020B0604020202020204" pitchFamily="34" charset="0"/>
              <a:buChar char="•"/>
            </a:pPr>
            <a:r>
              <a:rPr lang="en-NZ" dirty="0" smtClean="0"/>
              <a:t>Poor performance and long running queries = more likely to hit the throttle</a:t>
            </a:r>
          </a:p>
          <a:p>
            <a:pPr marL="574675" indent="-571500">
              <a:buFont typeface="Arial" panose="020B0604020202020204" pitchFamily="34" charset="0"/>
              <a:buChar char="•"/>
            </a:pPr>
            <a:endParaRPr lang="en-NZ" dirty="0"/>
          </a:p>
          <a:p>
            <a:pPr marL="574675" indent="-571500">
              <a:buFont typeface="Arial" panose="020B0604020202020204" pitchFamily="34" charset="0"/>
              <a:buChar char="•"/>
            </a:pPr>
            <a:r>
              <a:rPr lang="en-NZ" dirty="0" smtClean="0"/>
              <a:t>Determine indexes with excessive fragmentation</a:t>
            </a:r>
          </a:p>
          <a:p>
            <a:pPr marL="574675" indent="-571500">
              <a:buFont typeface="Arial" panose="020B0604020202020204" pitchFamily="34" charset="0"/>
              <a:buChar char="•"/>
            </a:pPr>
            <a:r>
              <a:rPr lang="en-NZ" dirty="0" smtClean="0"/>
              <a:t>REBUILD</a:t>
            </a:r>
            <a:endParaRPr lang="en-NZ" dirty="0"/>
          </a:p>
        </p:txBody>
      </p:sp>
    </p:spTree>
    <p:extLst>
      <p:ext uri="{BB962C8B-B14F-4D97-AF65-F5344CB8AC3E}">
        <p14:creationId xmlns:p14="http://schemas.microsoft.com/office/powerpoint/2010/main" val="120863268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Index maintenance [Chris]</a:t>
            </a:r>
            <a:endParaRPr lang="en-US" dirty="0"/>
          </a:p>
        </p:txBody>
      </p:sp>
    </p:spTree>
    <p:extLst>
      <p:ext uri="{BB962C8B-B14F-4D97-AF65-F5344CB8AC3E}">
        <p14:creationId xmlns:p14="http://schemas.microsoft.com/office/powerpoint/2010/main" val="1327532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Scripted Backup</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138245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Automated ‘Backups’</a:t>
            </a:r>
            <a:endParaRPr lang="en-NZ" dirty="0"/>
          </a:p>
        </p:txBody>
      </p:sp>
      <p:sp>
        <p:nvSpPr>
          <p:cNvPr id="3" name="Text Placeholder 2"/>
          <p:cNvSpPr>
            <a:spLocks noGrp="1"/>
          </p:cNvSpPr>
          <p:nvPr>
            <p:ph type="body" sz="quarter" idx="10"/>
          </p:nvPr>
        </p:nvSpPr>
        <p:spPr>
          <a:xfrm>
            <a:off x="519248" y="1447800"/>
            <a:ext cx="11151917" cy="553998"/>
          </a:xfrm>
        </p:spPr>
        <p:txBody>
          <a:bodyPr/>
          <a:lstStyle/>
          <a:p>
            <a:pPr marL="574675" indent="-571500">
              <a:buFont typeface="Arial" panose="020B0604020202020204" pitchFamily="34" charset="0"/>
              <a:buChar char="•"/>
            </a:pPr>
            <a:r>
              <a:rPr lang="en-NZ" dirty="0" smtClean="0"/>
              <a:t>No point in time support *yet*</a:t>
            </a:r>
          </a:p>
        </p:txBody>
      </p:sp>
      <p:graphicFrame>
        <p:nvGraphicFramePr>
          <p:cNvPr id="4" name="Diagram 3"/>
          <p:cNvGraphicFramePr/>
          <p:nvPr>
            <p:extLst>
              <p:ext uri="{D42A27DB-BD31-4B8C-83A1-F6EECF244321}">
                <p14:modId xmlns:p14="http://schemas.microsoft.com/office/powerpoint/2010/main" val="354497506"/>
              </p:ext>
            </p:extLst>
          </p:nvPr>
        </p:nvGraphicFramePr>
        <p:xfrm>
          <a:off x="1921641" y="2170095"/>
          <a:ext cx="9098455" cy="3253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7368026"/>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Scripting backups using CREATE DATABASE AS COPY OF </a:t>
            </a:r>
            <a:r>
              <a:rPr lang="en-US" smtClean="0"/>
              <a:t>[Chris]</a:t>
            </a:r>
            <a:endParaRPr lang="en-US" dirty="0"/>
          </a:p>
        </p:txBody>
      </p:sp>
    </p:spTree>
    <p:extLst>
      <p:ext uri="{BB962C8B-B14F-4D97-AF65-F5344CB8AC3E}">
        <p14:creationId xmlns:p14="http://schemas.microsoft.com/office/powerpoint/2010/main" val="19793140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NZ" dirty="0" smtClean="0"/>
              <a:t>Other Resources</a:t>
            </a:r>
            <a:endParaRPr lang="en-NZ" dirty="0"/>
          </a:p>
        </p:txBody>
      </p:sp>
      <p:sp>
        <p:nvSpPr>
          <p:cNvPr id="4" name="Text Placeholder 3"/>
          <p:cNvSpPr>
            <a:spLocks noGrp="1"/>
          </p:cNvSpPr>
          <p:nvPr>
            <p:ph type="body" sz="quarter" idx="10"/>
          </p:nvPr>
        </p:nvSpPr>
        <p:spPr>
          <a:xfrm>
            <a:off x="519248" y="1447800"/>
            <a:ext cx="11151917" cy="2885405"/>
          </a:xfrm>
        </p:spPr>
        <p:txBody>
          <a:bodyPr/>
          <a:lstStyle/>
          <a:p>
            <a:pPr marL="574675" indent="-571500">
              <a:buFont typeface="Arial" panose="020B0604020202020204" pitchFamily="34" charset="0"/>
              <a:buChar char="•"/>
            </a:pPr>
            <a:r>
              <a:rPr lang="en-NZ" dirty="0" smtClean="0"/>
              <a:t>Deep dive on ‘SQL Azure’ administration </a:t>
            </a:r>
            <a:r>
              <a:rPr lang="en-NZ" dirty="0"/>
              <a:t>from TechEd 2012</a:t>
            </a:r>
            <a:br>
              <a:rPr lang="en-NZ" dirty="0"/>
            </a:br>
            <a:r>
              <a:rPr lang="en-NZ" dirty="0">
                <a:hlinkClick r:id="rId3"/>
              </a:rPr>
              <a:t>http://</a:t>
            </a:r>
            <a:r>
              <a:rPr lang="en-NZ" dirty="0" smtClean="0">
                <a:hlinkClick r:id="rId3"/>
              </a:rPr>
              <a:t>channel9.msdn.com/Events/TechEd/NorthAmerica/2012/DBI326</a:t>
            </a:r>
            <a:r>
              <a:rPr lang="en-NZ" dirty="0" smtClean="0"/>
              <a:t> </a:t>
            </a:r>
          </a:p>
          <a:p>
            <a:pPr marL="574675" indent="-571500">
              <a:buFont typeface="Arial" panose="020B0604020202020204" pitchFamily="34" charset="0"/>
              <a:buChar char="•"/>
            </a:pPr>
            <a:endParaRPr lang="en-NZ" dirty="0"/>
          </a:p>
        </p:txBody>
      </p:sp>
    </p:spTree>
    <p:extLst>
      <p:ext uri="{BB962C8B-B14F-4D97-AF65-F5344CB8AC3E}">
        <p14:creationId xmlns:p14="http://schemas.microsoft.com/office/powerpoint/2010/main" val="254577156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363405"/>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4.png"/></Relationships>
</file>

<file path=ppt/theme/_rels/theme3.xml.rels><?xml version="1.0" encoding="UTF-8" standalone="yes"?>
<Relationships xmlns="http://schemas.openxmlformats.org/package/2006/relationships"><Relationship Id="rId1" Type="http://schemas.openxmlformats.org/officeDocument/2006/relationships/image" Target="../media/image4.pn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3.xml><?xml version="1.0" encoding="utf-8"?>
<a:theme xmlns:a="http://schemas.openxmlformats.org/drawingml/2006/main" name="1_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AECBFCBA2127459F5391FB467379DB" ma:contentTypeVersion="" ma:contentTypeDescription="Create a new document." ma:contentTypeScope="" ma:versionID="b530b1c5ec48d4e62d8369f4934bdb50">
  <xsd:schema xmlns:xsd="http://www.w3.org/2001/XMLSchema" xmlns:xs="http://www.w3.org/2001/XMLSchema" xmlns:p="http://schemas.microsoft.com/office/2006/metadata/properties" xmlns:ns2="E6237313-A68C-48E4-BACD-BCFE55C68AB6" targetNamespace="http://schemas.microsoft.com/office/2006/metadata/properties" ma:root="true" ma:fieldsID="4b475c8459e327cdfcd962abf10e56c0" ns2:_="">
    <xsd:import namespace="E6237313-A68C-48E4-BACD-BCFE55C68AB6"/>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37313-A68C-48E4-BACD-BCFE55C68AB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Break Slides"/>
          <xsd:enumeration value="CC File"/>
          <xsd:enumeration value="Instructor Image"/>
          <xsd:enumeration value="Outline"/>
          <xsd:enumeration value="Promo Package"/>
          <xsd:enumeration value="Slide Presentation"/>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odule xmlns="E6237313-A68C-48E4-BACD-BCFE55C68AB6">3</Module>
    <Status xmlns="E6237313-A68C-48E4-BACD-BCFE55C68AB6">Final</Status>
    <Content_x0020_Type xmlns="E6237313-A68C-48E4-BACD-BCFE55C68AB6">Slide Presentation</Content_x0020_Typ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1F27DC-3643-44D8-B424-47D793618734}"/>
</file>

<file path=customXml/itemProps2.xml><?xml version="1.0" encoding="utf-8"?>
<ds:datastoreItem xmlns:ds="http://schemas.openxmlformats.org/officeDocument/2006/customXml" ds:itemID="{7025FDD9-4C58-4084-9F89-0E6ADD6FFF55}"/>
</file>

<file path=customXml/itemProps3.xml><?xml version="1.0" encoding="utf-8"?>
<ds:datastoreItem xmlns:ds="http://schemas.openxmlformats.org/officeDocument/2006/customXml" ds:itemID="{B0CA13EC-1D3C-4D6F-8D1C-E8A452CFC79A}"/>
</file>

<file path=docProps/app.xml><?xml version="1.0" encoding="utf-8"?>
<Properties xmlns="http://schemas.openxmlformats.org/officeDocument/2006/extended-properties" xmlns:vt="http://schemas.openxmlformats.org/officeDocument/2006/docPropsVTypes">
  <Template/>
  <TotalTime>3483</TotalTime>
  <Words>401</Words>
  <Application>Microsoft Office PowerPoint</Application>
  <PresentationFormat>Widescreen</PresentationFormat>
  <Paragraphs>104</Paragraphs>
  <Slides>19</Slides>
  <Notes>19</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19</vt:i4>
      </vt:variant>
    </vt:vector>
  </HeadingPairs>
  <TitlesOfParts>
    <vt:vector size="28" baseType="lpstr">
      <vt:lpstr>Arial</vt:lpstr>
      <vt:lpstr>Calibri</vt:lpstr>
      <vt:lpstr>Consolas</vt:lpstr>
      <vt:lpstr>Segoe</vt:lpstr>
      <vt:lpstr>Segoe UI</vt:lpstr>
      <vt:lpstr>Segoe UI Light</vt:lpstr>
      <vt:lpstr>1_Office Theme</vt:lpstr>
      <vt:lpstr>MS1444_Windows Azure Template 16x9_r08b</vt:lpstr>
      <vt:lpstr>1_MS1444_Windows Azure Template 16x9_r08b</vt:lpstr>
      <vt:lpstr>PowerPoint Presentation</vt:lpstr>
      <vt:lpstr>Module Overview</vt:lpstr>
      <vt:lpstr>PowerPoint Presentation</vt:lpstr>
      <vt:lpstr>A SQL Database != A SQL Server</vt:lpstr>
      <vt:lpstr>Missing platform features/components</vt:lpstr>
      <vt:lpstr>Non-supported DDL</vt:lpstr>
      <vt:lpstr>Non-supported DML and other T-SQL</vt:lpstr>
      <vt:lpstr>Other gremlins</vt:lpstr>
      <vt:lpstr>PowerPoint Presentation</vt:lpstr>
      <vt:lpstr>Migration Assessment using the Migration Wizard [Chris]</vt:lpstr>
      <vt:lpstr>Migration via SSMS</vt:lpstr>
      <vt:lpstr>PowerPoint Presentation</vt:lpstr>
      <vt:lpstr>Index Maintenance</vt:lpstr>
      <vt:lpstr>Index maintenance [Chris]</vt:lpstr>
      <vt:lpstr>PowerPoint Presentation</vt:lpstr>
      <vt:lpstr>Automated ‘Backups’</vt:lpstr>
      <vt:lpstr>Scripting backups using CREATE DATABASE AS COPY OF [Chris]</vt:lpstr>
      <vt:lpstr>Other Resources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Gartland</dc:creator>
  <cp:lastModifiedBy>Kristen Paulson</cp:lastModifiedBy>
  <cp:revision>120</cp:revision>
  <dcterms:created xsi:type="dcterms:W3CDTF">2013-02-15T23:12:42Z</dcterms:created>
  <dcterms:modified xsi:type="dcterms:W3CDTF">2014-01-22T16:10:21Z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0x010100ADAECBFCBA2127459F5391FB467379DB</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ies>
</file>